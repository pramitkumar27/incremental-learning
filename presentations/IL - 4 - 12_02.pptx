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E3AF81-7966-46D0-913F-57D5814E4321}">
  <a:tblStyle styleId="{34E3AF81-7966-46D0-913F-57D5814E432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c457f12c8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c457f12c8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Let me set up both the immediate problem and the bigger picture of what we're working toward.</a:t>
            </a:r>
            <a:endParaRPr/>
          </a:p>
          <a:p>
            <a:pPr indent="0" lvl="0" marL="0" rtl="0" algn="l">
              <a:lnSpc>
                <a:spcPct val="115000"/>
              </a:lnSpc>
              <a:spcBef>
                <a:spcPts val="1200"/>
              </a:spcBef>
              <a:spcAft>
                <a:spcPts val="0"/>
              </a:spcAft>
              <a:buNone/>
            </a:pPr>
            <a:r>
              <a:rPr lang="en"/>
              <a:t>In space, you have Single Event Upsets—these are radiation-induced bit flips in memory. A cosmic ray hits your hardware, and suddenly a 0 becomes a 1, or vice versa. This happens randomly during operation and can corrupt the neural network weights while the model is running.</a:t>
            </a:r>
            <a:endParaRPr/>
          </a:p>
          <a:p>
            <a:pPr indent="0" lvl="0" marL="0" rtl="0" algn="l">
              <a:lnSpc>
                <a:spcPct val="115000"/>
              </a:lnSpc>
              <a:spcBef>
                <a:spcPts val="1200"/>
              </a:spcBef>
              <a:spcAft>
                <a:spcPts val="0"/>
              </a:spcAft>
              <a:buNone/>
            </a:pPr>
            <a:r>
              <a:rPr lang="en"/>
              <a:t>Our Vision Transformer has about 268 thousand parameters, and each parameter is stored as a 32-bit float. That's 8.6 million bits that could potentially be corrupted. If we want to test the model at different time points during inference—say 1000 different moments—we're looking at 8.6 BILLION possible fault configurations.</a:t>
            </a:r>
            <a:endParaRPr/>
          </a:p>
          <a:p>
            <a:pPr indent="0" lvl="0" marL="0" rtl="0" algn="l">
              <a:lnSpc>
                <a:spcPct val="115000"/>
              </a:lnSpc>
              <a:spcBef>
                <a:spcPts val="1200"/>
              </a:spcBef>
              <a:spcAft>
                <a:spcPts val="0"/>
              </a:spcAft>
              <a:buNone/>
            </a:pPr>
            <a:r>
              <a:rPr lang="en"/>
              <a:t>Now, here's the bigger picture: our ultimate goal is incremental learning. When a fault does occur in space, we want to be able to detect it, identify which part of the model was affected, and then selectively retrain just that component to restore functionality—without retraining the entire model from scratch. Think of it like repairing one damaged module instead of replacing the whole system.</a:t>
            </a:r>
            <a:endParaRPr/>
          </a:p>
          <a:p>
            <a:pPr indent="0" lvl="0" marL="0" rtl="0" algn="l">
              <a:lnSpc>
                <a:spcPct val="115000"/>
              </a:lnSpc>
              <a:spcBef>
                <a:spcPts val="1200"/>
              </a:spcBef>
              <a:spcAft>
                <a:spcPts val="0"/>
              </a:spcAft>
              <a:buNone/>
            </a:pPr>
            <a:r>
              <a:rPr lang="en"/>
              <a:t>But to build that incremental learning system, we first need to answer: which components are actually vulnerable? If attention layers fail 10% of the time but MLP layers only fail 0.1% of the time, we need to know that. We need to know where to focus our retraining efforts and protection mechanisms.</a:t>
            </a:r>
            <a:endParaRPr/>
          </a:p>
          <a:p>
            <a:pPr indent="0" lvl="0" marL="0" rtl="0" algn="l">
              <a:lnSpc>
                <a:spcPct val="115000"/>
              </a:lnSpc>
              <a:spcBef>
                <a:spcPts val="1200"/>
              </a:spcBef>
              <a:spcAft>
                <a:spcPts val="0"/>
              </a:spcAft>
              <a:buNone/>
            </a:pPr>
            <a:r>
              <a:rPr lang="en"/>
              <a:t>That's what this phase is about. Obviously, we can't test all 8.6 billion fault scenarios. So the questions become: How many faults DO we need to test to get statistically confident answers? Which parts of the model are most critical? And how can we prove our conclusions are rigorous enough for a space mission? That's what statistical fault injection helps us answer—it's the foundation for everything that comes next in Phase 3.</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1400"/>
              </a:spcBef>
              <a:spcAft>
                <a:spcPts val="0"/>
              </a:spcAft>
              <a:buNone/>
            </a:pPr>
            <a:r>
              <a:rPr b="1" lang="en" sz="1300">
                <a:solidFill>
                  <a:schemeClr val="dk1"/>
                </a:solidFill>
              </a:rPr>
              <a:t>Educational Deep Dive (UPDATED):</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The Three-Phase Arc of Your Thesis: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Phase 1: Empirical Exploration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Goal: Understand the problem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Method: BER sweeps, observe patterns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Output: "Faults cause problems, some components matter more"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Status: ✅ Complete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Phase 2: Statistical Characterization</a:t>
            </a:r>
            <a:r>
              <a:rPr lang="en">
                <a:solidFill>
                  <a:schemeClr val="dk1"/>
                </a:solidFill>
              </a:rPr>
              <a:t> ← You are here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Goal: Quantify vulnerability with confidence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Method: Statistical fault injection at multiple granularities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Output: "Attention: 8.2% ± 0.1% failure rate; MLP: 1.5% ± 0.1%" etc.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Status: 🔄 In progress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Phase 3: Incremental Learning</a:t>
            </a:r>
            <a:r>
              <a:rPr lang="en">
                <a:solidFill>
                  <a:schemeClr val="dk1"/>
                </a:solidFill>
              </a:rPr>
              <a:t> ← Ultimate goal</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Goal: Adaptive recovery from faults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Method: Fault detection → component identification → selective retraining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Output: "System detects fault, retrains affected layer, restores 95% accuracy in 2 minutes"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Status: ⏳ Next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Phase 2 Enables Phase 3:</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The statistical analysis from Phase 2 provides: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Vulnerability Map:</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"Attention layers: 8% failure rate → HIGH PRIORITY for monitoring"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"Normalization: 0.1% failure rate → LOW PRIORITY"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Guides where to focus fault detection sensors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Component Criticality Ranking:</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"Layer 5 attention: 12% failure"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"Layer 2 MLP: 2% failure"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Determines retraining priority queue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Bit-Level Protection Strategy:</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"Bits 30-31: 20% catastrophic failure"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"Bits 0-22: &lt;0.1% failure"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Informs which bits to protect with ECC or redundancy</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Failure Probability Thresholds: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accuracy drops by &gt;10% → likely attention fault"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"If accuracy drops by &gt;50% → likely multiple faults or bit 30-31"</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Diagnostic signatures for fault localization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Resource Allocation for Retraining:</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High-vulnerability components: Keep checkpoints, fast retraining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Low-vulnerability components: Less infrastructure needed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Optimize storage and compute budgets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Concrete Incremental Learning Scenario:</a:t>
            </a:r>
            <a:endParaRPr b="1">
              <a:solidFill>
                <a:schemeClr val="dk1"/>
              </a:solidFill>
            </a:endParaRPr>
          </a:p>
          <a:p>
            <a:pPr indent="0" lvl="0" marL="0" rtl="0" algn="l">
              <a:lnSpc>
                <a:spcPct val="115000"/>
              </a:lnSpc>
              <a:spcBef>
                <a:spcPts val="1200"/>
              </a:spcBef>
              <a:spcAft>
                <a:spcPts val="0"/>
              </a:spcAft>
              <a:buNone/>
            </a:pPr>
            <a:r>
              <a:rPr i="1" lang="en">
                <a:solidFill>
                  <a:schemeClr val="dk1"/>
                </a:solidFill>
              </a:rPr>
              <a:t>Imagine your ViT is running on a satellite in LEO:</a:t>
            </a:r>
            <a:endParaRPr i="1">
              <a:solidFill>
                <a:schemeClr val="dk1"/>
              </a:solidFill>
            </a:endParaRPr>
          </a:p>
          <a:p>
            <a:pPr indent="0" lvl="0" marL="0" rtl="0" algn="l">
              <a:lnSpc>
                <a:spcPct val="115000"/>
              </a:lnSpc>
              <a:spcBef>
                <a:spcPts val="1200"/>
              </a:spcBef>
              <a:spcAft>
                <a:spcPts val="0"/>
              </a:spcAft>
              <a:buNone/>
            </a:pPr>
            <a:r>
              <a:rPr b="1" lang="en">
                <a:solidFill>
                  <a:schemeClr val="dk1"/>
                </a:solidFill>
              </a:rPr>
              <a:t>T = 0 hours:</a:t>
            </a:r>
            <a:r>
              <a:rPr lang="en">
                <a:solidFill>
                  <a:schemeClr val="dk1"/>
                </a:solidFill>
              </a:rPr>
              <a:t> Model operating normally, 97% accuracy</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 = 12 hours:</a:t>
            </a:r>
            <a:r>
              <a:rPr lang="en">
                <a:solidFill>
                  <a:schemeClr val="dk1"/>
                </a:solidFill>
              </a:rPr>
              <a:t> SEU strikes bit 28 in attention layer 7, query projection weight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Detection:</a:t>
            </a:r>
            <a:r>
              <a:rPr lang="en">
                <a:solidFill>
                  <a:schemeClr val="dk1"/>
                </a:solidFill>
              </a:rPr>
              <a:t> Accuracy drops to 85% (monitoring system alerts)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Localization (using Phase 2 data):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12% drop suggests single-layer attention fault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Run diagnostic on each attention layer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Layer 7 shows anomalous output distribution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Identified: Layer 7 attention weights corrupted</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Recovery Decision (using Phase 2 vulnerability data):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Phase 2 told us: Layer 7 attention has 9% failure rate (high vulnerability)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Kept checkpoint of layer 7 clean weights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Allocated GPU time for fast retraining</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Incremental Retraining: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Freeze all other layers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Reinitialize only Layer 7 attention weights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Fine-tune on small stored validation set (1000 images)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Takes 5 minutes instead of 2 hours for full retraining</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 = 12.1 hours:</a:t>
            </a:r>
            <a:r>
              <a:rPr lang="en">
                <a:solidFill>
                  <a:schemeClr val="dk1"/>
                </a:solidFill>
              </a:rPr>
              <a:t> Accuracy restored to 96.5%</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Mission continues without ground intervention</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Without Phase 2 Analysis: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Wouldn't know which layer to suspect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Might retrain everything (expensive, time-consuming)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Might not have checkpoints for critical layers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Might waste resources protecting non-critical components</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76748971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c76748971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Here's what I did in Phase 1. I took an empirical approach—basically, pick a bunch of BER values ranging from very low to very high, and at each one, inject random bit-flips into the model. I ran 12 repetitions at each BER point to get some sense of the variation, measuring mean accuracy, standard deviation, and worst-case accuracy.</a:t>
            </a:r>
            <a:endParaRPr/>
          </a:p>
          <a:p>
            <a:pPr indent="0" lvl="0" marL="0" rtl="0" algn="l">
              <a:lnSpc>
                <a:spcPct val="115000"/>
              </a:lnSpc>
              <a:spcBef>
                <a:spcPts val="1200"/>
              </a:spcBef>
              <a:spcAft>
                <a:spcPts val="0"/>
              </a:spcAft>
              <a:buNone/>
            </a:pPr>
            <a:r>
              <a:rPr lang="en"/>
              <a:t>This gave us useful insights. We could see there's a 'knee region' where accuracy starts to degrade, we defined some failure thresholds—like 50% accuracy being mission-critical and 20% being catastrophic—and we looked at which components like ATTENTION or MLP layers were most vulnerable.</a:t>
            </a:r>
            <a:endParaRPr/>
          </a:p>
          <a:p>
            <a:pPr indent="0" lvl="0" marL="0" rtl="0" algn="l">
              <a:lnSpc>
                <a:spcPct val="115000"/>
              </a:lnSpc>
              <a:spcBef>
                <a:spcPts val="1200"/>
              </a:spcBef>
              <a:spcAft>
                <a:spcPts val="0"/>
              </a:spcAft>
              <a:buNone/>
            </a:pPr>
            <a:r>
              <a:rPr lang="en"/>
              <a:t>But here's the problem, and Mahdi pointed this out: Why 12 repetitions? I picked that number because it seemed reasonable, but there's no statistical justification. I have no idea what my confidence level is. I can't tell you: 'I'm 99% confident the failure rate is between X and Y percent.' Without that quantification, these results aren't really defensible for a safety-critical space mission. That's the gap we need to fill.</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76748971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c76748971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So let me explain the statistical concepts we need to understand. The core question is simple: What percentage of all possible faults will cause failures? But we need to answer it with quantified confidence.</a:t>
            </a:r>
            <a:endParaRPr/>
          </a:p>
          <a:p>
            <a:pPr indent="0" lvl="0" marL="0" rtl="0" algn="l">
              <a:lnSpc>
                <a:spcPct val="115000"/>
              </a:lnSpc>
              <a:spcBef>
                <a:spcPts val="1200"/>
              </a:spcBef>
              <a:spcAft>
                <a:spcPts val="0"/>
              </a:spcAft>
              <a:buNone/>
            </a:pPr>
            <a:r>
              <a:rPr lang="en"/>
              <a:t>There are two key concepts here. First is margin of error—this is how precise our estimate is. If I tell you the failure rate is 1.2% plus-or-minus 0.1%, that's a tight margin. But if it's 1.2% plus-or-minus 5%, that's basically useless because the true value could be anywhere from 0% to 6.2%. For space missions, we need very tight margins—typically 0.1% or even tighter.</a:t>
            </a:r>
            <a:endParaRPr/>
          </a:p>
          <a:p>
            <a:pPr indent="0" lvl="0" marL="0" rtl="0" algn="l">
              <a:lnSpc>
                <a:spcPct val="115000"/>
              </a:lnSpc>
              <a:spcBef>
                <a:spcPts val="1200"/>
              </a:spcBef>
              <a:spcAft>
                <a:spcPts val="0"/>
              </a:spcAft>
              <a:buNone/>
            </a:pPr>
            <a:r>
              <a:rPr lang="en"/>
              <a:t>The second concept is confidence level. This tells us how SURE we are that the true value falls within our margin. 95% confidence means if we repeated this whole experiment 100 times, 95 of those times the true value would be within our stated range. For safety-critical applications like space, we typically want 99% confidence or higher.</a:t>
            </a:r>
            <a:endParaRPr/>
          </a:p>
          <a:p>
            <a:pPr indent="0" lvl="0" marL="0" rtl="0" algn="l">
              <a:lnSpc>
                <a:spcPct val="115000"/>
              </a:lnSpc>
              <a:spcBef>
                <a:spcPts val="1200"/>
              </a:spcBef>
              <a:spcAft>
                <a:spcPts val="0"/>
              </a:spcAft>
              <a:buNone/>
            </a:pPr>
            <a:r>
              <a:rPr lang="en"/>
              <a:t>These two parameters—margin of error and confidence—determine how many tests we need to run. Tighter margin and higher confidence both require more testing. The question is: exactly how many?</a:t>
            </a:r>
            <a:endParaRPr/>
          </a:p>
          <a:p>
            <a:pPr indent="0" lvl="0" marL="0" rtl="0" algn="l">
              <a:spcBef>
                <a:spcPts val="1200"/>
              </a:spcBef>
              <a:spcAft>
                <a:spcPts val="0"/>
              </a:spcAft>
              <a:buClr>
                <a:schemeClr val="dk1"/>
              </a:buClr>
              <a:buSzPts val="1100"/>
              <a:buFont typeface="Arial"/>
              <a:buNone/>
            </a:pPr>
            <a:r>
              <a:t/>
            </a:r>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Margin of Error - Deep Explanation: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Imagine you're trying to measure the true failure rate, which is some unknown value μ (mu, Greek letter for population mean).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You test n faults and measure a sample failure rate p̂ (p-hat, estimated probability).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margin of error (e) tells you: "The true value μ is within p̂ ± 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Example: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You test 1000 faults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12 cause failures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12/1000 = 1.2%</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your calculated margin of error is 0.3%</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Then μ is between 0.9% and 1.5%</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Smaller Margin Requires More Testing: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margin of error formula includes √n in denominator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 cut margin in half, you need 4× more tests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 cut it to 1/10th, you need 100× more tests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why going from 1% to 0.1% margin is so expensive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Confidence Level - Deep Explanation: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Confidence level is about how often your method works.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you use "95% confidence":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Imagine doing your experiment 100 times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time, you calculate p̂ ± 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95 of those 100 experiments, the true μ falls in your interval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5 of them, you got unlucky with your random sample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Common Confidence Levels: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90%: t = 1.645 (too low for safety-critical)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95%: t = 1.960 (common in science)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99%: t = 2.576 (good for safety)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99.9%: t = 3.291 (very conservative)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't' value comes from the standard normal distribution (bell curve).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Space Needs 0.1% Margin, 99% Confidence: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Space missions cost $100M-$1B and last 5-15 years. You need to know:</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"Mission failure probability is 0.5% ± 0.1% with 99% confidence"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means: almost certainly between 0.4% and 0.6%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Engineers can design around this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Insurance companies can price risk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Project managers can make go/no-go decisions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Saying "failure rate is probably around 1-5%" is useless.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Trade-off:</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Tight margin + high confidence = lots of testing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statistical formulas tell us exactly how much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slide sets up why we need those formulas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76748971f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c76748971f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This brings us to the first paper—Leveugle and colleagues from 2009, published at the DATE conference. This is the foundational work that established the statistical framework for fault injection.</a:t>
            </a:r>
            <a:endParaRPr/>
          </a:p>
          <a:p>
            <a:pPr indent="0" lvl="0" marL="0" rtl="0" algn="l">
              <a:lnSpc>
                <a:spcPct val="115000"/>
              </a:lnSpc>
              <a:spcBef>
                <a:spcPts val="1200"/>
              </a:spcBef>
              <a:spcAft>
                <a:spcPts val="0"/>
              </a:spcAft>
              <a:buNone/>
            </a:pPr>
            <a:r>
              <a:rPr lang="en"/>
              <a:t>The core is this formula. It looks intimidating, but it's actually quite elegant. It tells you exactly how many faults you need to inject—that's n—based on the total population of faults, your desired margin of error, your confidence level, and an estimate of the failure probability.</a:t>
            </a:r>
            <a:endParaRPr/>
          </a:p>
          <a:p>
            <a:pPr indent="0" lvl="0" marL="0" rtl="0" algn="l">
              <a:lnSpc>
                <a:spcPct val="115000"/>
              </a:lnSpc>
              <a:spcBef>
                <a:spcPts val="1200"/>
              </a:spcBef>
              <a:spcAft>
                <a:spcPts val="0"/>
              </a:spcAft>
              <a:buNone/>
            </a:pPr>
            <a:r>
              <a:rPr lang="en"/>
              <a:t>Let me break down the parameters: capital N is the total population—for us, 8.6 billion. Little e is the margin of error expressed as a decimal—so 0.01 for 1%. The t value comes from statistical tables and depends on your confidence level—2.58 for 99%. And p is the tricky one—it's the failure probability we're trying to measure. If we don't know it yet, we use 0.5 as a conservative estimate.</a:t>
            </a:r>
            <a:endParaRPr/>
          </a:p>
          <a:p>
            <a:pPr indent="0" lvl="0" marL="0" rtl="0" algn="l">
              <a:lnSpc>
                <a:spcPct val="115000"/>
              </a:lnSpc>
              <a:spcBef>
                <a:spcPts val="1200"/>
              </a:spcBef>
              <a:spcAft>
                <a:spcPts val="0"/>
              </a:spcAft>
              <a:buNone/>
            </a:pPr>
            <a:r>
              <a:rPr lang="en"/>
              <a:t>The key insight from their work is shown in the example: even with 4 million possible faults, if you want 5% margin of error at 95% confidence, you only need to test 385 faults. That's 0.01% of the population! Even for very tight 1% margin at 99% confidence, you only need 16,519 tests, which is 0.4%. This is the power of statistical sampling—you can make very strong statements about billions of faults by testing thousands.</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1400"/>
              </a:spcBef>
              <a:spcAft>
                <a:spcPts val="0"/>
              </a:spcAft>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Formula Derivation (Conceptual):</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This formula comes from combining two statistical principles: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Central Limit Theorem:</a:t>
            </a:r>
            <a:r>
              <a:rPr lang="en">
                <a:solidFill>
                  <a:schemeClr val="dk1"/>
                </a:solidFill>
              </a:rPr>
              <a:t> For large samples, the distribution of sample proportions approaches normal distribution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Standard Error Formula:</a:t>
            </a:r>
            <a:r>
              <a:rPr lang="en">
                <a:solidFill>
                  <a:schemeClr val="dk1"/>
                </a:solidFill>
              </a:rPr>
              <a:t> The uncertainty in a proportion is: √[p(1-p)/n]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Confidence Intervals:</a:t>
            </a:r>
            <a:r>
              <a:rPr lang="en">
                <a:solidFill>
                  <a:schemeClr val="dk1"/>
                </a:solidFill>
              </a:rPr>
              <a:t> For a confidence level with constant t, the margin of error is: e = t × SE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Solving for n:</a:t>
            </a:r>
            <a:r>
              <a:rPr lang="en">
                <a:solidFill>
                  <a:schemeClr val="dk1"/>
                </a:solidFill>
              </a:rPr>
              <a:t> Rearrange to get n as a function of 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Finite Population Correction:</a:t>
            </a:r>
            <a:r>
              <a:rPr lang="en">
                <a:solidFill>
                  <a:schemeClr val="dk1"/>
                </a:solidFill>
              </a:rPr>
              <a:t> The √[(N-n)/(N-1)] term accounts for sampling from finite population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Understanding Each Term:</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N (Population):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Total possible faults in your system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your ViT: 8,589,072,000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their AES: 4,063,170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a simple system: might be just thousands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e (Margin of Error):</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Your precision requirement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Express as decimal: 1% = 0.01, 0.1% = 0.001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in the denominator squared: e²</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Cutting e in half requires 4× more samples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Cutting e to 1/10th requires 100× more samples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 (Confidence Constant):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Comes from normal distribution quantiles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90% conf: t = 1.645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95% conf: t = 1.960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99% conf: t = 2.576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99.9% conf: t = 3.291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squared in formula: t²</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Doubling confidence doesn't double 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 (Failure Probability):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true value you're trying to estimate!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unknown, use p = 0.5 (most conservative)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p(1-p) is maximized when p = 0.5 (gives 0.25)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p is close to 0 or 1, p(1-p) is small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Smaller p(1-p) means smaller n needed</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Key Insight: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p(1-p) term means: extreme probabilities need less testing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failure rate is very low (p→0) or very high (p→1), p(1-p)→0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Most reliable systems have low failure rates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why iterative approaches help!</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Worked Example with Your Numbers:</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Let's calculate n for your ViT: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 = 8,589,072,000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 = 0.001 (0.1% margin)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 = 2.576 (99% confidence)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0.5 (conservative)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 = N / [1 + e²(N-1)/(t² × p(1-p))]</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Numerator: N = 8,589,072,000</a:t>
            </a:r>
            <a:endParaRPr>
              <a:solidFill>
                <a:schemeClr val="dk1"/>
              </a:solidFill>
            </a:endParaRPr>
          </a:p>
          <a:p>
            <a:pPr indent="0" lvl="0" marL="0" rtl="0" algn="l">
              <a:lnSpc>
                <a:spcPct val="115000"/>
              </a:lnSpc>
              <a:spcBef>
                <a:spcPts val="1200"/>
              </a:spcBef>
              <a:spcAft>
                <a:spcPts val="0"/>
              </a:spcAft>
              <a:buNone/>
            </a:pPr>
            <a:r>
              <a:rPr lang="en">
                <a:solidFill>
                  <a:schemeClr val="dk1"/>
                </a:solidFill>
              </a:rPr>
              <a:t>Denominator: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e² = 0.001² = 0.000001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N-1 ≈ 8,589,072,000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t² = 2.576² = 6.635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p(1-p) = 0.5 × 0.5 = 0.25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e²(N-1) = 0.000001 × 8,589,072,000 = 8,589.072</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t² × p(1-p) = 6.635 × 0.25 = 1.659</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e²(N-1)/[t² × p(1-p)] = 8,589.072/1.659 = 5,176.8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1 + 5,176.8 = 5,177.8</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 = 8,589,072,000 / 5,177.8 = </a:t>
            </a:r>
            <a:r>
              <a:rPr b="1" lang="en">
                <a:solidFill>
                  <a:schemeClr val="dk1"/>
                </a:solidFill>
              </a:rPr>
              <a:t>1,658,789 faults</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That's still only 0.019% of your population!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Their Example Shows Smaller Numbers: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Their N is 1000× smaller than yours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Once N is large, n plateaus (asymptotic behavior)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Going from 4M to 8.6B doesn't increase n proportionally</a:t>
            </a:r>
            <a:endParaRPr>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76748971f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c76748971f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Now let's understand how each parameter affects the sample size, because this is crucial for planning our experiments.</a:t>
            </a:r>
            <a:endParaRPr/>
          </a:p>
          <a:p>
            <a:pPr indent="0" lvl="0" marL="0" rtl="0" algn="l">
              <a:lnSpc>
                <a:spcPct val="115000"/>
              </a:lnSpc>
              <a:spcBef>
                <a:spcPts val="1200"/>
              </a:spcBef>
              <a:spcAft>
                <a:spcPts val="0"/>
              </a:spcAft>
              <a:buNone/>
            </a:pPr>
            <a:r>
              <a:rPr lang="en"/>
              <a:t>First, population size N. The good news here is that once N gets large—say above 100,000—adding more doesn't dramatically increase n. It plateaus. This is great for us because our 8.6 billion is way up on that plateau. Doubling our population wouldn't double the required tests.</a:t>
            </a:r>
            <a:endParaRPr/>
          </a:p>
          <a:p>
            <a:pPr indent="0" lvl="0" marL="0" rtl="0" algn="l">
              <a:lnSpc>
                <a:spcPct val="115000"/>
              </a:lnSpc>
              <a:spcBef>
                <a:spcPts val="1200"/>
              </a:spcBef>
              <a:spcAft>
                <a:spcPts val="0"/>
              </a:spcAft>
              <a:buNone/>
            </a:pPr>
            <a:r>
              <a:rPr lang="en"/>
              <a:t>Margin of error e is the most sensitive parameter. Going from 5% margin to 1% margin requires about 25 times more tests. Going from 1% to 0.1% requires about 100 times more. This is because e appears squared in the denominator, so small changes have big effects.</a:t>
            </a:r>
            <a:endParaRPr/>
          </a:p>
          <a:p>
            <a:pPr indent="0" lvl="0" marL="0" rtl="0" algn="l">
              <a:lnSpc>
                <a:spcPct val="115000"/>
              </a:lnSpc>
              <a:spcBef>
                <a:spcPts val="1200"/>
              </a:spcBef>
              <a:spcAft>
                <a:spcPts val="0"/>
              </a:spcAft>
              <a:buNone/>
            </a:pPr>
            <a:r>
              <a:rPr lang="en"/>
              <a:t>Confidence level t has moderate impact. Going from 95% to 99% confidence increases your required tests by about 1.7 times. Going to 99.9% adds another 1.4 times. So confidence is relatively cheap compared to tightening the margin.</a:t>
            </a:r>
            <a:endParaRPr/>
          </a:p>
          <a:p>
            <a:pPr indent="0" lvl="0" marL="0" rtl="0" algn="l">
              <a:lnSpc>
                <a:spcPct val="115000"/>
              </a:lnSpc>
              <a:spcBef>
                <a:spcPts val="1200"/>
              </a:spcBef>
              <a:spcAft>
                <a:spcPts val="0"/>
              </a:spcAft>
              <a:buNone/>
            </a:pPr>
            <a:r>
              <a:rPr lang="en"/>
              <a:t>Finally, the failure probability p. When we set p equals 0.5, that gives us maximum n—it's the most conservative assumption, meaning every fault has 50/50 chance of causing failure. But as p moves toward 0 or toward 1, the required n drops significantly. This is the key to optimization, and we'll come back to it.</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1400"/>
              </a:spcBef>
              <a:spcAft>
                <a:spcPts val="0"/>
              </a:spcAft>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Why N Plateaus (Asymptotic Behavior):</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Look at the formula structure:</a:t>
            </a:r>
            <a:endParaRPr>
              <a:solidFill>
                <a:schemeClr val="dk1"/>
              </a:solidFill>
            </a:endParaRPr>
          </a:p>
          <a:p>
            <a:pPr indent="0" lvl="0" marL="0" rtl="0" algn="l">
              <a:lnSpc>
                <a:spcPct val="115000"/>
              </a:lnSpc>
              <a:spcBef>
                <a:spcPts val="1200"/>
              </a:spcBef>
              <a:spcAft>
                <a:spcPts val="0"/>
              </a:spcAft>
              <a:buNone/>
            </a:pPr>
            <a:r>
              <a:rPr lang="en">
                <a:solidFill>
                  <a:srgbClr val="EAECF0"/>
                </a:solidFill>
              </a:rPr>
              <a:t>n = N / [1 + e²(N-1)/(t²p(1-p))]</a:t>
            </a:r>
            <a:endParaRPr>
              <a:solidFill>
                <a:srgbClr val="EAECF0"/>
              </a:solidFill>
            </a:endParaRPr>
          </a:p>
          <a:p>
            <a:pPr indent="0" lvl="0" marL="0" rtl="0" algn="l">
              <a:lnSpc>
                <a:spcPct val="115000"/>
              </a:lnSpc>
              <a:spcBef>
                <a:spcPts val="1200"/>
              </a:spcBef>
              <a:spcAft>
                <a:spcPts val="0"/>
              </a:spcAft>
              <a:buNone/>
            </a:pPr>
            <a:r>
              <a:rPr lang="en">
                <a:solidFill>
                  <a:schemeClr val="dk1"/>
                </a:solidFill>
              </a:rPr>
              <a:t>When N is very large, the term e²(N-1) dominates the denominator.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Let's see what happens: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If N = 1,000: n ≈ some value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N = 1,000,000: n ≈ slightly larger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N = 1,000,000,000: n ≈ only a bit more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is because as N→∞, the formula approaches:</a:t>
            </a:r>
            <a:endParaRPr>
              <a:solidFill>
                <a:schemeClr val="dk1"/>
              </a:solidFill>
            </a:endParaRPr>
          </a:p>
          <a:p>
            <a:pPr indent="0" lvl="0" marL="0" rtl="0" algn="l">
              <a:lnSpc>
                <a:spcPct val="115000"/>
              </a:lnSpc>
              <a:spcBef>
                <a:spcPts val="1200"/>
              </a:spcBef>
              <a:spcAft>
                <a:spcPts val="0"/>
              </a:spcAft>
              <a:buNone/>
            </a:pPr>
            <a:r>
              <a:rPr lang="en">
                <a:solidFill>
                  <a:srgbClr val="EAECF0"/>
                </a:solidFill>
              </a:rPr>
              <a:t>n ≈ t²p(1-p)/e²</a:t>
            </a:r>
            <a:endParaRPr>
              <a:solidFill>
                <a:srgbClr val="EAECF0"/>
              </a:solidFill>
            </a:endParaRPr>
          </a:p>
          <a:p>
            <a:pPr indent="0" lvl="0" marL="0" rtl="0" algn="l">
              <a:lnSpc>
                <a:spcPct val="115000"/>
              </a:lnSpc>
              <a:spcBef>
                <a:spcPts val="1200"/>
              </a:spcBef>
              <a:spcAft>
                <a:spcPts val="0"/>
              </a:spcAft>
              <a:buNone/>
            </a:pPr>
            <a:r>
              <a:rPr lang="en">
                <a:solidFill>
                  <a:schemeClr val="dk1"/>
                </a:solidFill>
              </a:rPr>
              <a:t>Notice N disappears! For large populations, sample size depends only on your precision requirements (e, t, p), not population size.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Intuition:</a:t>
            </a:r>
            <a:r>
              <a:rPr lang="en">
                <a:solidFill>
                  <a:schemeClr val="dk1"/>
                </a:solidFill>
              </a:rPr>
              <a:t> If you're polling voting preferences in a city of 100,000 vs a country of 100,000,000, you don't need 1000× more polls. The uncertainty comes from sampling, not from how many total people exist.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e is So Sensitive:</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The e² term in denominator means quadratic relationship:</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 = 0.05: e² = 0.0025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 = 0.01: e² = 0.0001 (25× smaller!)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 = 0.001: e² = 0.000001 (10,000× smaller!)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Since e² is in denominator, smaller e² means larger 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Cutting e by 2 means e² cuts by 4, so n multiplies by ~4</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Cutting e by 10 means e² cuts by 100, so n multiplies by ~100</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Calculation Example: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For e=1%, n = 16,519 (from their paper)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e=0.1%, we expect n ≈ 16,519 × 100 = 1,651,900</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matches what we calculated earlier!</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t is Less Sensitive:</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 also appears squared, but the values don't change as drastically: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95% conf: t = 1.960, t² = 3.842</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99% conf: t = 2.576, t² = 6.635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Ratio: 6.635/3.842 = 1.73</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So going from 95% to 99% increases n by 73%, not 400% like cutting margin to 1/4.</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p Matters (The Optimization Key):</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The p(1-p) term is called variance of Bernoulli distribution.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Let's calculate for different p values: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 = 0.5: p(1-p) = 0.25 (maximum)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0.1: p(1-p) = 0.09 (2.8× smaller)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0.01: p(1-p) = 0.0099 (25× smaller!)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0.001: p(1-p) = 0.000999 (250× smaller!)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Since p(1-p) is in denominator, smaller value means larger 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This is the key insight:</a:t>
            </a:r>
            <a:r>
              <a:rPr lang="en">
                <a:solidFill>
                  <a:schemeClr val="dk1"/>
                </a:solidFill>
              </a:rPr>
              <a:t> If true failure rate is low (p=0.01), using p=0.5 wastes testing by factor of ~25!</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Practical Implications:</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Choose your margin carefully:</a:t>
            </a:r>
            <a:r>
              <a:rPr lang="en">
                <a:solidFill>
                  <a:schemeClr val="dk1"/>
                </a:solidFill>
              </a:rPr>
              <a:t> This has the biggest impact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Confidence is relatively cheap:</a:t>
            </a:r>
            <a:r>
              <a:rPr lang="en">
                <a:solidFill>
                  <a:schemeClr val="dk1"/>
                </a:solidFill>
              </a:rPr>
              <a:t> Go for 99% over 95%</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Population size doesn't matter much:</a:t>
            </a:r>
            <a:r>
              <a:rPr lang="en">
                <a:solidFill>
                  <a:schemeClr val="dk1"/>
                </a:solidFill>
              </a:rPr>
              <a:t> Good for large models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If you know p is low, use that:</a:t>
            </a:r>
            <a:r>
              <a:rPr lang="en">
                <a:solidFill>
                  <a:schemeClr val="dk1"/>
                </a:solidFill>
              </a:rPr>
              <a:t> This is what iterative approach exploits</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76748971f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c76748971f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So here's the fundamental limitation of the basic approach. When you use p equals 0.5, you're assuming that 50% of faults cause failures. This gives you the maximum possible sample size—it's the most conservative, worst-case assumption.</a:t>
            </a:r>
            <a:endParaRPr/>
          </a:p>
          <a:p>
            <a:pPr indent="0" lvl="0" marL="0" rtl="0" algn="l">
              <a:lnSpc>
                <a:spcPct val="115000"/>
              </a:lnSpc>
              <a:spcBef>
                <a:spcPts val="1200"/>
              </a:spcBef>
              <a:spcAft>
                <a:spcPts val="0"/>
              </a:spcAft>
              <a:buNone/>
            </a:pPr>
            <a:r>
              <a:rPr lang="en"/>
              <a:t>But think about the reality. Reliable systems, especially space-qualified hardware, are designed to have LOW failure rates. In practice, maybe only 0.1% or 1% of faults actually cause problems. The vast majority of bit-flips land in places that don't matter or get corrected or cause such small errors they don't affect the output.</a:t>
            </a:r>
            <a:endParaRPr/>
          </a:p>
          <a:p>
            <a:pPr indent="0" lvl="0" marL="0" rtl="0" algn="l">
              <a:lnSpc>
                <a:spcPct val="115000"/>
              </a:lnSpc>
              <a:spcBef>
                <a:spcPts val="1200"/>
              </a:spcBef>
              <a:spcAft>
                <a:spcPts val="0"/>
              </a:spcAft>
              <a:buNone/>
            </a:pPr>
            <a:r>
              <a:rPr lang="en"/>
              <a:t>So here's the situation: let's say the true failure rate is 1%. But we're using p equals 0.5 to calculate how many tests we need. That means we're injecting far more faults than necessary—potentially 25 times more than we actually need.</a:t>
            </a:r>
            <a:endParaRPr/>
          </a:p>
          <a:p>
            <a:pPr indent="0" lvl="0" marL="0" rtl="0" algn="l">
              <a:lnSpc>
                <a:spcPct val="115000"/>
              </a:lnSpc>
              <a:spcBef>
                <a:spcPts val="1200"/>
              </a:spcBef>
              <a:spcAft>
                <a:spcPts val="0"/>
              </a:spcAft>
              <a:buNone/>
            </a:pPr>
            <a:r>
              <a:rPr lang="en"/>
              <a:t>The question is: can we use a smaller p value without invalidating our statistics? You can't just guess—that would make your confidence intervals wrong. But the answer is yes, we can do it rigorously, and the way to do it is with iteration. That's what the second paper addresses.</a:t>
            </a:r>
            <a:endParaRPr/>
          </a:p>
          <a:p>
            <a:pPr indent="0" lvl="0" marL="0" rtl="0" algn="l">
              <a:lnSpc>
                <a:spcPct val="115000"/>
              </a:lnSpc>
              <a:spcBef>
                <a:spcPts val="1200"/>
              </a:spcBef>
              <a:spcAft>
                <a:spcPts val="0"/>
              </a:spcAft>
              <a:buNone/>
            </a:pPr>
            <a:r>
              <a:t/>
            </a:r>
            <a:endParaRPr/>
          </a:p>
          <a:p>
            <a:pPr indent="0" lvl="0" marL="0" rtl="0" algn="l">
              <a:lnSpc>
                <a:spcPct val="115000"/>
              </a:lnSpc>
              <a:spcBef>
                <a:spcPts val="1400"/>
              </a:spcBef>
              <a:spcAft>
                <a:spcPts val="0"/>
              </a:spcAft>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Why p=0.5 is Conservative:</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Remember p(1-p) term in denominator. Let's plot it: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 = 0.0: p(1-p) = 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0.1: p(1-p) = 0.09</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0.2: p(1-p) = 0.16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0.3: p(1-p) = 0.21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0.4: p(1-p) = 0.24</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 = 0.5: p(1-p) = 0.25</a:t>
            </a:r>
            <a:r>
              <a:rPr lang="en">
                <a:solidFill>
                  <a:schemeClr val="dk1"/>
                </a:solidFill>
              </a:rPr>
              <a:t> ← Maximum!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0.6: p(1-p) = 0.24</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0.7: p(1-p) = 0.21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0.8: p(1-p) = 0.16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0.9: p(1-p) = 0.09</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1.0: p(1-p) = 0</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It's a parabola peaking at p=0.5.</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Since p(1-p) is in denominator of formula, maximum p(1-p) gives maximum 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Reliable Systems Have Low p:</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Failure rate in well-designed systems: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Fault masking:</a:t>
            </a:r>
            <a:r>
              <a:rPr lang="en">
                <a:solidFill>
                  <a:schemeClr val="dk1"/>
                </a:solidFill>
              </a:rPr>
              <a:t> Many bits don't affect output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Low-order mantissa bits in FP32</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Weights that barely influence decisions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Algorithmic resilience:</a:t>
            </a:r>
            <a:r>
              <a:rPr lang="en">
                <a:solidFill>
                  <a:schemeClr val="dk1"/>
                </a:solidFill>
              </a:rPr>
              <a:t> Neural networks are inherently robust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Averaging across many neurons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Redundancy in representations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Protection mechanisms: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Error correction codes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Watchdog timers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Output validation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Result: p might be 0.001 to 0.01 (0.1% to 1%), not 0.5 (50%)</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Numerical Example of Waste:</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Suppose true p = 0.01 (1% failure rate)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Using p=0.5: p(1-p) = 0.25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Using p=0.01: p(1-p) = 0.0099</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Ratio: 0.25/0.0099 = 25.25</a:t>
            </a:r>
            <a:endParaRPr>
              <a:solidFill>
                <a:schemeClr val="dk1"/>
              </a:solidFill>
            </a:endParaRPr>
          </a:p>
          <a:p>
            <a:pPr indent="0" lvl="0" marL="0" rtl="0" algn="l">
              <a:lnSpc>
                <a:spcPct val="115000"/>
              </a:lnSpc>
              <a:spcBef>
                <a:spcPts val="1200"/>
              </a:spcBef>
              <a:spcAft>
                <a:spcPts val="0"/>
              </a:spcAft>
              <a:buNone/>
            </a:pPr>
            <a:r>
              <a:rPr lang="en">
                <a:solidFill>
                  <a:schemeClr val="dk1"/>
                </a:solidFill>
              </a:rPr>
              <a:t>You're testing 25× more than necessary!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your case with e=0.1%, t=2.576:</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With p=0.5: n ≈ 1,659,000 tests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With p=0.01: n ≈ 66,000 tests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You'd save ~1.6 million tests!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You Can't Just Guess Lower p:</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If you arbitrarily set p=0.01 but real p=0.05:</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Your calculated n will be too small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Your confidence intervals will be wrong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You might claim "99% confident" but actually only 80% confident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violates statistical rigor</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Catch-22:</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Need to know p to calculate efficient 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p is what you're trying to measure!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Need to measure p to calculate 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need n to measure p!</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Solution: Iteration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Start with conservative p=0.5 (safe)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Test small sample, get estimate 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p̂ to calculate better 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Test more, refine 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Repeat until margin is tight enough</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breaks the catch-22 while maintaining rigor!</a:t>
            </a:r>
            <a:endParaRPr>
              <a:solidFill>
                <a:schemeClr val="dk1"/>
              </a:solidFill>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c76748971f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c76748971f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This brings us to the second paper—Ruospo and colleagues, published in IEEE Transactions on Computers in 2025. This is very recent work that builds on Leveugle's foundation and makes it much more efficient through iteration.</a:t>
            </a:r>
            <a:endParaRPr/>
          </a:p>
          <a:p>
            <a:pPr indent="0" lvl="0" marL="0" rtl="0" algn="l">
              <a:lnSpc>
                <a:spcPct val="115000"/>
              </a:lnSpc>
              <a:spcBef>
                <a:spcPts val="1200"/>
              </a:spcBef>
              <a:spcAft>
                <a:spcPts val="0"/>
              </a:spcAft>
              <a:buNone/>
            </a:pPr>
            <a:r>
              <a:rPr lang="en"/>
              <a:t>Here's the basic idea. In iteration zero, you start conservatively with p equals 0.5, but you use a LOOSE margin of error—like 5% instead of your final goal of 0.1%. This means you don't need many tests for the first round. You inject those faults and get your first estimate—let's call it P-hat-zero.</a:t>
            </a:r>
            <a:endParaRPr/>
          </a:p>
          <a:p>
            <a:pPr indent="0" lvl="0" marL="0" rtl="0" algn="l">
              <a:lnSpc>
                <a:spcPct val="115000"/>
              </a:lnSpc>
              <a:spcBef>
                <a:spcPts val="1200"/>
              </a:spcBef>
              <a:spcAft>
                <a:spcPts val="0"/>
              </a:spcAft>
              <a:buNone/>
            </a:pPr>
            <a:r>
              <a:rPr lang="en"/>
              <a:t>Now in iteration i-plus-1, instead of continuing to use 0.5, you use your measured P-hat from the previous iteration as your new p value. You also tighten the margin of error toward your goal. You inject more faults, and importantly, you aggregate all the results together to update your total estimate P-hat-total.</a:t>
            </a:r>
            <a:endParaRPr/>
          </a:p>
          <a:p>
            <a:pPr indent="0" lvl="0" marL="0" rtl="0" algn="l">
              <a:lnSpc>
                <a:spcPct val="115000"/>
              </a:lnSpc>
              <a:spcBef>
                <a:spcPts val="1200"/>
              </a:spcBef>
              <a:spcAft>
                <a:spcPts val="0"/>
              </a:spcAft>
              <a:buNone/>
            </a:pPr>
            <a:r>
              <a:rPr lang="en"/>
              <a:t>You keep iterating until your achieved margin Ê is less than or equal to your goal margin. The stopping condition is automatic—when you've tested enough, you're done.</a:t>
            </a:r>
            <a:endParaRPr/>
          </a:p>
          <a:p>
            <a:pPr indent="0" lvl="0" marL="0" rtl="0" algn="l">
              <a:lnSpc>
                <a:spcPct val="115000"/>
              </a:lnSpc>
              <a:spcBef>
                <a:spcPts val="1200"/>
              </a:spcBef>
              <a:spcAft>
                <a:spcPts val="0"/>
              </a:spcAft>
              <a:buNone/>
            </a:pPr>
            <a:r>
              <a:rPr lang="en"/>
              <a:t>The key innovation is this E-P curve formula. It's a parabola that adaptively adjusts how quickly you tighten the margin of error based on what P-hat value you're seeing. If P-hat is near 0 or near 1, you can jump quickly to your target error because the formula needs fewer samples in those cases. If P-hat is near 0.5, you reduce the error more gradually because more samples are needed there. It's adaptive—it matches the probability distribution you're actually seeing.</a:t>
            </a:r>
            <a:endParaRPr/>
          </a:p>
          <a:p>
            <a:pPr indent="0" lvl="0" marL="0" rtl="0" algn="l">
              <a:spcBef>
                <a:spcPts val="120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Iterative Algorithm - Step by Step:</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Iteration 0:</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Set p₀ = 0.5 (no prior knowledge)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Set e₀ = 0.05 (loose, e.g. 5%)</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Calculate n₀ using formula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Inject n₀ random faults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Count failures: x₀</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Calculate P̂₀ = x₀/n₀</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Calculate achieved error Ê₀ using error formula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Check: Is Ê₀ ≤ e_goal? If yes, stop. If no, continue.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Iteration 1:</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Set p₁ = P̂₀ (use what we learned!)</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Calculate new e₁ using E-P curve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Calculate n₁ using formula with p₁ and e₁</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Inject (n₁ - n₀) new faults (only the additional ones!)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Count new failures: x₁</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Aggregate: P̂_total = (x₀ + x₁)/(n₀ + n₁)</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Calculate Ê_total using total 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Check stopping condition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Continue</a:t>
            </a:r>
            <a:r>
              <a:rPr lang="en">
                <a:solidFill>
                  <a:schemeClr val="dk1"/>
                </a:solidFill>
              </a:rPr>
              <a:t> until Ê_total ≤ e_goal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Key Points:</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Sampling without replacement:</a:t>
            </a:r>
            <a:r>
              <a:rPr lang="en">
                <a:solidFill>
                  <a:schemeClr val="dk1"/>
                </a:solidFill>
              </a:rPr>
              <a:t> Don't inject same fault twice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Aggregation:</a:t>
            </a:r>
            <a:r>
              <a:rPr lang="en">
                <a:solidFill>
                  <a:schemeClr val="dk1"/>
                </a:solidFill>
              </a:rPr>
              <a:t> All results are combined, not just latest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Adaptive:</a:t>
            </a:r>
            <a:r>
              <a:rPr lang="en">
                <a:solidFill>
                  <a:schemeClr val="dk1"/>
                </a:solidFill>
              </a:rPr>
              <a:t> Uses learned information to reduce waste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Rigorous:</a:t>
            </a:r>
            <a:r>
              <a:rPr lang="en">
                <a:solidFill>
                  <a:schemeClr val="dk1"/>
                </a:solidFill>
              </a:rPr>
              <a:t> Still maintains statistical validity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E-P Curve Formula:</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rgbClr val="EAECF0"/>
                </a:solidFill>
              </a:rPr>
              <a:t>e_(i+1) = -k×P̂ᵢ² + k×P̂ᵢ + e_goal</a:t>
            </a:r>
            <a:endParaRPr>
              <a:solidFill>
                <a:srgbClr val="EAECF0"/>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where k = 4×(Êᵢ/3 - e_goal)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only if Êᵢ/3 &gt; e_goal, otherwise just use e_goal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What This Formula Does: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It's a parabola passing through three points: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(0, e_goal): If P̂=0%, go straight to target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(1, e_goal): If P̂=100%, go straight to target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(0.5, Êᵢ/3): If P̂=50%, reduce more gradually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This Works: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When P̂→0 or P̂→1:</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p(1-p) is small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Formula needs fewer samples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Can tighten error quickly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E-P curve jumps toward e_goal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When P̂≈0.5:</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p(1-p) is large (0.25)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Formula needs many samples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Should tighten error slowly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E-P curve reduces to Êᵢ/3 (gradual)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Comparison to Naïve Iterative: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Naïve approach: e_(i+1) = Êᵢ/2 (just halve it every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Problems with naïve: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When p→0, you're halving unnecessarily slowly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When p→0.5, you're halving too fast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 adaptive to actual distribution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Ruospo's E-P curve: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Fast when appropriate (p→0 or p→1)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Slow when needed (p≈0.5)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Optimal convergence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Why This Reduces Iterations: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Example scenario: True p=0.01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Naïve approach: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Iter 0: e=5%, finds P̂≈0.01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 1: e=2.5% (halved)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 2: e=1.25%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 3: e=0.625%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 4: e=0.3125%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 5: e=0.156%</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 6: e=0.078% ← finally below 0.1%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E-P curve approach:</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Iter 0: e=5%, finds P̂≈0.01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 1: Sees p→0, jumps to e≈0.5%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 2: e≈0.1% ← already there!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Saved 4 iterations!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c76748971f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c76748971f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Let me dive deeper into this E-P curve because it's really the clever part. The curve is specifically designed to pass through three points.</a:t>
            </a:r>
            <a:endParaRPr/>
          </a:p>
          <a:p>
            <a:pPr indent="0" lvl="0" marL="0" rtl="0" algn="l">
              <a:lnSpc>
                <a:spcPct val="115000"/>
              </a:lnSpc>
              <a:spcBef>
                <a:spcPts val="1200"/>
              </a:spcBef>
              <a:spcAft>
                <a:spcPts val="0"/>
              </a:spcAft>
              <a:buNone/>
            </a:pPr>
            <a:r>
              <a:rPr lang="en"/>
              <a:t>At the extreme ends—when your measured P-hat is 0% or 100%—the curve says 'jump straight to your target error.' This makes sense because if failure rate is extremely low or extremely high, the statistical formula needs very few samples to be precise, so you can immediately tighten to your goal.</a:t>
            </a:r>
            <a:endParaRPr/>
          </a:p>
          <a:p>
            <a:pPr indent="0" lvl="0" marL="0" rtl="0" algn="l">
              <a:lnSpc>
                <a:spcPct val="115000"/>
              </a:lnSpc>
              <a:spcBef>
                <a:spcPts val="1200"/>
              </a:spcBef>
              <a:spcAft>
                <a:spcPts val="0"/>
              </a:spcAft>
              <a:buNone/>
            </a:pPr>
            <a:r>
              <a:rPr lang="en"/>
              <a:t>In the middle—when P-hat is around 50%—the curve says 'reduce gradually to one-third of your current error.' This is more conservative because when failure rate is around 50-50, you're in the worst case for sample variance, and you need lots of samples, so you should tighten slowly.</a:t>
            </a:r>
            <a:endParaRPr/>
          </a:p>
          <a:p>
            <a:pPr indent="0" lvl="0" marL="0" rtl="0" algn="l">
              <a:lnSpc>
                <a:spcPct val="115000"/>
              </a:lnSpc>
              <a:spcBef>
                <a:spcPts val="1200"/>
              </a:spcBef>
              <a:spcAft>
                <a:spcPts val="0"/>
              </a:spcAft>
              <a:buNone/>
            </a:pPr>
            <a:r>
              <a:rPr lang="en"/>
              <a:t>Why does this work? It comes back to that p-times-one-minus-p term in the formula. When p is close to 0 or 1, that term is small. A small p-times-one-minus-p in the denominator means you need fewer samples, so you can tighten the error quickly. When p is around 0.5, p-times-one-minus-p hits its maximum of 0.25, meaning you need many samples, so you should tighten the error slowly.</a:t>
            </a:r>
            <a:endParaRPr/>
          </a:p>
          <a:p>
            <a:pPr indent="0" lvl="0" marL="0" rtl="0" algn="l">
              <a:lnSpc>
                <a:spcPct val="115000"/>
              </a:lnSpc>
              <a:spcBef>
                <a:spcPts val="1200"/>
              </a:spcBef>
              <a:spcAft>
                <a:spcPts val="0"/>
              </a:spcAft>
              <a:buNone/>
            </a:pPr>
            <a:r>
              <a:rPr lang="en"/>
              <a:t>The result is optimal convergence no matter what the actual failure rate is. It's especially good for reliable systems with low failure rates, which is exactly what we're dealing with in space applications.</a:t>
            </a:r>
            <a:endParaRPr/>
          </a:p>
          <a:p>
            <a:pPr indent="0" lvl="0" marL="0" rtl="0" algn="l">
              <a:spcBef>
                <a:spcPts val="1200"/>
              </a:spcBef>
              <a:spcAft>
                <a:spcPts val="0"/>
              </a:spcAft>
              <a:buNone/>
            </a:pPr>
            <a:r>
              <a:t/>
            </a:r>
            <a:endParaRPr/>
          </a:p>
          <a:p>
            <a:pPr indent="0" lvl="0" marL="0" rtl="0" algn="l">
              <a:lnSpc>
                <a:spcPct val="115000"/>
              </a:lnSpc>
              <a:spcBef>
                <a:spcPts val="1400"/>
              </a:spcBef>
              <a:spcAft>
                <a:spcPts val="0"/>
              </a:spcAft>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Mathematical Intuition for the Parabola:</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The E-P curve is a parabola because:</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It must pass through three specific points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A parabola (degree 2 polynomial) is uniquely defined by 3 points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The shape naturally matches the variance curve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Three Points in Detail:</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Point 1: (0, e_goal)</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When P̂ = 0% (no failures observed)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Set next error to e_goal immediately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Why? If p is truly 0, you need almost no samples to prove 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Example: If you test 10,000 faults and see 0 failures, you're very confident p is very low</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Point 2: (1, e_goal)</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When P̂ = 100% (all faults cause failures)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Set next error to e_goal immediately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Why? Same logic—if everything fails, that's easy to measure precisely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Example: If every test fails, you quickly know p≈1</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Point 3: (0.5, Êᵢ/3)</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When P̂ = 50% (maximum variance case)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Set next error to one-third of current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Why? This is the hardest case, need gradual reduction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1/3 factor is chosen empirically to balance speed vs. safety</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Not 1/2 (like naïve)?</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The naïve approach halves error each time: e_(i+1) = Êᵢ/2</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For p=0.5 case: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Ruospo: Êᵢ/3 (slower)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Naïve: Êᵢ/2 (faster)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Ruospo is more conservative at p=0.5 to avoid overshooting.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But for p→0 or p→1:</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Ruospo: jump to e_goal (much faster!)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Naïve: still halves (unnecessarily slow)</a:t>
            </a:r>
            <a:endParaRPr>
              <a:solidFill>
                <a:schemeClr val="dk1"/>
              </a:solidFill>
            </a:endParaRPr>
          </a:p>
          <a:p>
            <a:pPr indent="0" lvl="0" marL="0" rtl="0" algn="l">
              <a:lnSpc>
                <a:spcPct val="115000"/>
              </a:lnSpc>
              <a:spcBef>
                <a:spcPts val="1200"/>
              </a:spcBef>
              <a:spcAft>
                <a:spcPts val="0"/>
              </a:spcAft>
              <a:buNone/>
            </a:pPr>
            <a:r>
              <a:rPr lang="en">
                <a:solidFill>
                  <a:schemeClr val="dk1"/>
                </a:solidFill>
              </a:rPr>
              <a:t>Overall, Ruospo is faster because most real systems have p far from 0.5.</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Visualizing the Curve:</a:t>
            </a:r>
            <a:endParaRPr b="1">
              <a:solidFill>
                <a:schemeClr val="dk1"/>
              </a:solidFill>
            </a:endParaRPr>
          </a:p>
          <a:p>
            <a:pPr indent="0" lvl="0" marL="0" rtl="0" algn="l">
              <a:spcBef>
                <a:spcPts val="1200"/>
              </a:spcBef>
              <a:spcAft>
                <a:spcPts val="0"/>
              </a:spcAft>
              <a:buNone/>
            </a:pPr>
            <a:r>
              <a:rPr lang="en">
                <a:solidFill>
                  <a:schemeClr val="dk1"/>
                </a:solidFill>
              </a:rPr>
              <a:t>e_next</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     Curve shape:</a:t>
            </a:r>
            <a:endParaRPr>
              <a:solidFill>
                <a:schemeClr val="dk1"/>
              </a:solidFill>
            </a:endParaRPr>
          </a:p>
          <a:p>
            <a:pPr indent="0" lvl="0" marL="0" rtl="0" algn="l">
              <a:spcBef>
                <a:spcPts val="0"/>
              </a:spcBef>
              <a:spcAft>
                <a:spcPts val="0"/>
              </a:spcAft>
              <a:buNone/>
            </a:pPr>
            <a:r>
              <a:rPr lang="en">
                <a:solidFill>
                  <a:schemeClr val="dk1"/>
                </a:solidFill>
              </a:rPr>
              <a:t> │        ___</a:t>
            </a:r>
            <a:endParaRPr>
              <a:solidFill>
                <a:schemeClr val="dk1"/>
              </a:solidFill>
            </a:endParaRPr>
          </a:p>
          <a:p>
            <a:pPr indent="0" lvl="0" marL="0" rtl="0" algn="l">
              <a:spcBef>
                <a:spcPts val="0"/>
              </a:spcBef>
              <a:spcAft>
                <a:spcPts val="0"/>
              </a:spcAft>
              <a:buNone/>
            </a:pPr>
            <a:r>
              <a:rPr lang="en">
                <a:solidFill>
                  <a:schemeClr val="dk1"/>
                </a:solidFill>
              </a:rPr>
              <a:t> │     __/   \__</a:t>
            </a:r>
            <a:endParaRPr>
              <a:solidFill>
                <a:schemeClr val="dk1"/>
              </a:solidFill>
            </a:endParaRPr>
          </a:p>
          <a:p>
            <a:pPr indent="0" lvl="0" marL="0" rtl="0" algn="l">
              <a:spcBef>
                <a:spcPts val="0"/>
              </a:spcBef>
              <a:spcAft>
                <a:spcPts val="0"/>
              </a:spcAft>
              <a:buNone/>
            </a:pPr>
            <a:r>
              <a:rPr lang="en">
                <a:solidFill>
                  <a:schemeClr val="dk1"/>
                </a:solidFill>
              </a:rPr>
              <a:t> │  __/         \__</a:t>
            </a:r>
            <a:endParaRPr>
              <a:solidFill>
                <a:schemeClr val="dk1"/>
              </a:solidFill>
            </a:endParaRPr>
          </a:p>
          <a:p>
            <a:pPr indent="0" lvl="0" marL="0" rtl="0" algn="l">
              <a:spcBef>
                <a:spcPts val="0"/>
              </a:spcBef>
              <a:spcAft>
                <a:spcPts val="0"/>
              </a:spcAft>
              <a:buNone/>
            </a:pPr>
            <a:r>
              <a:rPr lang="en">
                <a:solidFill>
                  <a:schemeClr val="dk1"/>
                </a:solidFill>
              </a:rPr>
              <a:t> │_/_______________\___→ P̂</a:t>
            </a:r>
            <a:endParaRPr>
              <a:solidFill>
                <a:schemeClr val="dk1"/>
              </a:solidFill>
            </a:endParaRPr>
          </a:p>
          <a:p>
            <a:pPr indent="0" lvl="0" marL="0" rtl="0" algn="l">
              <a:lnSpc>
                <a:spcPct val="115000"/>
              </a:lnSpc>
              <a:spcBef>
                <a:spcPts val="0"/>
              </a:spcBef>
              <a:spcAft>
                <a:spcPts val="0"/>
              </a:spcAft>
              <a:buNone/>
            </a:pPr>
            <a:r>
              <a:rPr lang="en">
                <a:solidFill>
                  <a:schemeClr val="dk1"/>
                </a:solidFill>
              </a:rPr>
              <a:t> 0    0.25   0.5   0.75   1.0</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It's a inverted parabola (∩ shape), highest at P̂=0.5.</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Numerical Example:</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Suppose: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Current Êᵢ = 3%</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Goal e_goal = 0.1%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k = 4×(3%/3 - 0.1%) = 4×(0.9%) = 3.6%</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Then for different P̂ values: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 = 0.01 (1% failure rate):</a:t>
            </a:r>
            <a:r>
              <a:rPr lang="en">
                <a:solidFill>
                  <a:schemeClr val="dk1"/>
                </a:solidFill>
              </a:rPr>
              <a:t> e_next = -0.036×(0.01)² + 0.036×(0.01) + 0.001 = -0.0000036 + 0.00036 + 0.001 = 0.00136 = 0.136% → Jumped from 3% to 0.136% in one iteration!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 = 0.5 (50% failure rate):</a:t>
            </a:r>
            <a:r>
              <a:rPr lang="en">
                <a:solidFill>
                  <a:schemeClr val="dk1"/>
                </a:solidFill>
              </a:rPr>
              <a:t> e_next = -0.036×(0.5)² + 0.036×(0.5) + 0.001 = -0.009 + 0.018 + 0.001 = 0.01 = 1% → Reduced from 3% to 1% (factor of 3)</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 = 0.99 (99% failure rate):</a:t>
            </a:r>
            <a:r>
              <a:rPr lang="en">
                <a:solidFill>
                  <a:schemeClr val="dk1"/>
                </a:solidFill>
              </a:rPr>
              <a:t> e_next = -0.036×(0.99)² + 0.036×(0.99) + 0.001 = -0.0353 + 0.0356 + 0.001 = 0.00136 = 0.136% → Also jumped quickly!</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Benefit: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For low-failure-rate systems (typical in reliability engineering):</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Conservative wastes testing assuming p=0.5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Naïve iterative slowly halves from large error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E-P curve quickly jumps to goal</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is why they achieve 57% fewer iterations in their experiments.</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76748971f_1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c76748971f_1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Let me show you their experimental results because this validates that the approach actually works on real neural networks with our fault model.</a:t>
            </a:r>
            <a:endParaRPr/>
          </a:p>
          <a:p>
            <a:pPr indent="0" lvl="0" marL="0" rtl="0" algn="l">
              <a:lnSpc>
                <a:spcPct val="115000"/>
              </a:lnSpc>
              <a:spcBef>
                <a:spcPts val="1200"/>
              </a:spcBef>
              <a:spcAft>
                <a:spcPts val="0"/>
              </a:spcAft>
              <a:buNone/>
            </a:pPr>
            <a:r>
              <a:rPr lang="en"/>
              <a:t>They tested on ResNet20 and MobileNetV2—both convolutional neural networks—but critically, they used permanent faults in FP32 weights, which is exactly what we're doing with our Vision Transformer. They ran campaigns at three precision levels: 1%, 0.1%, and 0.01% margin of error.</a:t>
            </a:r>
            <a:endParaRPr/>
          </a:p>
          <a:p>
            <a:pPr indent="0" lvl="0" marL="0" rtl="0" algn="l">
              <a:lnSpc>
                <a:spcPct val="115000"/>
              </a:lnSpc>
              <a:spcBef>
                <a:spcPts val="1200"/>
              </a:spcBef>
              <a:spcAft>
                <a:spcPts val="0"/>
              </a:spcAft>
              <a:buNone/>
            </a:pPr>
            <a:r>
              <a:rPr lang="en"/>
              <a:t>The results are summarized in this table. At 1% margin, both the conservative and their iterative approach finish quickly—around 2 iterations. The difference is small here because 1% is a relatively loose margin.</a:t>
            </a:r>
            <a:endParaRPr/>
          </a:p>
          <a:p>
            <a:pPr indent="0" lvl="0" marL="0" rtl="0" algn="l">
              <a:lnSpc>
                <a:spcPct val="115000"/>
              </a:lnSpc>
              <a:spcBef>
                <a:spcPts val="1200"/>
              </a:spcBef>
              <a:spcAft>
                <a:spcPts val="0"/>
              </a:spcAft>
              <a:buNone/>
            </a:pPr>
            <a:r>
              <a:rPr lang="en"/>
              <a:t>At 0.1% margin, you start seeing the benefits. The conservative approach still finishes in one shot, but needs many more faults. The naïve iterative approach takes 4 iterations. Their approach only takes 3 iterations.</a:t>
            </a:r>
            <a:endParaRPr/>
          </a:p>
          <a:p>
            <a:pPr indent="0" lvl="0" marL="0" rtl="0" algn="l">
              <a:lnSpc>
                <a:spcPct val="115000"/>
              </a:lnSpc>
              <a:spcBef>
                <a:spcPts val="1200"/>
              </a:spcBef>
              <a:spcAft>
                <a:spcPts val="0"/>
              </a:spcAft>
              <a:buNone/>
            </a:pPr>
            <a:r>
              <a:rPr lang="en"/>
              <a:t>At 0.01% margin—which is extremely tight precision—the difference is dramatic. The naïve iterative needs 7 to 8 iterations. Their approach only needs 3 iterations, a 57% reduction.</a:t>
            </a:r>
            <a:endParaRPr/>
          </a:p>
          <a:p>
            <a:pPr indent="0" lvl="0" marL="0" rtl="0" algn="l">
              <a:lnSpc>
                <a:spcPct val="115000"/>
              </a:lnSpc>
              <a:spcBef>
                <a:spcPts val="1200"/>
              </a:spcBef>
              <a:spcAft>
                <a:spcPts val="0"/>
              </a:spcAft>
              <a:buNone/>
            </a:pPr>
            <a:r>
              <a:rPr lang="en"/>
              <a:t>In terms of total faults injected, compared to the conservative one-shot approach, they saved 66 to 90% of tests for the tightest margin. Compared to the naïve iterative, they saved 13 to 22% of tests at medium precision. They also dramatically reduced the number of iterations, which matters because each iteration has overhead."</a:t>
            </a:r>
            <a:endParaRPr/>
          </a:p>
          <a:p>
            <a:pPr indent="0" lvl="0" marL="0" rtl="0" algn="l">
              <a:spcBef>
                <a:spcPts val="1200"/>
              </a:spcBef>
              <a:spcAft>
                <a:spcPts val="0"/>
              </a:spcAft>
              <a:buNone/>
            </a:pPr>
            <a:r>
              <a:t/>
            </a:r>
            <a:endParaRPr/>
          </a:p>
          <a:p>
            <a:pPr indent="0" lvl="0" marL="0" rtl="0" algn="l">
              <a:lnSpc>
                <a:spcPct val="115000"/>
              </a:lnSpc>
              <a:spcBef>
                <a:spcPts val="1400"/>
              </a:spcBef>
              <a:spcAft>
                <a:spcPts val="0"/>
              </a:spcAft>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Experimental Setup Details: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Models: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ResNet20: 268,346 params → 17,174,144 bits in FP32</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MobileNetV2: 2,203,584 params → 141,029,376 bits in FP32</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Fault Model:</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Permanent stuck-at faults in weights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Random bit position (0-31)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Random weight selection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Evaluated on full test set (10k images for CIFAR-10)</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Failure Metric:</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SDC-1: Silent Data Corruption affecting top-1 prediction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fault causes wrong classification → failure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prediction still correct → not a failure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Three Methods Compared:</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1. Conservative One-Step:</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Use p=0.5 throughout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Calculate n for target e and 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Inject all n faults in one go</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Done in 1 iteration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Pros: Simple, guaranteed to work Cons: Might test far more than needed</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2. Naïve Iterative: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Start with loose e, p=0.5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iteration: use new p̂, but e_(i+1) = Ê/2</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Continue until Ê ≤ e_goal</a:t>
            </a:r>
            <a:endParaRPr>
              <a:solidFill>
                <a:schemeClr val="dk1"/>
              </a:solidFill>
            </a:endParaRPr>
          </a:p>
          <a:p>
            <a:pPr indent="0" lvl="0" marL="0" rtl="0" algn="l">
              <a:lnSpc>
                <a:spcPct val="115000"/>
              </a:lnSpc>
              <a:spcBef>
                <a:spcPts val="1200"/>
              </a:spcBef>
              <a:spcAft>
                <a:spcPts val="0"/>
              </a:spcAft>
              <a:buNone/>
            </a:pPr>
            <a:r>
              <a:rPr lang="en">
                <a:solidFill>
                  <a:schemeClr val="dk1"/>
                </a:solidFill>
              </a:rPr>
              <a:t>Pros: Better than conservative for low p Cons: Halving is not optimal</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3. Ruospo's Iterative (E-P curve):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Start with loose e, p=0.5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iteration: use new p̂, and e_(i+1) from E-P curve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Continue until Ê ≤ e_goal</a:t>
            </a:r>
            <a:endParaRPr>
              <a:solidFill>
                <a:schemeClr val="dk1"/>
              </a:solidFill>
            </a:endParaRPr>
          </a:p>
          <a:p>
            <a:pPr indent="0" lvl="0" marL="0" rtl="0" algn="l">
              <a:lnSpc>
                <a:spcPct val="115000"/>
              </a:lnSpc>
              <a:spcBef>
                <a:spcPts val="1200"/>
              </a:spcBef>
              <a:spcAft>
                <a:spcPts val="0"/>
              </a:spcAft>
              <a:buNone/>
            </a:pPr>
            <a:r>
              <a:rPr lang="en">
                <a:solidFill>
                  <a:schemeClr val="dk1"/>
                </a:solidFill>
              </a:rPr>
              <a:t>Pros: Optimal convergence Cons: Slightly more complex</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Understanding the Results Table:</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e = 1%:</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is relatively loose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Even conservative doesn't need many tests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 methods converge quickly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 much difference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Real numbers from paper (ResNet20):</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Conservative: 16,625 faults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Naïve: ~same (didn't report separately)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Proposed: 980 faults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this is network-wise, small 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e = 0.1%:</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Now getting tighter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Difference starts showing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Proposed saves ~13% over naïve iterative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Saves ~95% over conservative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Real numbers (ResNet20):</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Conservative: 1,517,100 faults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Naïve: 80,734 faults, 4.3 iterations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Proposed: 69,959 faults, 3.12 iterations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e = 0.01%:</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Extremely tight precision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where benefits are huge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Proposed saves ~2% over naïve (seems small but it's not)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Saves ~66-90% over conservative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Reduces iterations by 57%</a:t>
            </a:r>
            <a:endParaRPr>
              <a:solidFill>
                <a:schemeClr val="dk1"/>
              </a:solidFill>
            </a:endParaRPr>
          </a:p>
          <a:p>
            <a:pPr indent="0" lvl="0" marL="0" rtl="0" algn="l">
              <a:lnSpc>
                <a:spcPct val="115000"/>
              </a:lnSpc>
              <a:spcBef>
                <a:spcPts val="1200"/>
              </a:spcBef>
              <a:spcAft>
                <a:spcPts val="0"/>
              </a:spcAft>
              <a:buNone/>
            </a:pPr>
            <a:r>
              <a:rPr lang="en">
                <a:solidFill>
                  <a:schemeClr val="dk1"/>
                </a:solidFill>
              </a:rPr>
              <a:t>Real numbers (ResNet20):</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Conservative: 15,567,517 faults (impractical!)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Naïve: 5,359,619 faults, 7 iterations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Proposed: 5,255,416 faults, 3 iterations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2% Fault Reduction Matters:</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For MobileNetV2 with e=0.01%:</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1.65% reduction sounds small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population is 141M faults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Naïve: 7,020,572 tests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Proposed: 6,931,371 tests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Saved: ~89,000 tests!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Iteration Reduction:</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From 7 to 3 iterations means: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57% fewer iteration loops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Less overhead for: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Stopping the FI process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Aggregating results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Calculating statistics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Restarting the FI process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Saves days of wall-clock time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Results Vary (ResNet vs MobileNet):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Different model sizes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Different layer distributions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Different actual failure rates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trends are consistent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Key Validation:</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They also ran FULL EXHAUSTIVE injection on some cases and confirmed:</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Their statistical estimates fell within stated error margins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Confidence intervals contained true values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Proof that the method works!</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76748971f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76748971f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An important aspect of their work is that they didn't just run one overall campaign—they analyzed at three different levels of granularity.</a:t>
            </a:r>
            <a:endParaRPr/>
          </a:p>
          <a:p>
            <a:pPr indent="0" lvl="0" marL="0" rtl="0" algn="l">
              <a:lnSpc>
                <a:spcPct val="115000"/>
              </a:lnSpc>
              <a:spcBef>
                <a:spcPts val="1200"/>
              </a:spcBef>
              <a:spcAft>
                <a:spcPts val="0"/>
              </a:spcAft>
              <a:buNone/>
            </a:pPr>
            <a:r>
              <a:rPr lang="en"/>
              <a:t>Network-wise means treating the entire model as one population. You're asking: 'What percentage of ALL faults, anywhere in the model, cause failures?' This gives you a single overall reliability number for mission planning.</a:t>
            </a:r>
            <a:endParaRPr/>
          </a:p>
          <a:p>
            <a:pPr indent="0" lvl="0" marL="0" rtl="0" algn="l">
              <a:lnSpc>
                <a:spcPct val="115000"/>
              </a:lnSpc>
              <a:spcBef>
                <a:spcPts val="1200"/>
              </a:spcBef>
              <a:spcAft>
                <a:spcPts val="0"/>
              </a:spcAft>
              <a:buNone/>
            </a:pPr>
            <a:r>
              <a:rPr lang="en"/>
              <a:t>Layer-wise means running separate statistical campaigns for each layer. You treat each layer as its own population and measure its failure rate independently. This identifies which layers are most vulnerable and guides where you should apply protection measures.</a:t>
            </a:r>
            <a:endParaRPr/>
          </a:p>
          <a:p>
            <a:pPr indent="0" lvl="0" marL="0" rtl="0" algn="l">
              <a:lnSpc>
                <a:spcPct val="115000"/>
              </a:lnSpc>
              <a:spcBef>
                <a:spcPts val="1200"/>
              </a:spcBef>
              <a:spcAft>
                <a:spcPts val="0"/>
              </a:spcAft>
              <a:buNone/>
            </a:pPr>
            <a:r>
              <a:rPr lang="en"/>
              <a:t>Bit-wise means separate campaigns for each bit position from 0 to 31 in the FP32 format. And here's where they found something really interesting for our work.</a:t>
            </a:r>
            <a:endParaRPr/>
          </a:p>
          <a:p>
            <a:pPr indent="0" lvl="0" marL="0" rtl="0" algn="l">
              <a:lnSpc>
                <a:spcPct val="115000"/>
              </a:lnSpc>
              <a:spcBef>
                <a:spcPts val="1200"/>
              </a:spcBef>
              <a:spcAft>
                <a:spcPts val="0"/>
              </a:spcAft>
              <a:buNone/>
            </a:pPr>
            <a:r>
              <a:rPr lang="en"/>
              <a:t>For FP32 networks, bits 0 through 19—that's the lower mantissa bits—had essentially zero percent failure rate. Faults in these positions almost never caused wrong predictions. Bits 20 through 29 showed increasing failure rates as you go higher. But bits 30 and 31—the sign bit and the most significant exponent bit—had the highest failure rates, and this is where you see NaN and Infinity values appearing. This is directly relevant to the point Mahdi made to me before about handling bits 30 and 31 specially.</a:t>
            </a:r>
            <a:endParaRPr/>
          </a:p>
          <a:p>
            <a:pPr indent="0" lvl="0" marL="0" rtl="0" algn="l">
              <a:lnSpc>
                <a:spcPct val="115000"/>
              </a:lnSpc>
              <a:spcBef>
                <a:spcPts val="1200"/>
              </a:spcBef>
              <a:spcAft>
                <a:spcPts val="0"/>
              </a:spcAft>
              <a:buNone/>
            </a:pPr>
            <a:r>
              <a:t/>
            </a:r>
            <a:endParaRPr/>
          </a:p>
          <a:p>
            <a:pPr indent="0" lvl="0" marL="0" rtl="0" algn="l">
              <a:lnSpc>
                <a:spcPct val="115000"/>
              </a:lnSpc>
              <a:spcBef>
                <a:spcPts val="1400"/>
              </a:spcBef>
              <a:spcAft>
                <a:spcPts val="0"/>
              </a:spcAft>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Why Multi-Granularity Matters:</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Different analyses answer different questions: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Network-wise: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Question: "Is this model reliable enough for the mission?"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Answer: "99% confident failure rate is 1.2% ± 0.1%"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Overall go/no-go decision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Layer-wise: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Question: "Which layers need protection?"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Answer: "Attention layers: 5% failure rate; MLP: 0.5% failure rate"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Targeted hardening strategies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Bit-wise: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Question: "Can we use reduced-precision protection?"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Answer: "Only bits 23-31 matter; bits 0-22 can be unprotected"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 Efficient error correction codes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Statistical Challenge:</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Running separate campaigns means: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Each needs its own sample size calculation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Each has smaller N (subset of total faults)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Need to maintain same e and t across all</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Example for layer-wise: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Layer 1: N₁ = 1M faults → calculate n₁</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Layer 2: N₂ = 500K faults → calculate n₂</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Layer 12: N₁₂ = 2M faults → calculate n₁₂</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Each gets separate statistical campaign to achieve e=0.1% margin.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Bit-wise Analysis - Deep Dive:</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FP32 Format Reminder:</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[Sign: 1 bit][Exponent: 8 bits][Mantissa: 23 bits]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Bit 31      Bit 30...Bit 23    Bit 22...Bit 0</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Bit Categories and Impact:</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Bits 0-19 (Lower Mantissa):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Represent small fractional changes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Flipping these causes tiny weight perturbations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Neural networks are robust to small noise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Result: ~0% failure rate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Weight = 0.5000000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Flip bit 10 → 0.5000005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Essentially undetectable impact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Bits 20-22 (Higher Mantissa):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Represent larger fractional changes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Flipping these causes noticeable perturbations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Sometimes matters, often doesn't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Result: Low but non-zero failure rate (~0.1-1%)</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Weight = 0.5000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Flip bit 20 → 0.5005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Might affect critical edges in decision boundary</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Bits 23-29 (Exponent):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Control the scale/magnitude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Flipping these multiplies weight by power of 2</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Can dramatically change model behavior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Result: Increasing failure rate (~1-10%)</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Weight = 0.5 (exponent = 126 in biased form)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Flip bit 24 → weight becomes 1.0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Or flip bit 25 → weight becomes 2.0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Major impact on network computations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Bit 30 (High Exponent):</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MSB of exponent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Flipping can cause huge magnitude changes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Can create NaN or Inf when combined with mantissa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Result: High failure rate (~10-30%)</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Small weight 0.001 → becomes huge like 1000.0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Or creates Inf if all exponent bits = 1</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Bit 31 (Sign):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Flips the sign of weight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Changes excitation to inhibition or vice versa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Major semantic change in network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Result: High failure rate (~5-15%)</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Positive weight +0.5 → becomes -0.5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Neuron that activated now inhibits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Can completely change classification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NaN/Inf Appears (Bits 30-31):</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NaN (Not a Number) occurs when: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Exponent = all 1s (255 in biased form)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Mantissa ≠ 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Example: 0xFF800001 = NaN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Inf (Infinity) occurs when: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Exponent = all 1s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Mantissa = all 0s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Example: 0xFF800000 = +Inf or 0x7F800000 = -Inf</a:t>
            </a:r>
            <a:endParaRPr>
              <a:solidFill>
                <a:schemeClr val="dk1"/>
              </a:solidFill>
            </a:endParaRPr>
          </a:p>
          <a:p>
            <a:pPr indent="0" lvl="0" marL="0" rtl="0" algn="l">
              <a:lnSpc>
                <a:spcPct val="115000"/>
              </a:lnSpc>
              <a:spcBef>
                <a:spcPts val="1200"/>
              </a:spcBef>
              <a:spcAft>
                <a:spcPts val="0"/>
              </a:spcAft>
              <a:buNone/>
            </a:pPr>
            <a:r>
              <a:rPr lang="en">
                <a:solidFill>
                  <a:schemeClr val="dk1"/>
                </a:solidFill>
              </a:rPr>
              <a:t>Flipping bit 30 or 31 on certain values can create these patterns.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Impact of NaN/Inf:</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Propagates through computation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NaN * anything = NaN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Inf + anything = Inf</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Entire forward pass becomes NaN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Result: Complete model failure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Practical Implications:</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From Ruospo's bit-wise analysis: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For Protection Strategies:</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Full Protection:</a:t>
            </a:r>
            <a:r>
              <a:rPr lang="en">
                <a:solidFill>
                  <a:schemeClr val="dk1"/>
                </a:solidFill>
              </a:rPr>
              <a:t> All 32 bits (expensive)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Partial Protection:</a:t>
            </a:r>
            <a:r>
              <a:rPr lang="en">
                <a:solidFill>
                  <a:schemeClr val="dk1"/>
                </a:solidFill>
              </a:rPr>
              <a:t> Only bits 23-31 (9 bits)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Saves ~72% of protection overhead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Covers all critical bits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Minimal Protection:</a:t>
            </a:r>
            <a:r>
              <a:rPr lang="en">
                <a:solidFill>
                  <a:schemeClr val="dk1"/>
                </a:solidFill>
              </a:rPr>
              <a:t> Only bits 28-31 (4 bits)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Saves ~87% of overhead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Catches worst failures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For Error Correction: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Standard ECC: 8 bits overhead per 64 bits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Selective ECC: 8 bits overhead per 64 bits, but only for high bits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TMR (Triple Modular Redundancy): 3× storage, but only for critical parameters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Your ViT Application:</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You should run bit-wise analysis to confirm: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Does ViT show same pattern as CNNs?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Are attention weights different from CNN conv weights?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Do positional embeddings have different bit sensitivity?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could be a valuable contribution: "First bit-wise analysis of Vision Transformers"</a:t>
            </a:r>
            <a:endParaRPr>
              <a:solidFill>
                <a:schemeClr val="dk1"/>
              </a:solidFill>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c76748971f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c76748971f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Now let me bring this back to our specific ViT model and how we'll apply these methods.</a:t>
            </a:r>
            <a:endParaRPr/>
          </a:p>
          <a:p>
            <a:pPr indent="0" lvl="0" marL="0" rtl="0" algn="l">
              <a:lnSpc>
                <a:spcPct val="115000"/>
              </a:lnSpc>
              <a:spcBef>
                <a:spcPts val="1200"/>
              </a:spcBef>
              <a:spcAft>
                <a:spcPts val="0"/>
              </a:spcAft>
              <a:buNone/>
            </a:pPr>
            <a:r>
              <a:rPr lang="en"/>
              <a:t>Our specifics: we have 268,000 parameters, times 32 bits each, times 1000 time points during inference. That gives us 8.6 billion possible fault configurations—that's our population N.</a:t>
            </a:r>
            <a:endParaRPr/>
          </a:p>
          <a:p>
            <a:pPr indent="0" lvl="0" marL="0" rtl="0" algn="l">
              <a:lnSpc>
                <a:spcPct val="115000"/>
              </a:lnSpc>
              <a:spcBef>
                <a:spcPts val="1200"/>
              </a:spcBef>
              <a:spcAft>
                <a:spcPts val="0"/>
              </a:spcAft>
              <a:buNone/>
            </a:pPr>
            <a:r>
              <a:rPr lang="en"/>
              <a:t>For our targets, I'm proposing we aim for 0.1% margin of error. That's tight enough for space-grade precision—it means if we measure a 1.2% failure rate, we're saying the true value is between 1.1% and 1.3%. That's precise enough for mission planning. For confidence, we'll use 99%, which is the standard for safety-critical systems.</a:t>
            </a:r>
            <a:endParaRPr/>
          </a:p>
          <a:p>
            <a:pPr indent="0" lvl="0" marL="0" rtl="0" algn="l">
              <a:lnSpc>
                <a:spcPct val="115000"/>
              </a:lnSpc>
              <a:spcBef>
                <a:spcPts val="1200"/>
              </a:spcBef>
              <a:spcAft>
                <a:spcPts val="0"/>
              </a:spcAft>
              <a:buNone/>
            </a:pPr>
            <a:r>
              <a:rPr lang="en"/>
              <a:t>For failure criteria, we'll use two thresholds. If accuracy drops below 50%, that's mission failure—the model is no longer useful for navigation or classification. If accuracy drops below 20%, that's catastrophic—the model is essentially non-functional and could cause dangerous decisions.</a:t>
            </a:r>
            <a:endParaRPr/>
          </a:p>
          <a:p>
            <a:pPr indent="0" lvl="0" marL="0" rtl="0" algn="l">
              <a:lnSpc>
                <a:spcPct val="115000"/>
              </a:lnSpc>
              <a:spcBef>
                <a:spcPts val="1200"/>
              </a:spcBef>
              <a:spcAft>
                <a:spcPts val="0"/>
              </a:spcAft>
              <a:buNone/>
            </a:pPr>
            <a:r>
              <a:rPr lang="en"/>
              <a:t>Using the conservative formula, we need to calculate exactly how many tests are required. This becomes our baseline to beat with the iterative approach. The question is: how much can we improve on this number?</a:t>
            </a:r>
            <a:endParaRPr/>
          </a:p>
          <a:p>
            <a:pPr indent="0" lvl="0" marL="0" rtl="0" algn="l">
              <a:spcBef>
                <a:spcPts val="1200"/>
              </a:spcBef>
              <a:spcAft>
                <a:spcPts val="0"/>
              </a:spcAft>
              <a:buNone/>
            </a:pPr>
            <a:r>
              <a:t/>
            </a:r>
            <a:endParaRPr/>
          </a:p>
          <a:p>
            <a:pPr indent="0" lvl="0" marL="0" rtl="0" algn="l">
              <a:lnSpc>
                <a:spcPct val="115000"/>
              </a:lnSpc>
              <a:spcBef>
                <a:spcPts val="1400"/>
              </a:spcBef>
              <a:spcAft>
                <a:spcPts val="0"/>
              </a:spcAft>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Calculating Baseline n for Your ViT: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Let's do the full calculation using Leveugle's formula:</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Given: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 = 8,589,072,000 (8.6 billion)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 = 0.001 (0.1% margin)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 = 2.576 (99% confidence)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 = 0.5 (conservative)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Formula:</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 = N / [1 + e²(N-1)/(t² × p(1-p))]</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Step-by-step:</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Calculate e²:</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e² = (0.001)² = 0.000001</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2"/>
            </a:pPr>
            <a:r>
              <a:rPr lang="en">
                <a:solidFill>
                  <a:schemeClr val="dk1"/>
                </a:solidFill>
              </a:rPr>
              <a:t>Calculate t²:</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t² = (2.576)² = 6.635776</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3"/>
            </a:pPr>
            <a:r>
              <a:rPr lang="en">
                <a:solidFill>
                  <a:schemeClr val="dk1"/>
                </a:solidFill>
              </a:rPr>
              <a:t>Calculate p(1-p):</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p(1-p) = 0.5 × 0.5 = 0.25</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4"/>
            </a:pPr>
            <a:r>
              <a:rPr lang="en">
                <a:solidFill>
                  <a:schemeClr val="dk1"/>
                </a:solidFill>
              </a:rPr>
              <a:t>Calculate t² × p(1-p):</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6.635776 × 0.25 = 1.658944</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5"/>
            </a:pPr>
            <a:r>
              <a:rPr lang="en">
                <a:solidFill>
                  <a:schemeClr val="dk1"/>
                </a:solidFill>
              </a:rPr>
              <a:t>Calculate e²(N-1):</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0.000001 × 8,589,071,999 = 8,589.072</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6"/>
            </a:pPr>
            <a:r>
              <a:rPr lang="en">
                <a:solidFill>
                  <a:schemeClr val="dk1"/>
                </a:solidFill>
              </a:rPr>
              <a:t>Calculate e²(N-1)/(t² × p(1-p)):</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8,589.072 / 1.658944 = 5,176.88</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7"/>
            </a:pPr>
            <a:r>
              <a:rPr lang="en">
                <a:solidFill>
                  <a:schemeClr val="dk1"/>
                </a:solidFill>
              </a:rPr>
              <a:t>Calculate denominator:</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1 + 5,176.88 = 5,177.88</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8"/>
            </a:pPr>
            <a:r>
              <a:rPr lang="en">
                <a:solidFill>
                  <a:schemeClr val="dk1"/>
                </a:solidFill>
              </a:rPr>
              <a:t>Calculate 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  n = 8,589,072,000 / 5,177.88 = 1,658,772</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Baseline: Need to inject ~1.66 million faults</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That's only 0.019% of population—still remarkable!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But with iterative approach, you expect to reduce this by 13-22% (based on Ruospo's results at e=0.1%).</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Expected with Iterative: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Conservative: 1,658,772 faults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Iterative: ~1,300,000 faults (21% reduction)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Savings: ~350,000 fewer tests!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Time Estimation:</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If each fault injection takes ~1 second:</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Conservative: 1,658,772 seconds = 19.2 days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Iterative: 1,300,000 seconds = 15 days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Save: 4.2 days of compute time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If you have parallel GPUs (say 8):</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Conservative: 2.4 days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Iterative: 1.9 days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Two Failure Thresholds: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50% Accuracy Threshold (Mission Failure):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For 10-class classification, random guessing = 10%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50% means model is still working but degraded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Mission requirements might specify "must maintain 80% accuracy"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drops below 50%, mission objectives cannot be met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Example: satellite misclassifies half of land cover types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20% Accuracy Threshold (Catastrophic):</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Barely better than random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Model is essentially non-functional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Could cause dangerous decisions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Example: navigation system thinks ocean is land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Must trigger safe mode or system reset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Why Two Thresholds:</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Different severity levels need different analysis: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P(acc &lt; 50%): How often does mission fail?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P(acc &lt; 20%): How often is it catastrophic?</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These probabilities inform: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Insurance costs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Redundancy requirements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Mission risk assessment</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Statistical Campaigns for Each:</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You'll actually run 2-3 separate analyses: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
                <a:solidFill>
                  <a:schemeClr val="dk1"/>
                </a:solidFill>
              </a:rPr>
              <a:t>Failure = wrong prediction (any accuracy drop)</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Failure = acc &lt; 50% (mission failure)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Failure = acc &lt; 20% (catastrophic)</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Each gives different p̂, used for different risk calculations.</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76748971f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c76748971f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We're also going to run multi-granularity analysis at four levels.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Network-wise treats all 8.6 billion faults as one population. This gives us the overall failure rate for the entire model—this is what you report to mission planners.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Layer-wise runs separate campaigns for each of our approximately 12 ViT layers. Each layer becomes its own population, and we measure vulnerability independently. This tells us which layers need protection.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Component-wise looks at different architectural components—attention mechanisms, MLP blocks, patch embedding, layer normalization, and the classification head. This is especially interesting for ViTs because we don't know if attention is more or less vulnerable than other components.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Bit-wise runs 32 separate campaigns, one for each bit position in FP32. We expect to confirm that high exponent bits are most critical, but we need to verify this for Vision Transformers specifically.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We have some special considerations. Mahdi mentioned bits 30 and 31, which can cause NaN and Infinity. We'll handle those separately as catastrophic failures. Also, ViTs have a different structure than CNNs—the papers tested on convolutional networks. Attention mechanisms might behave differently, and positional embeddings, which are unique to transformers, could be particularly critical or particularly robust. We don't know yet, which makes this analysis valuable.</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Detailed Granularity Breakdown: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Network-Wise (N = 8.6B):</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Single statistical campaign:</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Random fault anywhere in model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Random bit position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Random time point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Measure: Does it cause failure?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Output: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Overall failure rate: p̂ ± 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Example: "2.3% ± 0.1% with 99% confidence"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Used for: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Mission reliability: "99% confident &lt;3% of faults cause failure"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Compare with requirements: "Must be &lt;5%"</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Overall go/no-go decision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Layer-Wise (12 separate campaigns):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ViT-tiny typical structure:</a:t>
            </a:r>
            <a:endParaRPr>
              <a:solidFill>
                <a:schemeClr val="dk1"/>
              </a:solidFill>
            </a:endParaRPr>
          </a:p>
          <a:p>
            <a:pPr indent="0" lvl="0" marL="0" rtl="0" algn="l">
              <a:spcBef>
                <a:spcPts val="1200"/>
              </a:spcBef>
              <a:spcAft>
                <a:spcPts val="0"/>
              </a:spcAft>
              <a:buNone/>
            </a:pPr>
            <a:r>
              <a:rPr lang="en">
                <a:solidFill>
                  <a:schemeClr val="dk1"/>
                </a:solidFill>
              </a:rPr>
              <a:t>1. Patch Embedding (conv + flatten)</a:t>
            </a:r>
            <a:endParaRPr>
              <a:solidFill>
                <a:schemeClr val="dk1"/>
              </a:solidFill>
            </a:endParaRPr>
          </a:p>
          <a:p>
            <a:pPr indent="0" lvl="0" marL="0" rtl="0" algn="l">
              <a:spcBef>
                <a:spcPts val="0"/>
              </a:spcBef>
              <a:spcAft>
                <a:spcPts val="0"/>
              </a:spcAft>
              <a:buNone/>
            </a:pPr>
            <a:r>
              <a:rPr lang="en">
                <a:solidFill>
                  <a:schemeClr val="dk1"/>
                </a:solidFill>
              </a:rPr>
              <a:t>2. Position Embedding (learned)</a:t>
            </a:r>
            <a:endParaRPr>
              <a:solidFill>
                <a:schemeClr val="dk1"/>
              </a:solidFill>
            </a:endParaRPr>
          </a:p>
          <a:p>
            <a:pPr indent="0" lvl="0" marL="0" rtl="0" algn="l">
              <a:spcBef>
                <a:spcPts val="0"/>
              </a:spcBef>
              <a:spcAft>
                <a:spcPts val="0"/>
              </a:spcAft>
              <a:buNone/>
            </a:pPr>
            <a:r>
              <a:rPr lang="en">
                <a:solidFill>
                  <a:schemeClr val="dk1"/>
                </a:solidFill>
              </a:rPr>
              <a:t>3-14. Transformer Blocks × 12:</a:t>
            </a:r>
            <a:endParaRPr>
              <a:solidFill>
                <a:schemeClr val="dk1"/>
              </a:solidFill>
            </a:endParaRPr>
          </a:p>
          <a:p>
            <a:pPr indent="0" lvl="0" marL="0" rtl="0" algn="l">
              <a:spcBef>
                <a:spcPts val="0"/>
              </a:spcBef>
              <a:spcAft>
                <a:spcPts val="0"/>
              </a:spcAft>
              <a:buNone/>
            </a:pPr>
            <a:r>
              <a:rPr lang="en">
                <a:solidFill>
                  <a:schemeClr val="dk1"/>
                </a:solidFill>
              </a:rPr>
              <a:t>      - Multi-head Self-Attention</a:t>
            </a:r>
            <a:endParaRPr>
              <a:solidFill>
                <a:schemeClr val="dk1"/>
              </a:solidFill>
            </a:endParaRPr>
          </a:p>
          <a:p>
            <a:pPr indent="0" lvl="0" marL="0" rtl="0" algn="l">
              <a:spcBef>
                <a:spcPts val="0"/>
              </a:spcBef>
              <a:spcAft>
                <a:spcPts val="0"/>
              </a:spcAft>
              <a:buNone/>
            </a:pPr>
            <a:r>
              <a:rPr lang="en">
                <a:solidFill>
                  <a:schemeClr val="dk1"/>
                </a:solidFill>
              </a:rPr>
              <a:t>      - MLP (2 layers)</a:t>
            </a:r>
            <a:endParaRPr>
              <a:solidFill>
                <a:schemeClr val="dk1"/>
              </a:solidFill>
            </a:endParaRPr>
          </a:p>
          <a:p>
            <a:pPr indent="0" lvl="0" marL="0" rtl="0" algn="l">
              <a:spcBef>
                <a:spcPts val="0"/>
              </a:spcBef>
              <a:spcAft>
                <a:spcPts val="0"/>
              </a:spcAft>
              <a:buNone/>
            </a:pPr>
            <a:r>
              <a:rPr lang="en">
                <a:solidFill>
                  <a:schemeClr val="dk1"/>
                </a:solidFill>
              </a:rPr>
              <a:t>      - Layer Norms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15. Classification Head (linear)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Each layer analyzed separately: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Layer 1: N₁ faults, measure p̂₁</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Layer 2: N₂ faults, measure p̂₂</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Layer 15: N₁₅ faults, measure p̂₁₅</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Results might show:</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Attention layers: high vulnerability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MLP layers: medium vulnerability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Normalization: low vulnerability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Head: critical (final decision point)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Practical use: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Protect only critical layers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Save hardware resources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Guided incremental learning (your Phase 3!)</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Component-Wise (5-6 campaigns):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Group parameters by function: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Attention Components: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Query, Key, Value projection weights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Attention output projection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About 40-50% of parameters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MLP Components: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FFN layer 1 (expand)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FFN layer 2 (project)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About 40-50% of parameters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Embedding Components: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Patch embedding conv</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Position embeddings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About 5-10% of parameters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Normalization: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Layer norm scales and biases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Small % of parameters but critical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Head:</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Final classification layer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Small but mission-critical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Each analyzed separately with statistical rigor.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Expected findings (hypotheses):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Attention might be most vulnerable (dense interactions)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Position embeddings might be robust (learned redundancy)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Head is probably very vulnerable (directly affects output)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Layer norms might not matter much (normalization is robust)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Bit-Wise (32 campaigns):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each bit position b ∈ {0, 1, ..., 31}:</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Population: All faults affecting bit b across all weights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For ViT-tiny: 268K weights × 1000 time points = 268M faults per bit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Measure: Failure rate for faults in bit b</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Expected pattern (based on CNNs):</a:t>
            </a:r>
            <a:endParaRPr>
              <a:solidFill>
                <a:schemeClr val="dk1"/>
              </a:solidFill>
            </a:endParaRPr>
          </a:p>
          <a:p>
            <a:pPr indent="0" lvl="0" marL="0" rtl="0" algn="l">
              <a:spcBef>
                <a:spcPts val="1200"/>
              </a:spcBef>
              <a:spcAft>
                <a:spcPts val="0"/>
              </a:spcAft>
              <a:buNone/>
            </a:pPr>
            <a:r>
              <a:rPr lang="en">
                <a:solidFill>
                  <a:schemeClr val="dk1"/>
                </a:solidFill>
              </a:rPr>
              <a:t>Bit 0-19:  ~0.0% failure rate  (low mantissa)</a:t>
            </a:r>
            <a:endParaRPr>
              <a:solidFill>
                <a:schemeClr val="dk1"/>
              </a:solidFill>
            </a:endParaRPr>
          </a:p>
          <a:p>
            <a:pPr indent="0" lvl="0" marL="0" rtl="0" algn="l">
              <a:spcBef>
                <a:spcPts val="0"/>
              </a:spcBef>
              <a:spcAft>
                <a:spcPts val="0"/>
              </a:spcAft>
              <a:buNone/>
            </a:pPr>
            <a:r>
              <a:rPr lang="en">
                <a:solidFill>
                  <a:schemeClr val="dk1"/>
                </a:solidFill>
              </a:rPr>
              <a:t>Bit 20-22: ~0.1% failure rate  (high mantissa)</a:t>
            </a:r>
            <a:endParaRPr>
              <a:solidFill>
                <a:schemeClr val="dk1"/>
              </a:solidFill>
            </a:endParaRPr>
          </a:p>
          <a:p>
            <a:pPr indent="0" lvl="0" marL="0" rtl="0" algn="l">
              <a:spcBef>
                <a:spcPts val="0"/>
              </a:spcBef>
              <a:spcAft>
                <a:spcPts val="0"/>
              </a:spcAft>
              <a:buNone/>
            </a:pPr>
            <a:r>
              <a:rPr lang="en">
                <a:solidFill>
                  <a:schemeClr val="dk1"/>
                </a:solidFill>
              </a:rPr>
              <a:t>Bit 23-29: ~1-5% failure rate  (exponent)</a:t>
            </a:r>
            <a:endParaRPr>
              <a:solidFill>
                <a:schemeClr val="dk1"/>
              </a:solidFill>
            </a:endParaRPr>
          </a:p>
          <a:p>
            <a:pPr indent="0" lvl="0" marL="0" rtl="0" algn="l">
              <a:spcBef>
                <a:spcPts val="0"/>
              </a:spcBef>
              <a:spcAft>
                <a:spcPts val="0"/>
              </a:spcAft>
              <a:buNone/>
            </a:pPr>
            <a:r>
              <a:rPr lang="en">
                <a:solidFill>
                  <a:schemeClr val="dk1"/>
                </a:solidFill>
              </a:rPr>
              <a:t>Bit 30:    ~10-20% failure      (high exp bit)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Bit 31:    ~5-15% failure      (sign bit)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But verify for ViTs!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Special ViT Considerations: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Attention Mechanisms: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CNNs: Local convolutions, limited receptive field ViTs: Global self-attention, every token sees every other token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Impact: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Fault in attention weight affects ALL spatial locations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Potentially more vulnerable?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Or potentially more robust (averaging across many interactions)?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Unknown - needs empirical testing!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Positional Embeddings: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CNNs: Position is implicit in convolution structure ViTs: Position is explicitly encoded in learned embeddings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Impact: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Fault in position embedding could shuffle spatial information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there's redundancy (similar positions have similar embeddings)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Might be robust or critical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Worth separate analysis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Layer Structure: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CNNs: Many layers with small kernels (3×3, etc.) ViTs: Fewer layers with large parameter matrices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Impact: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Each ViT layer has more parameters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But they're more regular (attention + MLP repeats)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Vulnerability might be more uniform across layers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Classification Head:</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CNNs: Often global average pooling + linear ViTs: CLS token + linear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Impact:</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ViT head only uses one token (CLS)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Might be more vulnerable (single point of failure)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Or more robust (attention aggregated info into CLS)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Research Contribution: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If you complete this analysis, you can claim:</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"First comprehensive statistical FI analysis of Vision Transformers"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"First bit-wise vulnerability analysis of Transformer architectures"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"Compared vulnerability profiles of attention vs convolution"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novel and publishable!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Practical Planning:</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Time estimates (sequential):</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Network-wise: ~2 days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Layer-wise: ~12 layers × 1 day each = 12 days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Component-wise: ~5 × 2 days = 10 days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Bit-wise: ~32 × 6 hours = 8 days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Total: ~32 days of compute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With parallelization (8 GPUs):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~4 days wall time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c76748971f_1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c76748971f_1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Let me wrap up by explaining why this shift matters for our work.</a:t>
            </a:r>
            <a:endParaRPr/>
          </a:p>
          <a:p>
            <a:pPr indent="0" lvl="0" marL="0" rtl="0" algn="l">
              <a:lnSpc>
                <a:spcPct val="115000"/>
              </a:lnSpc>
              <a:spcBef>
                <a:spcPts val="1200"/>
              </a:spcBef>
              <a:spcAft>
                <a:spcPts val="0"/>
              </a:spcAft>
              <a:buNone/>
            </a:pPr>
            <a:r>
              <a:rPr lang="en"/>
              <a:t>My current Phase 1 approach uses 12 repetitions at each BER—that number was arbitrary. I have no confidence quantification, and my conclusions are based on 'the curves look good,' which isn't rigorous enough for a space mission.</a:t>
            </a:r>
            <a:endParaRPr/>
          </a:p>
          <a:p>
            <a:pPr indent="0" lvl="0" marL="0" rtl="0" algn="l">
              <a:lnSpc>
                <a:spcPct val="115000"/>
              </a:lnSpc>
              <a:spcBef>
                <a:spcPts val="1200"/>
              </a:spcBef>
              <a:spcAft>
                <a:spcPts val="0"/>
              </a:spcAft>
              <a:buNone/>
            </a:pPr>
            <a:r>
              <a:rPr lang="en"/>
              <a:t>With the new statistical approach, every n is calculated precisely for our desired confidence level. Every result comes with error bars—I can say 'the failure rate is X percent plus-or-minus Y percent.' These results are defensible for safety certification, which is required for actual deployment.</a:t>
            </a:r>
            <a:endParaRPr/>
          </a:p>
          <a:p>
            <a:pPr indent="0" lvl="0" marL="0" rtl="0" algn="l">
              <a:lnSpc>
                <a:spcPct val="115000"/>
              </a:lnSpc>
              <a:spcBef>
                <a:spcPts val="1200"/>
              </a:spcBef>
              <a:spcAft>
                <a:spcPts val="0"/>
              </a:spcAft>
              <a:buNone/>
            </a:pPr>
            <a:r>
              <a:rPr lang="en"/>
              <a:t>The expected improvements are significant. We should need 70 to 90% fewer tests than exhaustive testing. We'll have rigorous confidence statements on every measurement. We'll identify specific vulnerabilities at multiple granularities. And all of this sets up perfectly for Phase 3 incremental learning—knowing which components are vulnerable tells us which ones need retraining after faults.</a:t>
            </a:r>
            <a:endParaRPr/>
          </a:p>
          <a:p>
            <a:pPr indent="0" lvl="0" marL="0" rtl="0" algn="l">
              <a:spcBef>
                <a:spcPts val="1200"/>
              </a:spcBef>
              <a:spcAft>
                <a:spcPts val="0"/>
              </a:spcAft>
              <a:buNone/>
            </a:pPr>
            <a:r>
              <a:t/>
            </a:r>
            <a:endParaRPr/>
          </a:p>
          <a:p>
            <a:pPr indent="0" lvl="0" marL="0" rtl="0" algn="l">
              <a:lnSpc>
                <a:spcPct val="115000"/>
              </a:lnSpc>
              <a:spcBef>
                <a:spcPts val="1400"/>
              </a:spcBef>
              <a:spcAft>
                <a:spcPts val="0"/>
              </a:spcAft>
              <a:buNone/>
            </a:pPr>
            <a:r>
              <a:rPr b="1" lang="en" sz="1300">
                <a:solidFill>
                  <a:schemeClr val="dk1"/>
                </a:solidFill>
              </a:rPr>
              <a:t>Educational Deep Dive:</a:t>
            </a:r>
            <a:endParaRPr b="1" sz="1300">
              <a:solidFill>
                <a:schemeClr val="dk1"/>
              </a:solidFill>
            </a:endParaRPr>
          </a:p>
          <a:p>
            <a:pPr indent="0" lvl="0" marL="0" rtl="0" algn="l">
              <a:lnSpc>
                <a:spcPct val="115000"/>
              </a:lnSpc>
              <a:spcBef>
                <a:spcPts val="1200"/>
              </a:spcBef>
              <a:spcAft>
                <a:spcPts val="0"/>
              </a:spcAft>
              <a:buNone/>
            </a:pPr>
            <a:r>
              <a:rPr b="1" lang="en">
                <a:solidFill>
                  <a:schemeClr val="dk1"/>
                </a:solidFill>
              </a:rPr>
              <a:t>Comparing the Approaches:</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Phase 1 (Empirical) - What You Did:</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Strengths: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Quick exploratory analysis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Found interesting phenomena (knee region)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Identified component differences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Good for initial understanding</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Weaknesses: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 statistical rigor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Can't quantify confidence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Arbitrary choices (12 reps)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 defensible for certification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Might have tested too much or too little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Can't compare with other work</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Phase 2 (Statistical) - What You'll Do:</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Strengths: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Mathematical rigor</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Quantified confidence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Precise sample size calculation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Defensible results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Reproducible methodology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Comparable with literature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Optimal testing efficiency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Weaknesses: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Requires understanding statistics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More complex implementation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Initial setup overhead</a:t>
            </a:r>
            <a:endParaRPr>
              <a:solidFill>
                <a:schemeClr val="dk1"/>
              </a:solidFill>
            </a:endParaRPr>
          </a:p>
          <a:p>
            <a:pPr indent="0" lvl="0" marL="0" rtl="0" algn="l">
              <a:lnSpc>
                <a:spcPct val="115000"/>
              </a:lnSpc>
              <a:spcBef>
                <a:spcPts val="1200"/>
              </a:spcBef>
              <a:spcAft>
                <a:spcPts val="0"/>
              </a:spcAft>
              <a:buNone/>
            </a:pPr>
            <a:r>
              <a:rPr lang="en">
                <a:solidFill>
                  <a:schemeClr val="dk1"/>
                </a:solidFill>
              </a:rPr>
              <a:t>But weaknesses are acceptable trade-offs!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70-90% Reduction Claim:</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Based on Ruospo's results for e=0.01%:</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Conservative might need 99% of population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Statistical needs only 10-30% of population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70-90%</a:t>
            </a:r>
            <a:endParaRPr>
              <a:solidFill>
                <a:schemeClr val="dk1"/>
              </a:solidFill>
            </a:endParaRPr>
          </a:p>
          <a:p>
            <a:pPr indent="0" lvl="0" marL="0" rtl="0" algn="l">
              <a:lnSpc>
                <a:spcPct val="115000"/>
              </a:lnSpc>
              <a:spcBef>
                <a:spcPts val="1200"/>
              </a:spcBef>
              <a:spcAft>
                <a:spcPts val="0"/>
              </a:spcAft>
              <a:buNone/>
            </a:pPr>
            <a:r>
              <a:rPr lang="en">
                <a:solidFill>
                  <a:schemeClr val="dk1"/>
                </a:solidFill>
              </a:rPr>
              <a:t>But this is for VERY tight margins. For e=0.1%:</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Still save ~13-22% over naïve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Save ~95% over conservative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Phase 3 Connection:</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Your ultimate goal is incremental learning:</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Detect fault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Identify which component was affected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Retrain only that component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Restore functionality</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Statistical analysis tells you:</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Which components are worth protecting (high failure rate)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Which can be left unprotected (low failure rate)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How to allocate retraining resources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Expected recovery time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Example strategy:</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If fault in attention: retrain attention (high priority)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fault in normalization: might not matter (low priority)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fault in head: critical retrain immediately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If fault in low mantissa bits: ignore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The Discussion Questions - Detailed:</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1. Target e = 0.1% or 0.01%?</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0.1% margin: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Pros: Reasonable precision, less testing (~1.6M tests)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Cons: For p=1%, range is [0.9%, 1.1%] - might be too wide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Recommendation: Start here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0.01% margin: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Pros: Very precise, gold standard for safety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Cons: Requires ~16M tests (10× more)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Recommendation: Use for critical components only</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Hybrid approach:</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Network-wise: 0.1%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Critical layers: 0.01%</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Non-critical: 1%</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2. Validate with partial exhaustive?</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Idea: Pick one small layer, inject ALL possible faults, compare: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Does statistical estimate p̂ ± e contain true value?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Proof that methodology works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Example: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Choose smallest layer (maybe normalization)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 = 1,000 weights × 32 bits × 1000 time = 32M faults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Inject all 32M (might take a week)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Calculate true 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Check: Is true p within your confidence interval from statistical sample?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Pros: Validates methodology Cons: Expensive even for small layer Recommendation: Do it for one component, include in thesis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3. How to classify NaN/Inf?</a:t>
            </a:r>
            <a:endParaRPr b="1">
              <a:solidFill>
                <a:schemeClr val="dk1"/>
              </a:solidFill>
            </a:endParaRPr>
          </a:p>
          <a:p>
            <a:pPr indent="0" lvl="0" marL="0" rtl="0" algn="l">
              <a:lnSpc>
                <a:spcPct val="115000"/>
              </a:lnSpc>
              <a:spcBef>
                <a:spcPts val="1200"/>
              </a:spcBef>
              <a:spcAft>
                <a:spcPts val="0"/>
              </a:spcAft>
              <a:buNone/>
            </a:pPr>
            <a:r>
              <a:rPr b="1" lang="en">
                <a:solidFill>
                  <a:schemeClr val="dk1"/>
                </a:solidFill>
              </a:rPr>
              <a:t>Option A: Separate catastrophic category</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Failure types: Correct, SDC, Catastrophic</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Report three percentages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Pros: Distinguishes severity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Cons: More complex analysis</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Option B: Just count as wrong prediction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Failure types: Correct, Wrong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Simpler binary classification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Pros: Simpler statistics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Cons: Loses severity information</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Recommendation:</a:t>
            </a:r>
            <a:r>
              <a:rPr lang="en">
                <a:solidFill>
                  <a:schemeClr val="dk1"/>
                </a:solidFill>
              </a:rPr>
              <a:t> Use Option A for completeness: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P(correct)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P(SDC - wrong but functional)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P(catastrophic - NaN/Inf/crash)</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This maps to mission requirements: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Correct: mission success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SDC: degraded but operational</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Catastrophic: must trigger safe mode</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Incremental Learning - 4</a:t>
            </a:r>
            <a:endParaRPr/>
          </a:p>
          <a:p>
            <a:pPr indent="0" lvl="0" marL="0" rtl="0" algn="l">
              <a:spcBef>
                <a:spcPts val="0"/>
              </a:spcBef>
              <a:spcAft>
                <a:spcPts val="0"/>
              </a:spcAft>
              <a:buNone/>
            </a:pPr>
            <a:r>
              <a:rPr lang="en" sz="1800"/>
              <a:t>12</a:t>
            </a:r>
            <a:r>
              <a:rPr lang="en" sz="1800"/>
              <a:t>/02</a:t>
            </a:r>
            <a:endParaRPr sz="1800"/>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t>Pramit Kumar Bhaduri</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Fault Injection for Space-Based ViT Models</a:t>
            </a:r>
            <a:endParaRPr/>
          </a:p>
        </p:txBody>
      </p:sp>
      <p:sp>
        <p:nvSpPr>
          <p:cNvPr id="93" name="Google Shape;93;p14"/>
          <p:cNvSpPr txBox="1"/>
          <p:nvPr>
            <p:ph idx="1" type="body"/>
          </p:nvPr>
        </p:nvSpPr>
        <p:spPr>
          <a:xfrm>
            <a:off x="729450" y="1305550"/>
            <a:ext cx="3774300" cy="3509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Space environments cause Single Event Upsets (SEUs)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Random bit-flips in model parameters during operation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Can corrupt navigation, imaging, critical decisions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Our Challenge:</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ViT-tiny: 268K parameters × 32 bits = 8.6 million bits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Testing at 1000 time points = </a:t>
            </a:r>
            <a:r>
              <a:rPr b="1" lang="en" sz="1100">
                <a:solidFill>
                  <a:srgbClr val="000000"/>
                </a:solidFill>
                <a:latin typeface="Arial"/>
                <a:ea typeface="Arial"/>
                <a:cs typeface="Arial"/>
                <a:sym typeface="Arial"/>
              </a:rPr>
              <a:t>8.6 billion possible faults</a:t>
            </a:r>
            <a:endParaRPr b="1"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Exhaustive testing is impossible</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b="1" sz="1200">
              <a:solidFill>
                <a:srgbClr val="000000"/>
              </a:solidFill>
              <a:latin typeface="Arial"/>
              <a:ea typeface="Arial"/>
              <a:cs typeface="Arial"/>
              <a:sym typeface="Arial"/>
            </a:endParaRPr>
          </a:p>
        </p:txBody>
      </p:sp>
      <p:sp>
        <p:nvSpPr>
          <p:cNvPr id="94" name="Google Shape;94;p14"/>
          <p:cNvSpPr txBox="1"/>
          <p:nvPr/>
        </p:nvSpPr>
        <p:spPr>
          <a:xfrm>
            <a:off x="4641925" y="1313225"/>
            <a:ext cx="3774300" cy="349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The Bigger Picture: Incremental Learning</a:t>
            </a:r>
            <a:endParaRPr b="1" sz="1100"/>
          </a:p>
          <a:p>
            <a:pPr indent="-298450" lvl="0" marL="457200" rtl="0" algn="l">
              <a:lnSpc>
                <a:spcPct val="115000"/>
              </a:lnSpc>
              <a:spcBef>
                <a:spcPts val="1200"/>
              </a:spcBef>
              <a:spcAft>
                <a:spcPts val="0"/>
              </a:spcAft>
              <a:buSzPts val="1100"/>
              <a:buChar char="●"/>
            </a:pPr>
            <a:r>
              <a:rPr lang="en" sz="1100"/>
              <a:t>When faults occur → identify affected components</a:t>
            </a:r>
            <a:endParaRPr sz="1100"/>
          </a:p>
          <a:p>
            <a:pPr indent="-298450" lvl="0" marL="457200" rtl="0" algn="l">
              <a:lnSpc>
                <a:spcPct val="115000"/>
              </a:lnSpc>
              <a:spcBef>
                <a:spcPts val="0"/>
              </a:spcBef>
              <a:spcAft>
                <a:spcPts val="0"/>
              </a:spcAft>
              <a:buSzPts val="1100"/>
              <a:buChar char="●"/>
            </a:pPr>
            <a:r>
              <a:rPr lang="en" sz="1100"/>
              <a:t>Retrain only damaged parts → restore functionality</a:t>
            </a:r>
            <a:endParaRPr sz="1100"/>
          </a:p>
          <a:p>
            <a:pPr indent="-298450" lvl="0" marL="457200" rtl="0" algn="l">
              <a:lnSpc>
                <a:spcPct val="115000"/>
              </a:lnSpc>
              <a:spcBef>
                <a:spcPts val="0"/>
              </a:spcBef>
              <a:spcAft>
                <a:spcPts val="0"/>
              </a:spcAft>
              <a:buSzPts val="1100"/>
              <a:buChar char="●"/>
            </a:pPr>
            <a:r>
              <a:rPr b="1" lang="en" sz="1100"/>
              <a:t>First, we need to know: which components are vulnerable?</a:t>
            </a:r>
            <a:endParaRPr b="1" sz="1100"/>
          </a:p>
          <a:p>
            <a:pPr indent="0" lvl="0" marL="0" rtl="0" algn="l">
              <a:lnSpc>
                <a:spcPct val="115000"/>
              </a:lnSpc>
              <a:spcBef>
                <a:spcPts val="1200"/>
              </a:spcBef>
              <a:spcAft>
                <a:spcPts val="0"/>
              </a:spcAft>
              <a:buNone/>
            </a:pPr>
            <a:r>
              <a:rPr b="1" lang="en" sz="1100"/>
              <a:t>This Phase: Statistical Fault Injection</a:t>
            </a:r>
            <a:endParaRPr b="1" sz="1100"/>
          </a:p>
          <a:p>
            <a:pPr indent="-298450" lvl="0" marL="457200" rtl="0" algn="l">
              <a:lnSpc>
                <a:spcPct val="115000"/>
              </a:lnSpc>
              <a:spcBef>
                <a:spcPts val="1200"/>
              </a:spcBef>
              <a:spcAft>
                <a:spcPts val="0"/>
              </a:spcAft>
              <a:buSzPts val="1100"/>
              <a:buChar char="●"/>
            </a:pPr>
            <a:r>
              <a:rPr lang="en" sz="1100"/>
              <a:t>How many faults cause failures?</a:t>
            </a:r>
            <a:endParaRPr sz="1100"/>
          </a:p>
          <a:p>
            <a:pPr indent="-298450" lvl="0" marL="457200" rtl="0" algn="l">
              <a:lnSpc>
                <a:spcPct val="115000"/>
              </a:lnSpc>
              <a:spcBef>
                <a:spcPts val="0"/>
              </a:spcBef>
              <a:spcAft>
                <a:spcPts val="0"/>
              </a:spcAft>
              <a:buSzPts val="1100"/>
              <a:buChar char="●"/>
            </a:pPr>
            <a:r>
              <a:rPr lang="en" sz="1100"/>
              <a:t>Which model components are most vulnerable?</a:t>
            </a:r>
            <a:endParaRPr sz="1100"/>
          </a:p>
          <a:p>
            <a:pPr indent="-298450" lvl="0" marL="457200" rtl="0" algn="l">
              <a:lnSpc>
                <a:spcPct val="115000"/>
              </a:lnSpc>
              <a:spcBef>
                <a:spcPts val="0"/>
              </a:spcBef>
              <a:spcAft>
                <a:spcPts val="0"/>
              </a:spcAft>
              <a:buSzPts val="1100"/>
              <a:buChar char="●"/>
            </a:pPr>
            <a:r>
              <a:rPr lang="en" sz="1100"/>
              <a:t>With quantified statistical confidence</a:t>
            </a:r>
            <a:endParaRPr sz="1100"/>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Previous Work: Empirical BER Sweep</a:t>
            </a:r>
            <a:endParaRPr/>
          </a:p>
        </p:txBody>
      </p:sp>
      <p:sp>
        <p:nvSpPr>
          <p:cNvPr id="100" name="Google Shape;100;p15"/>
          <p:cNvSpPr txBox="1"/>
          <p:nvPr>
            <p:ph idx="1" type="body"/>
          </p:nvPr>
        </p:nvSpPr>
        <p:spPr>
          <a:xfrm>
            <a:off x="729450" y="1305550"/>
            <a:ext cx="7688700" cy="3034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200">
                <a:solidFill>
                  <a:srgbClr val="000000"/>
                </a:solidFill>
                <a:latin typeface="Arial"/>
                <a:ea typeface="Arial"/>
                <a:cs typeface="Arial"/>
                <a:sym typeface="Arial"/>
              </a:rPr>
              <a:t>Approach:</a:t>
            </a:r>
            <a:endParaRPr b="1" sz="1200">
              <a:solidFill>
                <a:srgbClr val="000000"/>
              </a:solidFill>
              <a:latin typeface="Arial"/>
              <a:ea typeface="Arial"/>
              <a:cs typeface="Arial"/>
              <a:sym typeface="Arial"/>
            </a:endParaRPr>
          </a:p>
          <a:p>
            <a:pPr indent="0" lvl="0" marL="0" rtl="0" algn="l">
              <a:spcBef>
                <a:spcPts val="1200"/>
              </a:spcBef>
              <a:spcAft>
                <a:spcPts val="0"/>
              </a:spcAft>
              <a:buNone/>
            </a:pPr>
            <a:r>
              <a:rPr lang="en" sz="1200">
                <a:solidFill>
                  <a:srgbClr val="000000"/>
                </a:solidFill>
                <a:latin typeface="Arial"/>
                <a:ea typeface="Arial"/>
                <a:cs typeface="Arial"/>
                <a:sym typeface="Arial"/>
              </a:rPr>
              <a:t>BER values: [0, 1e-7, 1.5e-7, ..., 1e-5]</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 sz="1200">
                <a:solidFill>
                  <a:srgbClr val="000000"/>
                </a:solidFill>
                <a:latin typeface="Arial"/>
                <a:ea typeface="Arial"/>
                <a:cs typeface="Arial"/>
                <a:sym typeface="Arial"/>
              </a:rPr>
              <a:t>For each BER:</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 sz="1200">
                <a:solidFill>
                  <a:srgbClr val="000000"/>
                </a:solidFill>
                <a:latin typeface="Arial"/>
                <a:ea typeface="Arial"/>
                <a:cs typeface="Arial"/>
                <a:sym typeface="Arial"/>
              </a:rPr>
              <a:t>  - Inject random bit-flips</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 sz="1200">
                <a:solidFill>
                  <a:srgbClr val="000000"/>
                </a:solidFill>
                <a:latin typeface="Arial"/>
                <a:ea typeface="Arial"/>
                <a:cs typeface="Arial"/>
                <a:sym typeface="Arial"/>
              </a:rPr>
              <a:t>  - Run 12 repetitions</a:t>
            </a:r>
            <a:endParaRPr sz="1200">
              <a:solidFill>
                <a:srgbClr val="000000"/>
              </a:solidFill>
              <a:latin typeface="Arial"/>
              <a:ea typeface="Arial"/>
              <a:cs typeface="Arial"/>
              <a:sym typeface="Arial"/>
            </a:endParaRPr>
          </a:p>
          <a:p>
            <a:pPr indent="0" lvl="0" marL="0" rtl="0" algn="l">
              <a:spcBef>
                <a:spcPts val="0"/>
              </a:spcBef>
              <a:spcAft>
                <a:spcPts val="0"/>
              </a:spcAft>
              <a:buNone/>
            </a:pPr>
            <a:r>
              <a:rPr lang="en" sz="1200">
                <a:solidFill>
                  <a:srgbClr val="000000"/>
                </a:solidFill>
                <a:latin typeface="Arial"/>
                <a:ea typeface="Arial"/>
                <a:cs typeface="Arial"/>
                <a:sym typeface="Arial"/>
              </a:rPr>
              <a:t>  - Measure accuracy (mean, std, worst)</a:t>
            </a:r>
            <a:endParaRPr sz="12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01" name="Google Shape;101;p15"/>
          <p:cNvSpPr txBox="1"/>
          <p:nvPr/>
        </p:nvSpPr>
        <p:spPr>
          <a:xfrm>
            <a:off x="4083525" y="1311950"/>
            <a:ext cx="4498200" cy="3430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t>What we found:</a:t>
            </a:r>
            <a:endParaRPr b="1" sz="1200"/>
          </a:p>
          <a:p>
            <a:pPr indent="-304800" lvl="0" marL="457200" rtl="0" algn="l">
              <a:lnSpc>
                <a:spcPct val="115000"/>
              </a:lnSpc>
              <a:spcBef>
                <a:spcPts val="1200"/>
              </a:spcBef>
              <a:spcAft>
                <a:spcPts val="0"/>
              </a:spcAft>
              <a:buSzPts val="1200"/>
              <a:buChar char="●"/>
            </a:pPr>
            <a:r>
              <a:rPr lang="en" sz="1200"/>
              <a:t>Knee region where accuracy degrades</a:t>
            </a:r>
            <a:endParaRPr sz="1200"/>
          </a:p>
          <a:p>
            <a:pPr indent="-304800" lvl="0" marL="457200" rtl="0" algn="l">
              <a:lnSpc>
                <a:spcPct val="115000"/>
              </a:lnSpc>
              <a:spcBef>
                <a:spcPts val="0"/>
              </a:spcBef>
              <a:spcAft>
                <a:spcPts val="0"/>
              </a:spcAft>
              <a:buSzPts val="1200"/>
              <a:buChar char="●"/>
            </a:pPr>
            <a:r>
              <a:rPr lang="en" sz="1200"/>
              <a:t>Failure thresholds (50% mission-critical, 20% catastrophic)</a:t>
            </a:r>
            <a:endParaRPr sz="1200"/>
          </a:p>
          <a:p>
            <a:pPr indent="-304800" lvl="0" marL="457200" rtl="0" algn="l">
              <a:lnSpc>
                <a:spcPct val="115000"/>
              </a:lnSpc>
              <a:spcBef>
                <a:spcPts val="0"/>
              </a:spcBef>
              <a:spcAft>
                <a:spcPts val="0"/>
              </a:spcAft>
              <a:buSzPts val="1200"/>
              <a:buChar char="●"/>
            </a:pPr>
            <a:r>
              <a:rPr lang="en" sz="1200"/>
              <a:t>Component vulnerability (ATTENTION, MLP, etc.)</a:t>
            </a:r>
            <a:endParaRPr sz="1200"/>
          </a:p>
          <a:p>
            <a:pPr indent="0" lvl="0" marL="0" rtl="0" algn="l">
              <a:lnSpc>
                <a:spcPct val="115000"/>
              </a:lnSpc>
              <a:spcBef>
                <a:spcPts val="1200"/>
              </a:spcBef>
              <a:spcAft>
                <a:spcPts val="0"/>
              </a:spcAft>
              <a:buNone/>
            </a:pPr>
            <a:r>
              <a:t/>
            </a:r>
            <a:endParaRPr sz="1200"/>
          </a:p>
          <a:p>
            <a:pPr indent="0" lvl="0" marL="0" rtl="0" algn="l">
              <a:lnSpc>
                <a:spcPct val="115000"/>
              </a:lnSpc>
              <a:spcBef>
                <a:spcPts val="1200"/>
              </a:spcBef>
              <a:spcAft>
                <a:spcPts val="0"/>
              </a:spcAft>
              <a:buNone/>
            </a:pPr>
            <a:r>
              <a:rPr b="1" lang="en" sz="1200"/>
              <a:t>The Problem:</a:t>
            </a:r>
            <a:endParaRPr b="1" sz="1200"/>
          </a:p>
          <a:p>
            <a:pPr indent="-304800" lvl="0" marL="457200" rtl="0" algn="l">
              <a:lnSpc>
                <a:spcPct val="115000"/>
              </a:lnSpc>
              <a:spcBef>
                <a:spcPts val="1200"/>
              </a:spcBef>
              <a:spcAft>
                <a:spcPts val="0"/>
              </a:spcAft>
              <a:buSzPts val="1200"/>
              <a:buChar char="●"/>
            </a:pPr>
            <a:r>
              <a:rPr lang="en" sz="1200"/>
              <a:t>❌ Why 12 repetitions? (arbitrary choice)</a:t>
            </a:r>
            <a:endParaRPr sz="1200"/>
          </a:p>
          <a:p>
            <a:pPr indent="-304800" lvl="0" marL="457200" rtl="0" algn="l">
              <a:lnSpc>
                <a:spcPct val="115000"/>
              </a:lnSpc>
              <a:spcBef>
                <a:spcPts val="0"/>
              </a:spcBef>
              <a:spcAft>
                <a:spcPts val="0"/>
              </a:spcAft>
              <a:buSzPts val="1200"/>
              <a:buChar char="●"/>
            </a:pPr>
            <a:r>
              <a:rPr lang="en" sz="1200"/>
              <a:t>❌ No statistical confidence quantification</a:t>
            </a:r>
            <a:endParaRPr sz="1200"/>
          </a:p>
          <a:p>
            <a:pPr indent="-304800" lvl="0" marL="457200" rtl="0" algn="l">
              <a:lnSpc>
                <a:spcPct val="115000"/>
              </a:lnSpc>
              <a:spcBef>
                <a:spcPts val="0"/>
              </a:spcBef>
              <a:spcAft>
                <a:spcPts val="0"/>
              </a:spcAft>
              <a:buSzPts val="1200"/>
              <a:buChar char="●"/>
            </a:pPr>
            <a:r>
              <a:rPr lang="en" sz="1200"/>
              <a:t>❌ Can't say: "99% confident failure rate is X ± Y%"</a:t>
            </a:r>
            <a:endParaRPr sz="1200">
              <a:solidFill>
                <a:schemeClr val="accent1"/>
              </a:solidFill>
              <a:latin typeface="Lato"/>
              <a:ea typeface="Lato"/>
              <a:cs typeface="Lato"/>
              <a:sym typeface="Lato"/>
            </a:endParaRPr>
          </a:p>
        </p:txBody>
      </p:sp>
      <p:pic>
        <p:nvPicPr>
          <p:cNvPr id="102" name="Google Shape;102;p15" title="accuracy_vs_ber_better.png"/>
          <p:cNvPicPr preferRelativeResize="0"/>
          <p:nvPr/>
        </p:nvPicPr>
        <p:blipFill>
          <a:blip r:embed="rId3">
            <a:alphaModFix/>
          </a:blip>
          <a:stretch>
            <a:fillRect/>
          </a:stretch>
        </p:blipFill>
        <p:spPr>
          <a:xfrm>
            <a:off x="727650" y="2829750"/>
            <a:ext cx="3249423" cy="21023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6"/>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Statistical Fault Injection?</a:t>
            </a:r>
            <a:endParaRPr/>
          </a:p>
        </p:txBody>
      </p:sp>
      <p:sp>
        <p:nvSpPr>
          <p:cNvPr id="108" name="Google Shape;108;p16"/>
          <p:cNvSpPr txBox="1"/>
          <p:nvPr>
            <p:ph idx="1" type="body"/>
          </p:nvPr>
        </p:nvSpPr>
        <p:spPr>
          <a:xfrm>
            <a:off x="729450" y="1305550"/>
            <a:ext cx="7688700" cy="30345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The Core Question:</a:t>
            </a:r>
            <a:endParaRPr b="1" sz="1100">
              <a:solidFill>
                <a:srgbClr val="000000"/>
              </a:solidFill>
              <a:latin typeface="Arial"/>
              <a:ea typeface="Arial"/>
              <a:cs typeface="Arial"/>
              <a:sym typeface="Arial"/>
            </a:endParaRPr>
          </a:p>
          <a:p>
            <a:pPr indent="0" lvl="0" marL="381000" marR="381000" rtl="0" algn="l">
              <a:spcBef>
                <a:spcPts val="1200"/>
              </a:spcBef>
              <a:spcAft>
                <a:spcPts val="0"/>
              </a:spcAft>
              <a:buNone/>
            </a:pPr>
            <a:r>
              <a:rPr lang="en" sz="1100">
                <a:solidFill>
                  <a:srgbClr val="000000"/>
                </a:solidFill>
                <a:latin typeface="Arial"/>
                <a:ea typeface="Arial"/>
                <a:cs typeface="Arial"/>
                <a:sym typeface="Arial"/>
              </a:rPr>
              <a:t>"What % of faults cause failures?" (with confidence)</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Key Concepts:</a:t>
            </a:r>
            <a:endParaRPr b="1" sz="1100">
              <a:solidFill>
                <a:srgbClr val="000000"/>
              </a:solidFill>
              <a:latin typeface="Arial"/>
              <a:ea typeface="Arial"/>
              <a:cs typeface="Arial"/>
              <a:sym typeface="Arial"/>
            </a:endParaRPr>
          </a:p>
          <a:p>
            <a:pPr indent="0" lvl="0" marL="0" rtl="0" algn="l">
              <a:spcBef>
                <a:spcPts val="1200"/>
              </a:spcBef>
              <a:spcAft>
                <a:spcPts val="0"/>
              </a:spcAft>
              <a:buNone/>
            </a:pPr>
            <a:r>
              <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Margin of Error (e):</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Precision of our estimate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"Failure rate is 1.2% </a:t>
            </a:r>
            <a:r>
              <a:rPr b="1" lang="en" sz="1100">
                <a:solidFill>
                  <a:srgbClr val="000000"/>
                </a:solidFill>
                <a:latin typeface="Arial"/>
                <a:ea typeface="Arial"/>
                <a:cs typeface="Arial"/>
                <a:sym typeface="Arial"/>
              </a:rPr>
              <a:t>± 0.1%</a:t>
            </a:r>
            <a:r>
              <a:rPr lang="en" sz="1100">
                <a:solidFill>
                  <a:srgbClr val="000000"/>
                </a:solidFill>
                <a:latin typeface="Arial"/>
                <a:ea typeface="Arial"/>
                <a:cs typeface="Arial"/>
                <a:sym typeface="Arial"/>
              </a:rPr>
              <a:t>" vs "1.2% </a:t>
            </a:r>
            <a:r>
              <a:rPr b="1" lang="en" sz="1100">
                <a:solidFill>
                  <a:srgbClr val="000000"/>
                </a:solidFill>
                <a:latin typeface="Arial"/>
                <a:ea typeface="Arial"/>
                <a:cs typeface="Arial"/>
                <a:sym typeface="Arial"/>
              </a:rPr>
              <a:t>± 5%</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Smaller = more testing required</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09" name="Google Shape;109;p16"/>
          <p:cNvSpPr txBox="1"/>
          <p:nvPr/>
        </p:nvSpPr>
        <p:spPr>
          <a:xfrm>
            <a:off x="4380750" y="2507900"/>
            <a:ext cx="4037400" cy="220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Confidence Level:</a:t>
            </a:r>
            <a:endParaRPr b="1" sz="1100"/>
          </a:p>
          <a:p>
            <a:pPr indent="-298450" lvl="0" marL="457200" rtl="0" algn="l">
              <a:lnSpc>
                <a:spcPct val="115000"/>
              </a:lnSpc>
              <a:spcBef>
                <a:spcPts val="1200"/>
              </a:spcBef>
              <a:spcAft>
                <a:spcPts val="0"/>
              </a:spcAft>
              <a:buSzPts val="1100"/>
              <a:buChar char="●"/>
            </a:pPr>
            <a:r>
              <a:rPr lang="en" sz="1100"/>
              <a:t>How sure are we?</a:t>
            </a:r>
            <a:endParaRPr sz="1100"/>
          </a:p>
          <a:p>
            <a:pPr indent="-298450" lvl="0" marL="457200" rtl="0" algn="l">
              <a:lnSpc>
                <a:spcPct val="115000"/>
              </a:lnSpc>
              <a:spcBef>
                <a:spcPts val="0"/>
              </a:spcBef>
              <a:spcAft>
                <a:spcPts val="0"/>
              </a:spcAft>
              <a:buSzPts val="1100"/>
              <a:buChar char="●"/>
            </a:pPr>
            <a:r>
              <a:rPr lang="en" sz="1100"/>
              <a:t>95%: if we repeat 100 times, 95 contain true value</a:t>
            </a:r>
            <a:endParaRPr sz="1100"/>
          </a:p>
          <a:p>
            <a:pPr indent="-298450" lvl="0" marL="457200" rtl="0" algn="l">
              <a:lnSpc>
                <a:spcPct val="115000"/>
              </a:lnSpc>
              <a:spcBef>
                <a:spcPts val="0"/>
              </a:spcBef>
              <a:spcAft>
                <a:spcPts val="0"/>
              </a:spcAft>
              <a:buSzPts val="1100"/>
              <a:buChar char="●"/>
            </a:pPr>
            <a:r>
              <a:rPr lang="en" sz="1100"/>
              <a:t>99%: higher certainty, needs more tests</a:t>
            </a:r>
            <a:endParaRPr sz="1100"/>
          </a:p>
          <a:p>
            <a:pPr indent="0" lvl="0" marL="0" rtl="0" algn="l">
              <a:lnSpc>
                <a:spcPct val="115000"/>
              </a:lnSpc>
              <a:spcBef>
                <a:spcPts val="1200"/>
              </a:spcBef>
              <a:spcAft>
                <a:spcPts val="1200"/>
              </a:spcAft>
              <a:buNone/>
            </a:pPr>
            <a:r>
              <a:rPr b="1" lang="en" sz="1100"/>
              <a:t>For space missions:</a:t>
            </a:r>
            <a:r>
              <a:rPr lang="en" sz="1100"/>
              <a:t> need e ≤ 0.1%, confidence ≥ 99%</a:t>
            </a:r>
            <a:endParaRPr sz="1300">
              <a:solidFill>
                <a:schemeClr val="accent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Statistical FI Framework (Leveugle et al., DATE 2009)</a:t>
            </a:r>
            <a:endParaRPr/>
          </a:p>
        </p:txBody>
      </p:sp>
      <p:sp>
        <p:nvSpPr>
          <p:cNvPr id="115" name="Google Shape;115;p17"/>
          <p:cNvSpPr txBox="1"/>
          <p:nvPr>
            <p:ph idx="1" type="body"/>
          </p:nvPr>
        </p:nvSpPr>
        <p:spPr>
          <a:xfrm>
            <a:off x="729450" y="1305550"/>
            <a:ext cx="7688700" cy="303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2"/>
                </a:solidFill>
                <a:latin typeface="Arial"/>
                <a:ea typeface="Arial"/>
                <a:cs typeface="Arial"/>
                <a:sym typeface="Arial"/>
              </a:rPr>
              <a:t>The Core Formula:</a:t>
            </a:r>
            <a:endParaRPr>
              <a:solidFill>
                <a:schemeClr val="dk2"/>
              </a:solidFill>
              <a:latin typeface="Arial"/>
              <a:ea typeface="Arial"/>
              <a:cs typeface="Arial"/>
              <a:sym typeface="Arial"/>
            </a:endParaRPr>
          </a:p>
          <a:p>
            <a:pPr indent="0" lvl="0" marL="0" rtl="0" algn="l">
              <a:spcBef>
                <a:spcPts val="1200"/>
              </a:spcBef>
              <a:spcAft>
                <a:spcPts val="1200"/>
              </a:spcAft>
              <a:buNone/>
            </a:pPr>
            <a:r>
              <a:t/>
            </a:r>
            <a:endParaRPr/>
          </a:p>
        </p:txBody>
      </p:sp>
      <p:pic>
        <p:nvPicPr>
          <p:cNvPr id="116" name="Google Shape;116;p17"/>
          <p:cNvPicPr preferRelativeResize="0"/>
          <p:nvPr/>
        </p:nvPicPr>
        <p:blipFill>
          <a:blip r:embed="rId3">
            <a:alphaModFix/>
          </a:blip>
          <a:stretch>
            <a:fillRect/>
          </a:stretch>
        </p:blipFill>
        <p:spPr>
          <a:xfrm>
            <a:off x="1124478" y="2206850"/>
            <a:ext cx="3255400" cy="1364075"/>
          </a:xfrm>
          <a:prstGeom prst="rect">
            <a:avLst/>
          </a:prstGeom>
          <a:noFill/>
          <a:ln>
            <a:noFill/>
          </a:ln>
        </p:spPr>
      </p:pic>
      <p:sp>
        <p:nvSpPr>
          <p:cNvPr id="117" name="Google Shape;117;p17"/>
          <p:cNvSpPr txBox="1"/>
          <p:nvPr/>
        </p:nvSpPr>
        <p:spPr>
          <a:xfrm>
            <a:off x="4448425" y="1311950"/>
            <a:ext cx="3967800" cy="301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t>Where:</a:t>
            </a:r>
            <a:endParaRPr b="1" sz="1200"/>
          </a:p>
          <a:p>
            <a:pPr indent="-304800" lvl="0" marL="457200" rtl="0" algn="l">
              <a:lnSpc>
                <a:spcPct val="115000"/>
              </a:lnSpc>
              <a:spcBef>
                <a:spcPts val="1200"/>
              </a:spcBef>
              <a:spcAft>
                <a:spcPts val="0"/>
              </a:spcAft>
              <a:buSzPts val="1200"/>
              <a:buChar char="●"/>
            </a:pPr>
            <a:r>
              <a:rPr b="1" lang="en" sz="1200"/>
              <a:t>n</a:t>
            </a:r>
            <a:r>
              <a:rPr lang="en" sz="1200"/>
              <a:t> = faults to inject (what we calculate)</a:t>
            </a:r>
            <a:endParaRPr sz="1200"/>
          </a:p>
          <a:p>
            <a:pPr indent="-304800" lvl="0" marL="457200" rtl="0" algn="l">
              <a:lnSpc>
                <a:spcPct val="115000"/>
              </a:lnSpc>
              <a:spcBef>
                <a:spcPts val="0"/>
              </a:spcBef>
              <a:spcAft>
                <a:spcPts val="0"/>
              </a:spcAft>
              <a:buSzPts val="1200"/>
              <a:buChar char="●"/>
            </a:pPr>
            <a:r>
              <a:rPr b="1" lang="en" sz="1200"/>
              <a:t>N</a:t>
            </a:r>
            <a:r>
              <a:rPr lang="en" sz="1200"/>
              <a:t> = total possible faults (8.6 billion for us)</a:t>
            </a:r>
            <a:endParaRPr sz="1200"/>
          </a:p>
          <a:p>
            <a:pPr indent="-304800" lvl="0" marL="457200" rtl="0" algn="l">
              <a:lnSpc>
                <a:spcPct val="115000"/>
              </a:lnSpc>
              <a:spcBef>
                <a:spcPts val="0"/>
              </a:spcBef>
              <a:spcAft>
                <a:spcPts val="0"/>
              </a:spcAft>
              <a:buSzPts val="1200"/>
              <a:buChar char="●"/>
            </a:pPr>
            <a:r>
              <a:rPr b="1" lang="en" sz="1200"/>
              <a:t>e</a:t>
            </a:r>
            <a:r>
              <a:rPr lang="en" sz="1200"/>
              <a:t> = margin of error (0.01 for 1%)</a:t>
            </a:r>
            <a:endParaRPr sz="1200"/>
          </a:p>
          <a:p>
            <a:pPr indent="-304800" lvl="0" marL="457200" rtl="0" algn="l">
              <a:lnSpc>
                <a:spcPct val="115000"/>
              </a:lnSpc>
              <a:spcBef>
                <a:spcPts val="0"/>
              </a:spcBef>
              <a:spcAft>
                <a:spcPts val="0"/>
              </a:spcAft>
              <a:buSzPts val="1200"/>
              <a:buChar char="●"/>
            </a:pPr>
            <a:r>
              <a:rPr b="1" lang="en" sz="1200"/>
              <a:t>t</a:t>
            </a:r>
            <a:r>
              <a:rPr lang="en" sz="1200"/>
              <a:t> = confidence constant (2.58 for 99%)</a:t>
            </a:r>
            <a:endParaRPr sz="1200"/>
          </a:p>
          <a:p>
            <a:pPr indent="-304800" lvl="0" marL="457200" rtl="0" algn="l">
              <a:lnSpc>
                <a:spcPct val="115000"/>
              </a:lnSpc>
              <a:spcBef>
                <a:spcPts val="0"/>
              </a:spcBef>
              <a:spcAft>
                <a:spcPts val="0"/>
              </a:spcAft>
              <a:buSzPts val="1200"/>
              <a:buChar char="●"/>
            </a:pPr>
            <a:r>
              <a:rPr b="1" lang="en" sz="1200"/>
              <a:t>p</a:t>
            </a:r>
            <a:r>
              <a:rPr lang="en" sz="1200"/>
              <a:t> = failure probability (0.5 if unknown)</a:t>
            </a:r>
            <a:endParaRPr sz="1200"/>
          </a:p>
          <a:p>
            <a:pPr indent="0" lvl="0" marL="0" rtl="0" algn="l">
              <a:lnSpc>
                <a:spcPct val="115000"/>
              </a:lnSpc>
              <a:spcBef>
                <a:spcPts val="1200"/>
              </a:spcBef>
              <a:spcAft>
                <a:spcPts val="0"/>
              </a:spcAft>
              <a:buNone/>
            </a:pPr>
            <a:r>
              <a:rPr b="1" lang="en" sz="1200"/>
              <a:t>Key Insight:</a:t>
            </a:r>
            <a:r>
              <a:rPr lang="en" sz="1200"/>
              <a:t> With N=4 million faults:</a:t>
            </a:r>
            <a:endParaRPr sz="1200"/>
          </a:p>
          <a:p>
            <a:pPr indent="-304800" lvl="0" marL="457200" rtl="0" algn="l">
              <a:lnSpc>
                <a:spcPct val="115000"/>
              </a:lnSpc>
              <a:spcBef>
                <a:spcPts val="1200"/>
              </a:spcBef>
              <a:spcAft>
                <a:spcPts val="0"/>
              </a:spcAft>
              <a:buSzPts val="1200"/>
              <a:buChar char="●"/>
            </a:pPr>
            <a:r>
              <a:rPr lang="en" sz="1200"/>
              <a:t>e=5%, 95% conf → only need n=385 (0.01%!)</a:t>
            </a:r>
            <a:endParaRPr sz="1200"/>
          </a:p>
          <a:p>
            <a:pPr indent="-304800" lvl="0" marL="457200" rtl="0" algn="l">
              <a:lnSpc>
                <a:spcPct val="115000"/>
              </a:lnSpc>
              <a:spcBef>
                <a:spcPts val="0"/>
              </a:spcBef>
              <a:spcAft>
                <a:spcPts val="0"/>
              </a:spcAft>
              <a:buSzPts val="1200"/>
              <a:buChar char="●"/>
            </a:pPr>
            <a:r>
              <a:rPr lang="en" sz="1200"/>
              <a:t>e=1%, 99% conf → need n=16,519 (0.4%)</a:t>
            </a:r>
            <a:endParaRPr sz="1200"/>
          </a:p>
          <a:p>
            <a:pPr indent="0" lvl="0" marL="0" rtl="0" algn="l">
              <a:spcBef>
                <a:spcPts val="1200"/>
              </a:spcBef>
              <a:spcAft>
                <a:spcPts val="0"/>
              </a:spcAft>
              <a:buNone/>
            </a:pPr>
            <a:r>
              <a:t/>
            </a:r>
            <a:endParaRPr sz="12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Each Parameter Affects Sample Size</a:t>
            </a:r>
            <a:endParaRPr/>
          </a:p>
        </p:txBody>
      </p:sp>
      <p:sp>
        <p:nvSpPr>
          <p:cNvPr id="123" name="Google Shape;123;p18"/>
          <p:cNvSpPr txBox="1"/>
          <p:nvPr>
            <p:ph idx="1" type="body"/>
          </p:nvPr>
        </p:nvSpPr>
        <p:spPr>
          <a:xfrm>
            <a:off x="729450" y="1305550"/>
            <a:ext cx="3736500" cy="3034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200">
                <a:solidFill>
                  <a:srgbClr val="000000"/>
                </a:solidFill>
                <a:latin typeface="Arial"/>
                <a:ea typeface="Arial"/>
                <a:cs typeface="Arial"/>
                <a:sym typeface="Arial"/>
              </a:rPr>
              <a:t>Population Size (N):</a:t>
            </a:r>
            <a:endParaRPr b="1" sz="1200">
              <a:solidFill>
                <a:srgbClr val="000000"/>
              </a:solidFill>
              <a:latin typeface="Arial"/>
              <a:ea typeface="Arial"/>
              <a:cs typeface="Arial"/>
              <a:sym typeface="Arial"/>
            </a:endParaRPr>
          </a:p>
          <a:p>
            <a:pPr indent="-304800" lvl="0" marL="457200" rtl="0" algn="l">
              <a:spcBef>
                <a:spcPts val="1200"/>
              </a:spcBef>
              <a:spcAft>
                <a:spcPts val="0"/>
              </a:spcAft>
              <a:buClr>
                <a:srgbClr val="000000"/>
              </a:buClr>
              <a:buSzPts val="1200"/>
              <a:buFont typeface="Arial"/>
              <a:buChar char="●"/>
            </a:pPr>
            <a:r>
              <a:rPr lang="en" sz="1200">
                <a:solidFill>
                  <a:srgbClr val="000000"/>
                </a:solidFill>
                <a:latin typeface="Arial"/>
                <a:ea typeface="Arial"/>
                <a:cs typeface="Arial"/>
                <a:sym typeface="Arial"/>
              </a:rPr>
              <a:t>Our case: N = 8.6 billion</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Good news: n plateaus for large N (asymptotic)</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Doubling N doesn't double n</a:t>
            </a:r>
            <a:endParaRPr sz="1200">
              <a:solidFill>
                <a:srgbClr val="000000"/>
              </a:solidFill>
              <a:latin typeface="Arial"/>
              <a:ea typeface="Arial"/>
              <a:cs typeface="Arial"/>
              <a:sym typeface="Arial"/>
            </a:endParaRPr>
          </a:p>
          <a:p>
            <a:pPr indent="0" lvl="0" marL="0" rtl="0" algn="l">
              <a:spcBef>
                <a:spcPts val="1200"/>
              </a:spcBef>
              <a:spcAft>
                <a:spcPts val="0"/>
              </a:spcAft>
              <a:buNone/>
            </a:pPr>
            <a:r>
              <a:rPr b="1" lang="en" sz="1200">
                <a:solidFill>
                  <a:srgbClr val="000000"/>
                </a:solidFill>
                <a:latin typeface="Arial"/>
                <a:ea typeface="Arial"/>
                <a:cs typeface="Arial"/>
                <a:sym typeface="Arial"/>
              </a:rPr>
              <a:t>Margin of Error (e):</a:t>
            </a:r>
            <a:endParaRPr b="1" sz="1200">
              <a:solidFill>
                <a:srgbClr val="000000"/>
              </a:solidFill>
              <a:latin typeface="Arial"/>
              <a:ea typeface="Arial"/>
              <a:cs typeface="Arial"/>
              <a:sym typeface="Arial"/>
            </a:endParaRPr>
          </a:p>
          <a:p>
            <a:pPr indent="-304800" lvl="0" marL="457200" rtl="0" algn="l">
              <a:spcBef>
                <a:spcPts val="1200"/>
              </a:spcBef>
              <a:spcAft>
                <a:spcPts val="0"/>
              </a:spcAft>
              <a:buClr>
                <a:srgbClr val="000000"/>
              </a:buClr>
              <a:buSzPts val="1200"/>
              <a:buFont typeface="Arial"/>
              <a:buChar char="●"/>
            </a:pPr>
            <a:r>
              <a:rPr b="1" lang="en" sz="1200">
                <a:solidFill>
                  <a:srgbClr val="000000"/>
                </a:solidFill>
                <a:latin typeface="Arial"/>
                <a:ea typeface="Arial"/>
                <a:cs typeface="Arial"/>
                <a:sym typeface="Arial"/>
              </a:rPr>
              <a:t>Most sensitive parameter</a:t>
            </a:r>
            <a:endParaRPr b="1"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5% → 1%: ~25× more tests</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1% → 0.1%: ~100× more tests</a:t>
            </a:r>
            <a:endParaRPr sz="1200">
              <a:solidFill>
                <a:srgbClr val="000000"/>
              </a:solidFill>
              <a:latin typeface="Arial"/>
              <a:ea typeface="Arial"/>
              <a:cs typeface="Arial"/>
              <a:sym typeface="Arial"/>
            </a:endParaRPr>
          </a:p>
          <a:p>
            <a:pPr indent="0" lvl="0" marL="457200" rtl="0" algn="l">
              <a:spcBef>
                <a:spcPts val="1200"/>
              </a:spcBef>
              <a:spcAft>
                <a:spcPts val="0"/>
              </a:spcAft>
              <a:buNone/>
            </a:pPr>
            <a:r>
              <a:t/>
            </a:r>
            <a:endParaRPr sz="1200">
              <a:solidFill>
                <a:srgbClr val="000000"/>
              </a:solidFill>
              <a:latin typeface="Arial"/>
              <a:ea typeface="Arial"/>
              <a:cs typeface="Arial"/>
              <a:sym typeface="Arial"/>
            </a:endParaRPr>
          </a:p>
          <a:p>
            <a:pPr indent="0" lvl="0" marL="0" rtl="0" algn="l">
              <a:spcBef>
                <a:spcPts val="1200"/>
              </a:spcBef>
              <a:spcAft>
                <a:spcPts val="1200"/>
              </a:spcAft>
              <a:buNone/>
            </a:pPr>
            <a:r>
              <a:t/>
            </a:r>
            <a:endParaRPr sz="1200"/>
          </a:p>
        </p:txBody>
      </p:sp>
      <p:sp>
        <p:nvSpPr>
          <p:cNvPr id="124" name="Google Shape;124;p18"/>
          <p:cNvSpPr txBox="1"/>
          <p:nvPr/>
        </p:nvSpPr>
        <p:spPr>
          <a:xfrm>
            <a:off x="4465800" y="1320625"/>
            <a:ext cx="3950700" cy="301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t>Confidence (t):</a:t>
            </a:r>
            <a:endParaRPr b="1" sz="1200"/>
          </a:p>
          <a:p>
            <a:pPr indent="-304800" lvl="0" marL="457200" rtl="0" algn="l">
              <a:lnSpc>
                <a:spcPct val="115000"/>
              </a:lnSpc>
              <a:spcBef>
                <a:spcPts val="1200"/>
              </a:spcBef>
              <a:spcAft>
                <a:spcPts val="0"/>
              </a:spcAft>
              <a:buSzPts val="1200"/>
              <a:buChar char="●"/>
            </a:pPr>
            <a:r>
              <a:rPr lang="en" sz="1200"/>
              <a:t>95% → 99%: ~1.7× more tests</a:t>
            </a:r>
            <a:endParaRPr sz="1200"/>
          </a:p>
          <a:p>
            <a:pPr indent="-304800" lvl="0" marL="457200" rtl="0" algn="l">
              <a:lnSpc>
                <a:spcPct val="115000"/>
              </a:lnSpc>
              <a:spcBef>
                <a:spcPts val="0"/>
              </a:spcBef>
              <a:spcAft>
                <a:spcPts val="0"/>
              </a:spcAft>
              <a:buSzPts val="1200"/>
              <a:buChar char="●"/>
            </a:pPr>
            <a:r>
              <a:rPr lang="en" sz="1200"/>
              <a:t>Less impact than reducing error</a:t>
            </a:r>
            <a:endParaRPr sz="1200"/>
          </a:p>
          <a:p>
            <a:pPr indent="0" lvl="0" marL="0" rtl="0" algn="l">
              <a:lnSpc>
                <a:spcPct val="115000"/>
              </a:lnSpc>
              <a:spcBef>
                <a:spcPts val="1200"/>
              </a:spcBef>
              <a:spcAft>
                <a:spcPts val="0"/>
              </a:spcAft>
              <a:buNone/>
            </a:pPr>
            <a:r>
              <a:rPr b="1" lang="en" sz="1200"/>
              <a:t>Failure Probability (p):</a:t>
            </a:r>
            <a:endParaRPr b="1" sz="1200"/>
          </a:p>
          <a:p>
            <a:pPr indent="-304800" lvl="0" marL="457200" rtl="0" algn="l">
              <a:lnSpc>
                <a:spcPct val="115000"/>
              </a:lnSpc>
              <a:spcBef>
                <a:spcPts val="1200"/>
              </a:spcBef>
              <a:spcAft>
                <a:spcPts val="0"/>
              </a:spcAft>
              <a:buSzPts val="1200"/>
              <a:buChar char="●"/>
            </a:pPr>
            <a:r>
              <a:rPr lang="en" sz="1200"/>
              <a:t>p=0.5: maximum n (conservative, no prior knowledge)</a:t>
            </a:r>
            <a:endParaRPr sz="1200"/>
          </a:p>
          <a:p>
            <a:pPr indent="-304800" lvl="0" marL="457200" rtl="0" algn="l">
              <a:lnSpc>
                <a:spcPct val="115000"/>
              </a:lnSpc>
              <a:spcBef>
                <a:spcPts val="0"/>
              </a:spcBef>
              <a:spcAft>
                <a:spcPts val="0"/>
              </a:spcAft>
              <a:buSzPts val="1200"/>
              <a:buChar char="●"/>
            </a:pPr>
            <a:r>
              <a:rPr lang="en" sz="1200"/>
              <a:t>p→0: n decreases significantly</a:t>
            </a:r>
            <a:endParaRPr sz="1200"/>
          </a:p>
          <a:p>
            <a:pPr indent="-304800" lvl="0" marL="457200" rtl="0" algn="l">
              <a:lnSpc>
                <a:spcPct val="115000"/>
              </a:lnSpc>
              <a:spcBef>
                <a:spcPts val="0"/>
              </a:spcBef>
              <a:spcAft>
                <a:spcPts val="0"/>
              </a:spcAft>
              <a:buSzPts val="1200"/>
              <a:buChar char="●"/>
            </a:pPr>
            <a:r>
              <a:rPr lang="en" sz="1200"/>
              <a:t>This is the key to optimization!</a:t>
            </a:r>
            <a:endParaRPr sz="1200">
              <a:solidFill>
                <a:schemeClr val="accen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 Conservative Approach Wastes Testing</a:t>
            </a:r>
            <a:endParaRPr/>
          </a:p>
        </p:txBody>
      </p:sp>
      <p:sp>
        <p:nvSpPr>
          <p:cNvPr id="130" name="Google Shape;130;p19"/>
          <p:cNvSpPr txBox="1"/>
          <p:nvPr>
            <p:ph idx="1" type="body"/>
          </p:nvPr>
        </p:nvSpPr>
        <p:spPr>
          <a:xfrm>
            <a:off x="729450" y="1305550"/>
            <a:ext cx="3788400" cy="30345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200">
                <a:solidFill>
                  <a:srgbClr val="000000"/>
                </a:solidFill>
                <a:latin typeface="Arial"/>
                <a:ea typeface="Arial"/>
                <a:cs typeface="Arial"/>
                <a:sym typeface="Arial"/>
              </a:rPr>
              <a:t>Using p=0.5 (no prior knowledge):</a:t>
            </a:r>
            <a:endParaRPr b="1" sz="1200">
              <a:solidFill>
                <a:srgbClr val="000000"/>
              </a:solidFill>
              <a:latin typeface="Arial"/>
              <a:ea typeface="Arial"/>
              <a:cs typeface="Arial"/>
              <a:sym typeface="Arial"/>
            </a:endParaRPr>
          </a:p>
          <a:p>
            <a:pPr indent="-304800" lvl="0" marL="457200" rtl="0" algn="l">
              <a:spcBef>
                <a:spcPts val="1200"/>
              </a:spcBef>
              <a:spcAft>
                <a:spcPts val="0"/>
              </a:spcAft>
              <a:buClr>
                <a:srgbClr val="000000"/>
              </a:buClr>
              <a:buSzPts val="1200"/>
              <a:buFont typeface="Arial"/>
              <a:buChar char="●"/>
            </a:pPr>
            <a:r>
              <a:rPr lang="en" sz="1200">
                <a:solidFill>
                  <a:srgbClr val="000000"/>
                </a:solidFill>
                <a:latin typeface="Arial"/>
                <a:ea typeface="Arial"/>
                <a:cs typeface="Arial"/>
                <a:sym typeface="Arial"/>
              </a:rPr>
              <a:t>Assumes 50% of faults cause failures</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Gives maximum possible sample size</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Safe, but very wasteful</a:t>
            </a:r>
            <a:endParaRPr sz="1200">
              <a:solidFill>
                <a:srgbClr val="000000"/>
              </a:solidFill>
              <a:latin typeface="Arial"/>
              <a:ea typeface="Arial"/>
              <a:cs typeface="Arial"/>
              <a:sym typeface="Arial"/>
            </a:endParaRPr>
          </a:p>
          <a:p>
            <a:pPr indent="0" lvl="0" marL="0" rtl="0" algn="l">
              <a:spcBef>
                <a:spcPts val="1200"/>
              </a:spcBef>
              <a:spcAft>
                <a:spcPts val="0"/>
              </a:spcAft>
              <a:buNone/>
            </a:pPr>
            <a:r>
              <a:rPr b="1" lang="en" sz="1200">
                <a:solidFill>
                  <a:srgbClr val="000000"/>
                </a:solidFill>
                <a:latin typeface="Arial"/>
                <a:ea typeface="Arial"/>
                <a:cs typeface="Arial"/>
                <a:sym typeface="Arial"/>
              </a:rPr>
              <a:t>Real-World Reality:</a:t>
            </a:r>
            <a:endParaRPr b="1" sz="1200">
              <a:solidFill>
                <a:srgbClr val="000000"/>
              </a:solidFill>
              <a:latin typeface="Arial"/>
              <a:ea typeface="Arial"/>
              <a:cs typeface="Arial"/>
              <a:sym typeface="Arial"/>
            </a:endParaRPr>
          </a:p>
          <a:p>
            <a:pPr indent="-304800" lvl="0" marL="457200" rtl="0" algn="l">
              <a:spcBef>
                <a:spcPts val="1200"/>
              </a:spcBef>
              <a:spcAft>
                <a:spcPts val="0"/>
              </a:spcAft>
              <a:buClr>
                <a:srgbClr val="000000"/>
              </a:buClr>
              <a:buSzPts val="1200"/>
              <a:buFont typeface="Arial"/>
              <a:buChar char="●"/>
            </a:pPr>
            <a:r>
              <a:rPr lang="en" sz="1200">
                <a:solidFill>
                  <a:srgbClr val="000000"/>
                </a:solidFill>
                <a:latin typeface="Arial"/>
                <a:ea typeface="Arial"/>
                <a:cs typeface="Arial"/>
                <a:sym typeface="Arial"/>
              </a:rPr>
              <a:t>Reliable systems have </a:t>
            </a:r>
            <a:r>
              <a:rPr b="1" lang="en" sz="1200">
                <a:solidFill>
                  <a:srgbClr val="000000"/>
                </a:solidFill>
                <a:latin typeface="Arial"/>
                <a:ea typeface="Arial"/>
                <a:cs typeface="Arial"/>
                <a:sym typeface="Arial"/>
              </a:rPr>
              <a:t>low</a:t>
            </a:r>
            <a:r>
              <a:rPr lang="en" sz="1200">
                <a:solidFill>
                  <a:srgbClr val="000000"/>
                </a:solidFill>
                <a:latin typeface="Arial"/>
                <a:ea typeface="Arial"/>
                <a:cs typeface="Arial"/>
                <a:sym typeface="Arial"/>
              </a:rPr>
              <a:t> failure rates</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Maybe only 0.1-1% of faults actually cause problems</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Space-qualified hardware is designed to be resilient</a:t>
            </a:r>
            <a:endParaRPr sz="1200">
              <a:solidFill>
                <a:srgbClr val="000000"/>
              </a:solidFill>
              <a:latin typeface="Arial"/>
              <a:ea typeface="Arial"/>
              <a:cs typeface="Arial"/>
              <a:sym typeface="Arial"/>
            </a:endParaRPr>
          </a:p>
          <a:p>
            <a:pPr indent="0" lvl="0" marL="457200" rtl="0" algn="l">
              <a:spcBef>
                <a:spcPts val="1200"/>
              </a:spcBef>
              <a:spcAft>
                <a:spcPts val="0"/>
              </a:spcAft>
              <a:buNone/>
            </a:pPr>
            <a:r>
              <a:t/>
            </a:r>
            <a:endParaRPr sz="1200">
              <a:solidFill>
                <a:srgbClr val="000000"/>
              </a:solidFill>
              <a:latin typeface="Arial"/>
              <a:ea typeface="Arial"/>
              <a:cs typeface="Arial"/>
              <a:sym typeface="Arial"/>
            </a:endParaRPr>
          </a:p>
          <a:p>
            <a:pPr indent="0" lvl="0" marL="0" rtl="0" algn="l">
              <a:spcBef>
                <a:spcPts val="1200"/>
              </a:spcBef>
              <a:spcAft>
                <a:spcPts val="1200"/>
              </a:spcAft>
              <a:buNone/>
            </a:pPr>
            <a:r>
              <a:t/>
            </a:r>
            <a:endParaRPr sz="1200"/>
          </a:p>
        </p:txBody>
      </p:sp>
      <p:sp>
        <p:nvSpPr>
          <p:cNvPr id="131" name="Google Shape;131;p19"/>
          <p:cNvSpPr txBox="1"/>
          <p:nvPr/>
        </p:nvSpPr>
        <p:spPr>
          <a:xfrm>
            <a:off x="4517950" y="1320625"/>
            <a:ext cx="3898500" cy="300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200"/>
              <a:t>Example:</a:t>
            </a:r>
            <a:endParaRPr b="1" sz="1200"/>
          </a:p>
          <a:p>
            <a:pPr indent="-304800" lvl="0" marL="457200" rtl="0" algn="l">
              <a:lnSpc>
                <a:spcPct val="115000"/>
              </a:lnSpc>
              <a:spcBef>
                <a:spcPts val="1200"/>
              </a:spcBef>
              <a:spcAft>
                <a:spcPts val="0"/>
              </a:spcAft>
              <a:buSzPts val="1200"/>
              <a:buChar char="●"/>
            </a:pPr>
            <a:r>
              <a:rPr lang="en" sz="1200"/>
              <a:t>If true failure rate is 1%</a:t>
            </a:r>
            <a:endParaRPr sz="1200"/>
          </a:p>
          <a:p>
            <a:pPr indent="-304800" lvl="0" marL="457200" rtl="0" algn="l">
              <a:lnSpc>
                <a:spcPct val="115000"/>
              </a:lnSpc>
              <a:spcBef>
                <a:spcPts val="0"/>
              </a:spcBef>
              <a:spcAft>
                <a:spcPts val="0"/>
              </a:spcAft>
              <a:buSzPts val="1200"/>
              <a:buChar char="●"/>
            </a:pPr>
            <a:r>
              <a:rPr lang="en" sz="1200"/>
              <a:t>But we use p=0.5 to calculate n</a:t>
            </a:r>
            <a:endParaRPr sz="1200"/>
          </a:p>
          <a:p>
            <a:pPr indent="-304800" lvl="0" marL="457200" rtl="0" algn="l">
              <a:lnSpc>
                <a:spcPct val="115000"/>
              </a:lnSpc>
              <a:spcBef>
                <a:spcPts val="0"/>
              </a:spcBef>
              <a:spcAft>
                <a:spcPts val="0"/>
              </a:spcAft>
              <a:buSzPts val="1200"/>
              <a:buChar char="●"/>
            </a:pPr>
            <a:r>
              <a:rPr lang="en" sz="1200"/>
              <a:t>We inject </a:t>
            </a:r>
            <a:r>
              <a:rPr b="1" lang="en" sz="1200"/>
              <a:t>far more</a:t>
            </a:r>
            <a:r>
              <a:rPr lang="en" sz="1200"/>
              <a:t> faults than necessary</a:t>
            </a:r>
            <a:endParaRPr sz="1200"/>
          </a:p>
          <a:p>
            <a:pPr indent="0" lvl="0" marL="0" rtl="0" algn="l">
              <a:lnSpc>
                <a:spcPct val="115000"/>
              </a:lnSpc>
              <a:spcBef>
                <a:spcPts val="1200"/>
              </a:spcBef>
              <a:spcAft>
                <a:spcPts val="0"/>
              </a:spcAft>
              <a:buNone/>
            </a:pPr>
            <a:r>
              <a:rPr b="1" lang="en" sz="1200"/>
              <a:t>The Question:</a:t>
            </a:r>
            <a:endParaRPr b="1" sz="1200"/>
          </a:p>
          <a:p>
            <a:pPr indent="-304800" lvl="0" marL="457200" rtl="0" algn="l">
              <a:lnSpc>
                <a:spcPct val="115000"/>
              </a:lnSpc>
              <a:spcBef>
                <a:spcPts val="1200"/>
              </a:spcBef>
              <a:spcAft>
                <a:spcPts val="0"/>
              </a:spcAft>
              <a:buSzPts val="1200"/>
              <a:buChar char="●"/>
            </a:pPr>
            <a:r>
              <a:rPr lang="en" sz="1200"/>
              <a:t>Can we use smaller p without invalidating statistics?</a:t>
            </a:r>
            <a:endParaRPr sz="1200"/>
          </a:p>
          <a:p>
            <a:pPr indent="-304800" lvl="0" marL="457200" rtl="0" algn="l">
              <a:lnSpc>
                <a:spcPct val="115000"/>
              </a:lnSpc>
              <a:spcBef>
                <a:spcPts val="0"/>
              </a:spcBef>
              <a:spcAft>
                <a:spcPts val="0"/>
              </a:spcAft>
              <a:buSzPts val="1200"/>
              <a:buChar char="●"/>
            </a:pPr>
            <a:r>
              <a:rPr lang="en" sz="1200"/>
              <a:t>Answer: Yes, with iteration!</a:t>
            </a:r>
            <a:endParaRPr sz="1200">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Iterative P-Guided SFI (Ruospo et al., IEEE 2025)</a:t>
            </a:r>
            <a:endParaRPr/>
          </a:p>
        </p:txBody>
      </p:sp>
      <p:sp>
        <p:nvSpPr>
          <p:cNvPr id="137" name="Google Shape;137;p20"/>
          <p:cNvSpPr txBox="1"/>
          <p:nvPr>
            <p:ph idx="1" type="body"/>
          </p:nvPr>
        </p:nvSpPr>
        <p:spPr>
          <a:xfrm>
            <a:off x="729450" y="1305550"/>
            <a:ext cx="7688700" cy="30345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The Idea-</a:t>
            </a:r>
            <a:endParaRPr/>
          </a:p>
          <a:p>
            <a:pPr indent="0" lvl="0" marL="457200" rtl="0" algn="l">
              <a:spcBef>
                <a:spcPts val="1200"/>
              </a:spcBef>
              <a:spcAft>
                <a:spcPts val="0"/>
              </a:spcAft>
              <a:buNone/>
            </a:pPr>
            <a:r>
              <a:rPr lang="en">
                <a:solidFill>
                  <a:schemeClr val="dk2"/>
                </a:solidFill>
              </a:rPr>
              <a:t>Iteration 0: </a:t>
            </a:r>
            <a:endParaRPr>
              <a:solidFill>
                <a:schemeClr val="dk2"/>
              </a:solidFill>
            </a:endParaRPr>
          </a:p>
          <a:p>
            <a:pPr indent="0" lvl="0" marL="457200" rtl="0" algn="l">
              <a:spcBef>
                <a:spcPts val="1200"/>
              </a:spcBef>
              <a:spcAft>
                <a:spcPts val="0"/>
              </a:spcAft>
              <a:buNone/>
            </a:pPr>
            <a:r>
              <a:rPr lang="en">
                <a:solidFill>
                  <a:schemeClr val="dk2"/>
                </a:solidFill>
              </a:rPr>
              <a:t>  Use p=0.5, loose e (5%)</a:t>
            </a:r>
            <a:endParaRPr>
              <a:solidFill>
                <a:schemeClr val="dk2"/>
              </a:solidFill>
            </a:endParaRPr>
          </a:p>
          <a:p>
            <a:pPr indent="0" lvl="0" marL="457200" rtl="0" algn="l">
              <a:spcBef>
                <a:spcPts val="1200"/>
              </a:spcBef>
              <a:spcAft>
                <a:spcPts val="0"/>
              </a:spcAft>
              <a:buNone/>
            </a:pPr>
            <a:r>
              <a:rPr lang="en">
                <a:solidFill>
                  <a:schemeClr val="dk2"/>
                </a:solidFill>
              </a:rPr>
              <a:t>  → Inject n₀ faults → Get estimate P̂₀</a:t>
            </a:r>
            <a:endParaRPr>
              <a:solidFill>
                <a:schemeClr val="dk2"/>
              </a:solidFill>
            </a:endParaRPr>
          </a:p>
          <a:p>
            <a:pPr indent="0" lvl="0" marL="457200" rtl="0" algn="l">
              <a:spcBef>
                <a:spcPts val="1200"/>
              </a:spcBef>
              <a:spcAft>
                <a:spcPts val="0"/>
              </a:spcAft>
              <a:buNone/>
            </a:pPr>
            <a:r>
              <a:t/>
            </a:r>
            <a:endParaRPr>
              <a:solidFill>
                <a:schemeClr val="dk2"/>
              </a:solidFill>
            </a:endParaRPr>
          </a:p>
          <a:p>
            <a:pPr indent="0" lvl="0" marL="457200" rtl="0" algn="l">
              <a:spcBef>
                <a:spcPts val="1200"/>
              </a:spcBef>
              <a:spcAft>
                <a:spcPts val="0"/>
              </a:spcAft>
              <a:buNone/>
            </a:pPr>
            <a:r>
              <a:rPr lang="en">
                <a:solidFill>
                  <a:schemeClr val="dk2"/>
                </a:solidFill>
              </a:rPr>
              <a:t>Iteration i+1:</a:t>
            </a:r>
            <a:endParaRPr>
              <a:solidFill>
                <a:schemeClr val="dk2"/>
              </a:solidFill>
            </a:endParaRPr>
          </a:p>
          <a:p>
            <a:pPr indent="0" lvl="0" marL="457200" rtl="0" algn="l">
              <a:spcBef>
                <a:spcPts val="1200"/>
              </a:spcBef>
              <a:spcAft>
                <a:spcPts val="0"/>
              </a:spcAft>
              <a:buNone/>
            </a:pPr>
            <a:r>
              <a:rPr lang="en">
                <a:solidFill>
                  <a:schemeClr val="dk2"/>
                </a:solidFill>
              </a:rPr>
              <a:t>  Use P̂ᵢ as new p, tighten e</a:t>
            </a:r>
            <a:endParaRPr>
              <a:solidFill>
                <a:schemeClr val="dk2"/>
              </a:solidFill>
            </a:endParaRPr>
          </a:p>
          <a:p>
            <a:pPr indent="0" lvl="0" marL="457200" rtl="0" algn="l">
              <a:spcBef>
                <a:spcPts val="1200"/>
              </a:spcBef>
              <a:spcAft>
                <a:spcPts val="0"/>
              </a:spcAft>
              <a:buNone/>
            </a:pPr>
            <a:r>
              <a:rPr lang="en">
                <a:solidFill>
                  <a:schemeClr val="dk2"/>
                </a:solidFill>
              </a:rPr>
              <a:t>  → Inject more faults → Update P̂total</a:t>
            </a:r>
            <a:endParaRPr>
              <a:solidFill>
                <a:schemeClr val="dk2"/>
              </a:solidFill>
            </a:endParaRPr>
          </a:p>
          <a:p>
            <a:pPr indent="0" lvl="0" marL="457200" rtl="0" algn="l">
              <a:spcBef>
                <a:spcPts val="1200"/>
              </a:spcBef>
              <a:spcAft>
                <a:spcPts val="0"/>
              </a:spcAft>
              <a:buNone/>
            </a:pPr>
            <a:r>
              <a:rPr lang="en">
                <a:solidFill>
                  <a:schemeClr val="dk2"/>
                </a:solidFill>
              </a:rPr>
              <a:t>  </a:t>
            </a:r>
            <a:endParaRPr>
              <a:solidFill>
                <a:schemeClr val="dk2"/>
              </a:solidFill>
            </a:endParaRPr>
          </a:p>
          <a:p>
            <a:pPr indent="0" lvl="0" marL="457200" rtl="0" algn="l">
              <a:spcBef>
                <a:spcPts val="1200"/>
              </a:spcBef>
              <a:spcAft>
                <a:spcPts val="1200"/>
              </a:spcAft>
              <a:buNone/>
            </a:pPr>
            <a:r>
              <a:rPr lang="en">
                <a:solidFill>
                  <a:schemeClr val="dk2"/>
                </a:solidFill>
              </a:rPr>
              <a:t>Stop: when Êtotal ≤ egoal</a:t>
            </a:r>
            <a:endParaRPr>
              <a:solidFill>
                <a:schemeClr val="dk2"/>
              </a:solidFill>
            </a:endParaRPr>
          </a:p>
        </p:txBody>
      </p:sp>
      <p:sp>
        <p:nvSpPr>
          <p:cNvPr id="138" name="Google Shape;138;p20"/>
          <p:cNvSpPr txBox="1"/>
          <p:nvPr/>
        </p:nvSpPr>
        <p:spPr>
          <a:xfrm>
            <a:off x="4465800" y="1311950"/>
            <a:ext cx="3950700" cy="301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solidFill>
                  <a:schemeClr val="accent1"/>
                </a:solidFill>
                <a:latin typeface="Lato"/>
                <a:ea typeface="Lato"/>
                <a:cs typeface="Lato"/>
                <a:sym typeface="Lato"/>
              </a:rPr>
              <a:t>Key Innovation: E-P Curve**</a:t>
            </a:r>
            <a:endParaRPr sz="1300">
              <a:solidFill>
                <a:schemeClr val="accent1"/>
              </a:solidFill>
              <a:latin typeface="Lato"/>
              <a:ea typeface="Lato"/>
              <a:cs typeface="Lato"/>
              <a:sym typeface="Lato"/>
            </a:endParaRPr>
          </a:p>
          <a:p>
            <a:pPr indent="0" lvl="0" marL="0" rtl="0" algn="l">
              <a:lnSpc>
                <a:spcPct val="115000"/>
              </a:lnSpc>
              <a:spcBef>
                <a:spcPts val="1200"/>
              </a:spcBef>
              <a:spcAft>
                <a:spcPts val="0"/>
              </a:spcAft>
              <a:buNone/>
            </a:pPr>
            <a:r>
              <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t/>
            </a:r>
            <a:endParaRPr sz="1300">
              <a:solidFill>
                <a:schemeClr val="accent1"/>
              </a:solidFill>
              <a:latin typeface="Lato"/>
              <a:ea typeface="Lato"/>
              <a:cs typeface="Lato"/>
              <a:sym typeface="Lato"/>
            </a:endParaRPr>
          </a:p>
          <a:p>
            <a:pPr indent="-298450" lvl="0" marL="457200" rtl="0" algn="l">
              <a:lnSpc>
                <a:spcPct val="115000"/>
              </a:lnSpc>
              <a:spcBef>
                <a:spcPts val="1200"/>
              </a:spcBef>
              <a:spcAft>
                <a:spcPts val="0"/>
              </a:spcAft>
              <a:buSzPts val="1100"/>
              <a:buChar char="●"/>
            </a:pPr>
            <a:r>
              <a:rPr lang="en" sz="1300">
                <a:solidFill>
                  <a:schemeClr val="accent1"/>
                </a:solidFill>
                <a:latin typeface="Lato"/>
                <a:ea typeface="Lato"/>
                <a:cs typeface="Lato"/>
                <a:sym typeface="Lato"/>
              </a:rPr>
              <a:t>Parabola shape</a:t>
            </a:r>
            <a:endParaRPr sz="1300">
              <a:solidFill>
                <a:schemeClr val="accent1"/>
              </a:solidFill>
              <a:latin typeface="Lato"/>
              <a:ea typeface="Lato"/>
              <a:cs typeface="Lato"/>
              <a:sym typeface="Lato"/>
            </a:endParaRPr>
          </a:p>
          <a:p>
            <a:pPr indent="-298450" lvl="0" marL="457200" rtl="0" algn="l">
              <a:lnSpc>
                <a:spcPct val="115000"/>
              </a:lnSpc>
              <a:spcBef>
                <a:spcPts val="0"/>
              </a:spcBef>
              <a:spcAft>
                <a:spcPts val="0"/>
              </a:spcAft>
              <a:buSzPts val="1100"/>
              <a:buChar char="●"/>
            </a:pPr>
            <a:r>
              <a:rPr lang="en" sz="1300">
                <a:solidFill>
                  <a:schemeClr val="accent1"/>
                </a:solidFill>
                <a:latin typeface="Lato"/>
                <a:ea typeface="Lato"/>
                <a:cs typeface="Lato"/>
                <a:sym typeface="Lato"/>
              </a:rPr>
              <a:t>Fast convergence when P̂→0 or P̂→1</a:t>
            </a:r>
            <a:endParaRPr sz="1300">
              <a:solidFill>
                <a:schemeClr val="accent1"/>
              </a:solidFill>
              <a:latin typeface="Lato"/>
              <a:ea typeface="Lato"/>
              <a:cs typeface="Lato"/>
              <a:sym typeface="Lato"/>
            </a:endParaRPr>
          </a:p>
          <a:p>
            <a:pPr indent="-298450" lvl="0" marL="457200" rtl="0" algn="l">
              <a:lnSpc>
                <a:spcPct val="115000"/>
              </a:lnSpc>
              <a:spcBef>
                <a:spcPts val="0"/>
              </a:spcBef>
              <a:spcAft>
                <a:spcPts val="0"/>
              </a:spcAft>
              <a:buSzPts val="1100"/>
              <a:buChar char="●"/>
            </a:pPr>
            <a:r>
              <a:rPr lang="en" sz="1300">
                <a:solidFill>
                  <a:schemeClr val="accent1"/>
                </a:solidFill>
                <a:latin typeface="Lato"/>
                <a:ea typeface="Lato"/>
                <a:cs typeface="Lato"/>
                <a:sym typeface="Lato"/>
              </a:rPr>
              <a:t>Slower near P̂=0.5</a:t>
            </a:r>
            <a:endParaRPr sz="1300">
              <a:solidFill>
                <a:schemeClr val="accent1"/>
              </a:solidFill>
              <a:latin typeface="Lato"/>
              <a:ea typeface="Lato"/>
              <a:cs typeface="Lato"/>
              <a:sym typeface="Lato"/>
            </a:endParaRPr>
          </a:p>
          <a:p>
            <a:pPr indent="-298450" lvl="0" marL="457200" rtl="0" algn="l">
              <a:lnSpc>
                <a:spcPct val="115000"/>
              </a:lnSpc>
              <a:spcBef>
                <a:spcPts val="0"/>
              </a:spcBef>
              <a:spcAft>
                <a:spcPts val="0"/>
              </a:spcAft>
              <a:buSzPts val="1100"/>
              <a:buChar char="●"/>
            </a:pPr>
            <a:r>
              <a:rPr lang="en" sz="1300">
                <a:solidFill>
                  <a:schemeClr val="accent1"/>
                </a:solidFill>
                <a:latin typeface="Lato"/>
                <a:ea typeface="Lato"/>
                <a:cs typeface="Lato"/>
                <a:sym typeface="Lato"/>
              </a:rPr>
              <a:t>Adaptive: matches the probability distribution</a:t>
            </a:r>
            <a:endParaRPr sz="1300">
              <a:solidFill>
                <a:schemeClr val="accent1"/>
              </a:solidFill>
              <a:latin typeface="Lato"/>
              <a:ea typeface="Lato"/>
              <a:cs typeface="Lato"/>
              <a:sym typeface="Lato"/>
            </a:endParaRPr>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pic>
        <p:nvPicPr>
          <p:cNvPr id="139" name="Google Shape;139;p20"/>
          <p:cNvPicPr preferRelativeResize="0"/>
          <p:nvPr/>
        </p:nvPicPr>
        <p:blipFill>
          <a:blip r:embed="rId3">
            <a:alphaModFix/>
          </a:blip>
          <a:stretch>
            <a:fillRect/>
          </a:stretch>
        </p:blipFill>
        <p:spPr>
          <a:xfrm>
            <a:off x="5148224" y="1815850"/>
            <a:ext cx="2585850" cy="716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E-P Curve - Adaptive Error Reduction</a:t>
            </a:r>
            <a:endParaRPr/>
          </a:p>
        </p:txBody>
      </p:sp>
      <p:sp>
        <p:nvSpPr>
          <p:cNvPr id="145" name="Google Shape;145;p21"/>
          <p:cNvSpPr txBox="1"/>
          <p:nvPr>
            <p:ph idx="1" type="body"/>
          </p:nvPr>
        </p:nvSpPr>
        <p:spPr>
          <a:xfrm>
            <a:off x="729450" y="1305550"/>
            <a:ext cx="7688700" cy="3034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The curve passes through three points: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(0, e_goal): when P̂=0%, jump to target error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(1, e_goal): when P̂=100%, jump to target error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(0.5, Ê/3): when P̂=50%, reduce gradually</a:t>
            </a:r>
            <a:endParaRPr sz="1100">
              <a:solidFill>
                <a:srgbClr val="000000"/>
              </a:solidFill>
              <a:latin typeface="Arial"/>
              <a:ea typeface="Arial"/>
              <a:cs typeface="Arial"/>
              <a:sym typeface="Arial"/>
            </a:endParaRPr>
          </a:p>
          <a:p>
            <a:pPr indent="0" lvl="0" marL="914400" rtl="0" algn="l">
              <a:spcBef>
                <a:spcPts val="1200"/>
              </a:spcBef>
              <a:spcAft>
                <a:spcPts val="0"/>
              </a:spcAft>
              <a:buNone/>
            </a:pPr>
            <a:r>
              <a:t/>
            </a:r>
            <a:endParaRPr b="1" sz="1100">
              <a:solidFill>
                <a:srgbClr val="000000"/>
              </a:solidFill>
              <a:latin typeface="Arial"/>
              <a:ea typeface="Arial"/>
              <a:cs typeface="Arial"/>
              <a:sym typeface="Arial"/>
            </a:endParaRPr>
          </a:p>
          <a:p>
            <a:pPr indent="0" lvl="0" marL="914400" rtl="0" algn="l">
              <a:spcBef>
                <a:spcPts val="1200"/>
              </a:spcBef>
              <a:spcAft>
                <a:spcPts val="0"/>
              </a:spcAft>
              <a:buNone/>
            </a:pPr>
            <a:r>
              <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Result:</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Optimal convergence for any failure rate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Especially good for low failure rates (typical in reliable systems)</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46" name="Google Shape;146;p21"/>
          <p:cNvSpPr txBox="1"/>
          <p:nvPr/>
        </p:nvSpPr>
        <p:spPr>
          <a:xfrm>
            <a:off x="4630900" y="1320625"/>
            <a:ext cx="3785400" cy="192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Why this shape?</a:t>
            </a:r>
            <a:endParaRPr b="1" sz="1100"/>
          </a:p>
          <a:p>
            <a:pPr indent="-298450" lvl="0" marL="457200" rtl="0" algn="l">
              <a:lnSpc>
                <a:spcPct val="115000"/>
              </a:lnSpc>
              <a:spcBef>
                <a:spcPts val="1200"/>
              </a:spcBef>
              <a:spcAft>
                <a:spcPts val="0"/>
              </a:spcAft>
              <a:buSzPts val="1100"/>
              <a:buChar char="●"/>
            </a:pPr>
            <a:r>
              <a:rPr lang="en" sz="1100"/>
              <a:t>When p(1-p) is </a:t>
            </a:r>
            <a:r>
              <a:rPr b="1" lang="en" sz="1100"/>
              <a:t>small</a:t>
            </a:r>
            <a:r>
              <a:rPr lang="en" sz="1100"/>
              <a:t> (p→0 or p→1):</a:t>
            </a:r>
            <a:endParaRPr sz="1100"/>
          </a:p>
          <a:p>
            <a:pPr indent="-298450" lvl="1" marL="914400" rtl="0" algn="l">
              <a:lnSpc>
                <a:spcPct val="115000"/>
              </a:lnSpc>
              <a:spcBef>
                <a:spcPts val="0"/>
              </a:spcBef>
              <a:spcAft>
                <a:spcPts val="0"/>
              </a:spcAft>
              <a:buSzPts val="1100"/>
              <a:buChar char="○"/>
            </a:pPr>
            <a:r>
              <a:rPr lang="en" sz="1100"/>
              <a:t>Formula needs fewer samples</a:t>
            </a:r>
            <a:endParaRPr sz="1100"/>
          </a:p>
          <a:p>
            <a:pPr indent="-298450" lvl="1" marL="914400" rtl="0" algn="l">
              <a:lnSpc>
                <a:spcPct val="115000"/>
              </a:lnSpc>
              <a:spcBef>
                <a:spcPts val="0"/>
              </a:spcBef>
              <a:spcAft>
                <a:spcPts val="0"/>
              </a:spcAft>
              <a:buSzPts val="1100"/>
              <a:buChar char="○"/>
            </a:pPr>
            <a:r>
              <a:rPr lang="en" sz="1100"/>
              <a:t>Can tighten error quickly</a:t>
            </a:r>
            <a:endParaRPr sz="1100"/>
          </a:p>
          <a:p>
            <a:pPr indent="-298450" lvl="0" marL="457200" rtl="0" algn="l">
              <a:lnSpc>
                <a:spcPct val="115000"/>
              </a:lnSpc>
              <a:spcBef>
                <a:spcPts val="0"/>
              </a:spcBef>
              <a:spcAft>
                <a:spcPts val="0"/>
              </a:spcAft>
              <a:buSzPts val="1100"/>
              <a:buChar char="●"/>
            </a:pPr>
            <a:r>
              <a:rPr lang="en" sz="1100"/>
              <a:t>When p(1-p) is </a:t>
            </a:r>
            <a:r>
              <a:rPr b="1" lang="en" sz="1100"/>
              <a:t>large</a:t>
            </a:r>
            <a:r>
              <a:rPr lang="en" sz="1100"/>
              <a:t> (p≈0.5):</a:t>
            </a:r>
            <a:endParaRPr sz="1100"/>
          </a:p>
          <a:p>
            <a:pPr indent="-298450" lvl="1" marL="914400" rtl="0" algn="l">
              <a:lnSpc>
                <a:spcPct val="115000"/>
              </a:lnSpc>
              <a:spcBef>
                <a:spcPts val="0"/>
              </a:spcBef>
              <a:spcAft>
                <a:spcPts val="0"/>
              </a:spcAft>
              <a:buSzPts val="1100"/>
              <a:buChar char="○"/>
            </a:pPr>
            <a:r>
              <a:rPr lang="en" sz="1100"/>
              <a:t>Formula needs many samples</a:t>
            </a:r>
            <a:endParaRPr sz="1100"/>
          </a:p>
          <a:p>
            <a:pPr indent="-298450" lvl="1" marL="914400" rtl="0" algn="l">
              <a:lnSpc>
                <a:spcPct val="115000"/>
              </a:lnSpc>
              <a:spcBef>
                <a:spcPts val="0"/>
              </a:spcBef>
              <a:spcAft>
                <a:spcPts val="0"/>
              </a:spcAft>
              <a:buSzPts val="1100"/>
              <a:buChar char="○"/>
            </a:pPr>
            <a:r>
              <a:rPr lang="en" sz="1100"/>
              <a:t>Should tighten error slowly</a:t>
            </a:r>
            <a:endParaRPr sz="13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Experimental Results (ResNet20, MobileNetV2)</a:t>
            </a:r>
            <a:endParaRPr/>
          </a:p>
        </p:txBody>
      </p:sp>
      <p:sp>
        <p:nvSpPr>
          <p:cNvPr id="152" name="Google Shape;152;p22"/>
          <p:cNvSpPr txBox="1"/>
          <p:nvPr>
            <p:ph idx="1" type="body"/>
          </p:nvPr>
        </p:nvSpPr>
        <p:spPr>
          <a:xfrm>
            <a:off x="798950" y="1305550"/>
            <a:ext cx="7688700" cy="38379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Their Setup:</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Permanent faults in FP32 weights (same as ours!)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Tested at three precisions: e = 1%, 0.1%, 0.01%</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
              <a:t>Results:</a:t>
            </a:r>
            <a:endParaRPr/>
          </a:p>
        </p:txBody>
      </p:sp>
      <p:graphicFrame>
        <p:nvGraphicFramePr>
          <p:cNvPr id="153" name="Google Shape;153;p22"/>
          <p:cNvGraphicFramePr/>
          <p:nvPr/>
        </p:nvGraphicFramePr>
        <p:xfrm>
          <a:off x="893475" y="2788950"/>
          <a:ext cx="3000000" cy="3000000"/>
        </p:xfrm>
        <a:graphic>
          <a:graphicData uri="http://schemas.openxmlformats.org/drawingml/2006/table">
            <a:tbl>
              <a:tblPr>
                <a:noFill/>
                <a:tableStyleId>{34E3AF81-7966-46D0-913F-57D5814E4321}</a:tableStyleId>
              </a:tblPr>
              <a:tblGrid>
                <a:gridCol w="1340750"/>
                <a:gridCol w="1340750"/>
                <a:gridCol w="1340750"/>
                <a:gridCol w="1044600"/>
              </a:tblGrid>
              <a:tr h="294125">
                <a:tc>
                  <a:txBody>
                    <a:bodyPr/>
                    <a:lstStyle/>
                    <a:p>
                      <a:pPr indent="0" lvl="0" marL="0" rtl="0" algn="l">
                        <a:spcBef>
                          <a:spcPts val="0"/>
                        </a:spcBef>
                        <a:spcAft>
                          <a:spcPts val="0"/>
                        </a:spcAft>
                        <a:buNone/>
                      </a:pPr>
                      <a:r>
                        <a:rPr lang="en"/>
                        <a:t>Method</a:t>
                      </a:r>
                      <a:endParaRPr/>
                    </a:p>
                  </a:txBody>
                  <a:tcPr marT="91425" marB="91425" marR="91425" marL="91425"/>
                </a:tc>
                <a:tc>
                  <a:txBody>
                    <a:bodyPr/>
                    <a:lstStyle/>
                    <a:p>
                      <a:pPr indent="0" lvl="0" marL="0" rtl="0" algn="l">
                        <a:spcBef>
                          <a:spcPts val="0"/>
                        </a:spcBef>
                        <a:spcAft>
                          <a:spcPts val="0"/>
                        </a:spcAft>
                        <a:buNone/>
                      </a:pPr>
                      <a:r>
                        <a:rPr lang="en"/>
                        <a:t>e=1%</a:t>
                      </a:r>
                      <a:endParaRPr/>
                    </a:p>
                  </a:txBody>
                  <a:tcPr marT="91425" marB="91425" marR="91425" marL="91425"/>
                </a:tc>
                <a:tc>
                  <a:txBody>
                    <a:bodyPr/>
                    <a:lstStyle/>
                    <a:p>
                      <a:pPr indent="0" lvl="0" marL="0" rtl="0" algn="l">
                        <a:spcBef>
                          <a:spcPts val="0"/>
                        </a:spcBef>
                        <a:spcAft>
                          <a:spcPts val="0"/>
                        </a:spcAft>
                        <a:buNone/>
                      </a:pPr>
                      <a:r>
                        <a:rPr lang="en"/>
                        <a:t>e=0.1%</a:t>
                      </a:r>
                      <a:endParaRPr/>
                    </a:p>
                  </a:txBody>
                  <a:tcPr marT="91425" marB="91425" marR="91425" marL="91425"/>
                </a:tc>
                <a:tc>
                  <a:txBody>
                    <a:bodyPr/>
                    <a:lstStyle/>
                    <a:p>
                      <a:pPr indent="0" lvl="0" marL="0" rtl="0" algn="l">
                        <a:spcBef>
                          <a:spcPts val="0"/>
                        </a:spcBef>
                        <a:spcAft>
                          <a:spcPts val="0"/>
                        </a:spcAft>
                        <a:buNone/>
                      </a:pPr>
                      <a:r>
                        <a:rPr lang="en"/>
                        <a:t>e=0.01%</a:t>
                      </a:r>
                      <a:endParaRPr/>
                    </a:p>
                  </a:txBody>
                  <a:tcPr marT="91425" marB="91425" marR="91425" marL="91425"/>
                </a:tc>
              </a:tr>
              <a:tr h="294125">
                <a:tc>
                  <a:txBody>
                    <a:bodyPr/>
                    <a:lstStyle/>
                    <a:p>
                      <a:pPr indent="0" lvl="0" marL="0" rtl="0" algn="l">
                        <a:spcBef>
                          <a:spcPts val="0"/>
                        </a:spcBef>
                        <a:spcAft>
                          <a:spcPts val="0"/>
                        </a:spcAft>
                        <a:buNone/>
                      </a:pPr>
                      <a:r>
                        <a:rPr lang="en"/>
                        <a:t>Conservative</a:t>
                      </a:r>
                      <a:endParaRPr/>
                    </a:p>
                  </a:txBody>
                  <a:tcPr marT="91425" marB="91425" marR="91425" marL="91425"/>
                </a:tc>
                <a:tc>
                  <a:txBody>
                    <a:bodyPr/>
                    <a:lstStyle/>
                    <a:p>
                      <a:pPr indent="0" lvl="0" marL="0" rtl="0" algn="l">
                        <a:spcBef>
                          <a:spcPts val="0"/>
                        </a:spcBef>
                        <a:spcAft>
                          <a:spcPts val="0"/>
                        </a:spcAft>
                        <a:buNone/>
                      </a:pPr>
                      <a:r>
                        <a:rPr lang="en"/>
                        <a:t>baseline</a:t>
                      </a:r>
                      <a:endParaRPr/>
                    </a:p>
                  </a:txBody>
                  <a:tcPr marT="91425" marB="91425" marR="91425" marL="91425"/>
                </a:tc>
                <a:tc>
                  <a:txBody>
                    <a:bodyPr/>
                    <a:lstStyle/>
                    <a:p>
                      <a:pPr indent="0" lvl="0" marL="0" rtl="0" algn="l">
                        <a:spcBef>
                          <a:spcPts val="0"/>
                        </a:spcBef>
                        <a:spcAft>
                          <a:spcPts val="0"/>
                        </a:spcAft>
                        <a:buNone/>
                      </a:pPr>
                      <a:r>
                        <a:rPr lang="en"/>
                        <a:t>baseline</a:t>
                      </a:r>
                      <a:endParaRPr/>
                    </a:p>
                  </a:txBody>
                  <a:tcPr marT="91425" marB="91425" marR="91425" marL="91425"/>
                </a:tc>
                <a:tc>
                  <a:txBody>
                    <a:bodyPr/>
                    <a:lstStyle/>
                    <a:p>
                      <a:pPr indent="0" lvl="0" marL="0" rtl="0" algn="l">
                        <a:spcBef>
                          <a:spcPts val="0"/>
                        </a:spcBef>
                        <a:spcAft>
                          <a:spcPts val="0"/>
                        </a:spcAft>
                        <a:buNone/>
                      </a:pPr>
                      <a:r>
                        <a:rPr lang="en"/>
                        <a:t>baseline</a:t>
                      </a:r>
                      <a:endParaRPr/>
                    </a:p>
                  </a:txBody>
                  <a:tcPr marT="91425" marB="91425" marR="91425" marL="91425"/>
                </a:tc>
              </a:tr>
              <a:tr h="294125">
                <a:tc>
                  <a:txBody>
                    <a:bodyPr/>
                    <a:lstStyle/>
                    <a:p>
                      <a:pPr indent="0" lvl="0" marL="0" rtl="0" algn="l">
                        <a:spcBef>
                          <a:spcPts val="0"/>
                        </a:spcBef>
                        <a:spcAft>
                          <a:spcPts val="0"/>
                        </a:spcAft>
                        <a:buNone/>
                      </a:pPr>
                      <a:r>
                        <a:rPr lang="en"/>
                        <a:t>Naïve Iterative</a:t>
                      </a:r>
                      <a:endParaRPr/>
                    </a:p>
                  </a:txBody>
                  <a:tcPr marT="91425" marB="91425" marR="91425" marL="91425"/>
                </a:tc>
                <a:tc>
                  <a:txBody>
                    <a:bodyPr/>
                    <a:lstStyle/>
                    <a:p>
                      <a:pPr indent="0" lvl="0" marL="0" rtl="0" algn="l">
                        <a:spcBef>
                          <a:spcPts val="0"/>
                        </a:spcBef>
                        <a:spcAft>
                          <a:spcPts val="0"/>
                        </a:spcAft>
                        <a:buNone/>
                      </a:pPr>
                      <a:r>
                        <a:rPr lang="en"/>
                        <a:t>similar</a:t>
                      </a:r>
                      <a:endParaRPr/>
                    </a:p>
                  </a:txBody>
                  <a:tcPr marT="91425" marB="91425" marR="91425" marL="91425"/>
                </a:tc>
                <a:tc>
                  <a:txBody>
                    <a:bodyPr/>
                    <a:lstStyle/>
                    <a:p>
                      <a:pPr indent="0" lvl="0" marL="0" rtl="0" algn="l">
                        <a:spcBef>
                          <a:spcPts val="0"/>
                        </a:spcBef>
                        <a:spcAft>
                          <a:spcPts val="0"/>
                        </a:spcAft>
                        <a:buNone/>
                      </a:pPr>
                      <a:r>
                        <a:rPr lang="en"/>
                        <a:t>4 iter</a:t>
                      </a:r>
                      <a:endParaRPr/>
                    </a:p>
                  </a:txBody>
                  <a:tcPr marT="91425" marB="91425" marR="91425" marL="91425"/>
                </a:tc>
                <a:tc>
                  <a:txBody>
                    <a:bodyPr/>
                    <a:lstStyle/>
                    <a:p>
                      <a:pPr indent="0" lvl="0" marL="0" rtl="0" algn="l">
                        <a:spcBef>
                          <a:spcPts val="0"/>
                        </a:spcBef>
                        <a:spcAft>
                          <a:spcPts val="0"/>
                        </a:spcAft>
                        <a:buNone/>
                      </a:pPr>
                      <a:r>
                        <a:rPr lang="en"/>
                        <a:t>7-8 iter</a:t>
                      </a:r>
                      <a:endParaRPr/>
                    </a:p>
                  </a:txBody>
                  <a:tcPr marT="91425" marB="91425" marR="91425" marL="91425"/>
                </a:tc>
              </a:tr>
              <a:tr h="294125">
                <a:tc>
                  <a:txBody>
                    <a:bodyPr/>
                    <a:lstStyle/>
                    <a:p>
                      <a:pPr indent="0" lvl="0" marL="0" rtl="0" algn="l">
                        <a:spcBef>
                          <a:spcPts val="0"/>
                        </a:spcBef>
                        <a:spcAft>
                          <a:spcPts val="0"/>
                        </a:spcAft>
                        <a:buNone/>
                      </a:pPr>
                      <a:r>
                        <a:rPr lang="en"/>
                        <a:t>Their approach</a:t>
                      </a:r>
                      <a:endParaRPr/>
                    </a:p>
                  </a:txBody>
                  <a:tcPr marT="91425" marB="91425" marR="91425" marL="91425"/>
                </a:tc>
                <a:tc>
                  <a:txBody>
                    <a:bodyPr/>
                    <a:lstStyle/>
                    <a:p>
                      <a:pPr indent="0" lvl="0" marL="0" rtl="0" algn="l">
                        <a:spcBef>
                          <a:spcPts val="0"/>
                        </a:spcBef>
                        <a:spcAft>
                          <a:spcPts val="0"/>
                        </a:spcAft>
                        <a:buNone/>
                      </a:pPr>
                      <a:r>
                        <a:rPr lang="en"/>
                        <a:t>2 iter</a:t>
                      </a:r>
                      <a:endParaRPr/>
                    </a:p>
                  </a:txBody>
                  <a:tcPr marT="91425" marB="91425" marR="91425" marL="91425"/>
                </a:tc>
                <a:tc>
                  <a:txBody>
                    <a:bodyPr/>
                    <a:lstStyle/>
                    <a:p>
                      <a:pPr indent="0" lvl="0" marL="0" rtl="0" algn="l">
                        <a:spcBef>
                          <a:spcPts val="0"/>
                        </a:spcBef>
                        <a:spcAft>
                          <a:spcPts val="0"/>
                        </a:spcAft>
                        <a:buNone/>
                      </a:pPr>
                      <a:r>
                        <a:rPr lang="en"/>
                        <a:t>3 iter</a:t>
                      </a:r>
                      <a:endParaRPr/>
                    </a:p>
                  </a:txBody>
                  <a:tcPr marT="91425" marB="91425" marR="91425" marL="91425"/>
                </a:tc>
                <a:tc>
                  <a:txBody>
                    <a:bodyPr/>
                    <a:lstStyle/>
                    <a:p>
                      <a:pPr indent="0" lvl="0" marL="0" rtl="0" algn="l">
                        <a:spcBef>
                          <a:spcPts val="0"/>
                        </a:spcBef>
                        <a:spcAft>
                          <a:spcPts val="0"/>
                        </a:spcAft>
                        <a:buNone/>
                      </a:pPr>
                      <a:r>
                        <a:rPr lang="en"/>
                        <a:t>3 iter</a:t>
                      </a:r>
                      <a:endParaRPr/>
                    </a:p>
                  </a:txBody>
                  <a:tcPr marT="91425" marB="91425" marR="91425" marL="91425"/>
                </a:tc>
              </a:tr>
            </a:tbl>
          </a:graphicData>
        </a:graphic>
      </p:graphicFrame>
      <p:sp>
        <p:nvSpPr>
          <p:cNvPr id="154" name="Google Shape;154;p22"/>
          <p:cNvSpPr txBox="1"/>
          <p:nvPr/>
        </p:nvSpPr>
        <p:spPr>
          <a:xfrm>
            <a:off x="6029700" y="2111275"/>
            <a:ext cx="2580600" cy="230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Fault Reduction:</a:t>
            </a:r>
            <a:endParaRPr b="1" sz="1100"/>
          </a:p>
          <a:p>
            <a:pPr indent="-298450" lvl="0" marL="457200" rtl="0" algn="l">
              <a:lnSpc>
                <a:spcPct val="115000"/>
              </a:lnSpc>
              <a:spcBef>
                <a:spcPts val="1200"/>
              </a:spcBef>
              <a:spcAft>
                <a:spcPts val="0"/>
              </a:spcAft>
              <a:buSzPts val="1100"/>
              <a:buChar char="●"/>
            </a:pPr>
            <a:r>
              <a:rPr lang="en" sz="1100"/>
              <a:t>vs Conservative: 66-90% fewer tests (e=0.01%)</a:t>
            </a:r>
            <a:endParaRPr sz="1100"/>
          </a:p>
          <a:p>
            <a:pPr indent="-298450" lvl="0" marL="457200" rtl="0" algn="l">
              <a:lnSpc>
                <a:spcPct val="115000"/>
              </a:lnSpc>
              <a:spcBef>
                <a:spcPts val="0"/>
              </a:spcBef>
              <a:spcAft>
                <a:spcPts val="0"/>
              </a:spcAft>
              <a:buSzPts val="1100"/>
              <a:buChar char="●"/>
            </a:pPr>
            <a:r>
              <a:rPr lang="en" sz="1100"/>
              <a:t>vs Naïve Iterative: 13-22% fewer tests (e=0.1%)</a:t>
            </a:r>
            <a:endParaRPr sz="1100"/>
          </a:p>
          <a:p>
            <a:pPr indent="-298450" lvl="0" marL="457200" rtl="0" algn="l">
              <a:lnSpc>
                <a:spcPct val="115000"/>
              </a:lnSpc>
              <a:spcBef>
                <a:spcPts val="0"/>
              </a:spcBef>
              <a:spcAft>
                <a:spcPts val="0"/>
              </a:spcAft>
              <a:buSzPts val="1100"/>
              <a:buChar char="●"/>
            </a:pPr>
            <a:r>
              <a:rPr lang="en" sz="1100"/>
              <a:t>Also 57% fewer iterations</a:t>
            </a:r>
            <a:endParaRPr sz="1100"/>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3"/>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Three Levels of Analysis in Their Paper</a:t>
            </a:r>
            <a:endParaRPr/>
          </a:p>
        </p:txBody>
      </p:sp>
      <p:sp>
        <p:nvSpPr>
          <p:cNvPr id="160" name="Google Shape;160;p23"/>
          <p:cNvSpPr txBox="1"/>
          <p:nvPr>
            <p:ph idx="1" type="body"/>
          </p:nvPr>
        </p:nvSpPr>
        <p:spPr>
          <a:xfrm>
            <a:off x="727650" y="1615625"/>
            <a:ext cx="7688700" cy="3034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Network-wise:</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Treat entire model as one population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"What % of all faults cause failures?"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Single overall reliability number</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Layer-wise:</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Separate campaign for each layer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Identifies most vulnerable layers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Guides where to apply protection</a:t>
            </a:r>
            <a:endParaRPr sz="1100">
              <a:solidFill>
                <a:srgbClr val="000000"/>
              </a:solidFill>
              <a:latin typeface="Arial"/>
              <a:ea typeface="Arial"/>
              <a:cs typeface="Arial"/>
              <a:sym typeface="Arial"/>
            </a:endParaRPr>
          </a:p>
          <a:p>
            <a:pPr indent="0" lvl="0" marL="914400" rtl="0" algn="l">
              <a:spcBef>
                <a:spcPts val="1200"/>
              </a:spcBef>
              <a:spcAft>
                <a:spcPts val="0"/>
              </a:spcAft>
              <a:buNone/>
            </a:pPr>
            <a:r>
              <a:t/>
            </a:r>
            <a:endParaRPr b="1">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61" name="Google Shape;161;p23"/>
          <p:cNvSpPr txBox="1"/>
          <p:nvPr/>
        </p:nvSpPr>
        <p:spPr>
          <a:xfrm>
            <a:off x="4396300" y="2033075"/>
            <a:ext cx="3979200" cy="2285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Bit-wise:</a:t>
            </a:r>
            <a:endParaRPr b="1" sz="1100"/>
          </a:p>
          <a:p>
            <a:pPr indent="-298450" lvl="0" marL="457200" rtl="0" algn="l">
              <a:lnSpc>
                <a:spcPct val="115000"/>
              </a:lnSpc>
              <a:spcBef>
                <a:spcPts val="1200"/>
              </a:spcBef>
              <a:spcAft>
                <a:spcPts val="0"/>
              </a:spcAft>
              <a:buSzPts val="1100"/>
              <a:buChar char="●"/>
            </a:pPr>
            <a:r>
              <a:rPr lang="en" sz="1100"/>
              <a:t>Separate campaign for each bit position (0-31)</a:t>
            </a:r>
            <a:endParaRPr sz="1100"/>
          </a:p>
          <a:p>
            <a:pPr indent="-298450" lvl="0" marL="457200" rtl="0" algn="l">
              <a:lnSpc>
                <a:spcPct val="115000"/>
              </a:lnSpc>
              <a:spcBef>
                <a:spcPts val="0"/>
              </a:spcBef>
              <a:spcAft>
                <a:spcPts val="0"/>
              </a:spcAft>
              <a:buSzPts val="1100"/>
              <a:buChar char="●"/>
            </a:pPr>
            <a:r>
              <a:rPr lang="en" sz="1100"/>
              <a:t>FP32 findings:</a:t>
            </a:r>
            <a:endParaRPr sz="1100"/>
          </a:p>
          <a:p>
            <a:pPr indent="-298450" lvl="1" marL="914400" rtl="0" algn="l">
              <a:lnSpc>
                <a:spcPct val="115000"/>
              </a:lnSpc>
              <a:spcBef>
                <a:spcPts val="0"/>
              </a:spcBef>
              <a:spcAft>
                <a:spcPts val="0"/>
              </a:spcAft>
              <a:buSzPts val="1100"/>
              <a:buChar char="○"/>
            </a:pPr>
            <a:r>
              <a:rPr lang="en" sz="1100"/>
              <a:t>Bits 0-19: ~0% failure rate</a:t>
            </a:r>
            <a:endParaRPr sz="1100"/>
          </a:p>
          <a:p>
            <a:pPr indent="-298450" lvl="1" marL="914400" rtl="0" algn="l">
              <a:lnSpc>
                <a:spcPct val="115000"/>
              </a:lnSpc>
              <a:spcBef>
                <a:spcPts val="0"/>
              </a:spcBef>
              <a:spcAft>
                <a:spcPts val="0"/>
              </a:spcAft>
              <a:buSzPts val="1100"/>
              <a:buChar char="○"/>
            </a:pPr>
            <a:r>
              <a:rPr lang="en" sz="1100"/>
              <a:t>Bits 20-29: increasing failure rate</a:t>
            </a:r>
            <a:endParaRPr sz="1100"/>
          </a:p>
          <a:p>
            <a:pPr indent="-298450" lvl="1" marL="914400" rtl="0" algn="l">
              <a:lnSpc>
                <a:spcPct val="115000"/>
              </a:lnSpc>
              <a:spcBef>
                <a:spcPts val="0"/>
              </a:spcBef>
              <a:spcAft>
                <a:spcPts val="0"/>
              </a:spcAft>
              <a:buSzPts val="1100"/>
              <a:buChar char="○"/>
            </a:pPr>
            <a:r>
              <a:rPr b="1" lang="en" sz="1100"/>
              <a:t>Bits 30-31: highest failure rate (NaN/Inf)</a:t>
            </a:r>
            <a:endParaRPr sz="130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Applying to Our ViT-Tiny Setup</a:t>
            </a:r>
            <a:endParaRPr/>
          </a:p>
        </p:txBody>
      </p:sp>
      <p:sp>
        <p:nvSpPr>
          <p:cNvPr id="167" name="Google Shape;167;p24"/>
          <p:cNvSpPr txBox="1"/>
          <p:nvPr>
            <p:ph idx="1" type="body"/>
          </p:nvPr>
        </p:nvSpPr>
        <p:spPr>
          <a:xfrm>
            <a:off x="727650" y="1593175"/>
            <a:ext cx="7688700" cy="3034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Our Specifics: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 = 268K params × 32 bits × 1000 time points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N = 8.6 billion possible faults</a:t>
            </a:r>
            <a:endParaRPr b="1"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Proposed Targets: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Margin of error: e = 0.1% (space-grade precision)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Confidence level: 99% (safety-critical standard)</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Failure criteria:</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Accuracy &lt; 50% → mission failure</a:t>
            </a:r>
            <a:endParaRPr>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a:solidFill>
                  <a:srgbClr val="000000"/>
                </a:solidFill>
                <a:latin typeface="Arial"/>
                <a:ea typeface="Arial"/>
                <a:cs typeface="Arial"/>
                <a:sym typeface="Arial"/>
              </a:rPr>
              <a:t>Accuracy &lt; 20% → catastrophic</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68" name="Google Shape;168;p24"/>
          <p:cNvSpPr txBox="1"/>
          <p:nvPr/>
        </p:nvSpPr>
        <p:spPr>
          <a:xfrm>
            <a:off x="4874250" y="2487700"/>
            <a:ext cx="3542100" cy="2467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Expected using conservative formula:</a:t>
            </a:r>
            <a:endParaRPr b="1" sz="1100"/>
          </a:p>
          <a:p>
            <a:pPr indent="-298450" lvl="0" marL="457200" rtl="0" algn="l">
              <a:lnSpc>
                <a:spcPct val="115000"/>
              </a:lnSpc>
              <a:spcBef>
                <a:spcPts val="1200"/>
              </a:spcBef>
              <a:spcAft>
                <a:spcPts val="0"/>
              </a:spcAft>
              <a:buSzPts val="1100"/>
              <a:buChar char="●"/>
            </a:pPr>
            <a:r>
              <a:rPr lang="en" sz="1100"/>
              <a:t>Need to inject n ≈ ? (will calculate)</a:t>
            </a:r>
            <a:endParaRPr sz="1100"/>
          </a:p>
          <a:p>
            <a:pPr indent="-298450" lvl="0" marL="457200" rtl="0" algn="l">
              <a:lnSpc>
                <a:spcPct val="115000"/>
              </a:lnSpc>
              <a:spcBef>
                <a:spcPts val="0"/>
              </a:spcBef>
              <a:spcAft>
                <a:spcPts val="0"/>
              </a:spcAft>
              <a:buSzPts val="1100"/>
              <a:buChar char="●"/>
            </a:pPr>
            <a:r>
              <a:rPr lang="en" sz="1100"/>
              <a:t>This is our baseline to beat</a:t>
            </a:r>
            <a:endParaRPr sz="1300">
              <a:solidFill>
                <a:schemeClr val="accent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Multi-Granularity Plan</a:t>
            </a:r>
            <a:endParaRPr/>
          </a:p>
        </p:txBody>
      </p:sp>
      <p:sp>
        <p:nvSpPr>
          <p:cNvPr id="174" name="Google Shape;174;p25"/>
          <p:cNvSpPr txBox="1"/>
          <p:nvPr>
            <p:ph idx="1" type="body"/>
          </p:nvPr>
        </p:nvSpPr>
        <p:spPr>
          <a:xfrm>
            <a:off x="729450" y="1305550"/>
            <a:ext cx="7688700" cy="303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Four Levels of Analysis:</a:t>
            </a:r>
            <a:endParaRPr/>
          </a:p>
          <a:p>
            <a:pPr indent="0" lvl="0" marL="0" rtl="0" algn="l">
              <a:spcBef>
                <a:spcPts val="1200"/>
              </a:spcBef>
              <a:spcAft>
                <a:spcPts val="1200"/>
              </a:spcAft>
              <a:buNone/>
            </a:pPr>
            <a:r>
              <a:t/>
            </a:r>
            <a:endParaRPr/>
          </a:p>
        </p:txBody>
      </p:sp>
      <p:graphicFrame>
        <p:nvGraphicFramePr>
          <p:cNvPr id="175" name="Google Shape;175;p25"/>
          <p:cNvGraphicFramePr/>
          <p:nvPr/>
        </p:nvGraphicFramePr>
        <p:xfrm>
          <a:off x="891700" y="1870300"/>
          <a:ext cx="3000000" cy="3000000"/>
        </p:xfrm>
        <a:graphic>
          <a:graphicData uri="http://schemas.openxmlformats.org/drawingml/2006/table">
            <a:tbl>
              <a:tblPr>
                <a:noFill/>
                <a:tableStyleId>{34E3AF81-7966-46D0-913F-57D5814E4321}</a:tableStyleId>
              </a:tblPr>
              <a:tblGrid>
                <a:gridCol w="1405150"/>
                <a:gridCol w="1405150"/>
                <a:gridCol w="1405150"/>
              </a:tblGrid>
              <a:tr h="325750">
                <a:tc>
                  <a:txBody>
                    <a:bodyPr/>
                    <a:lstStyle/>
                    <a:p>
                      <a:pPr indent="0" lvl="0" marL="0" rtl="0" algn="l">
                        <a:spcBef>
                          <a:spcPts val="0"/>
                        </a:spcBef>
                        <a:spcAft>
                          <a:spcPts val="0"/>
                        </a:spcAft>
                        <a:buNone/>
                      </a:pPr>
                      <a:r>
                        <a:rPr lang="en"/>
                        <a:t>Granularity</a:t>
                      </a:r>
                      <a:endParaRPr/>
                    </a:p>
                  </a:txBody>
                  <a:tcPr marT="91425" marB="91425" marR="91425" marL="91425"/>
                </a:tc>
                <a:tc>
                  <a:txBody>
                    <a:bodyPr/>
                    <a:lstStyle/>
                    <a:p>
                      <a:pPr indent="0" lvl="0" marL="0" rtl="0" algn="l">
                        <a:spcBef>
                          <a:spcPts val="0"/>
                        </a:spcBef>
                        <a:spcAft>
                          <a:spcPts val="0"/>
                        </a:spcAft>
                        <a:buNone/>
                      </a:pPr>
                      <a:r>
                        <a:rPr lang="en"/>
                        <a:t>Population</a:t>
                      </a:r>
                      <a:endParaRPr/>
                    </a:p>
                  </a:txBody>
                  <a:tcPr marT="91425" marB="91425" marR="91425" marL="91425"/>
                </a:tc>
                <a:tc>
                  <a:txBody>
                    <a:bodyPr/>
                    <a:lstStyle/>
                    <a:p>
                      <a:pPr indent="0" lvl="0" marL="0" rtl="0" algn="l">
                        <a:spcBef>
                          <a:spcPts val="0"/>
                        </a:spcBef>
                        <a:spcAft>
                          <a:spcPts val="0"/>
                        </a:spcAft>
                        <a:buNone/>
                      </a:pPr>
                      <a:r>
                        <a:rPr lang="en"/>
                        <a:t>Purpose</a:t>
                      </a:r>
                      <a:endParaRPr/>
                    </a:p>
                  </a:txBody>
                  <a:tcPr marT="91425" marB="91425" marR="91425" marL="91425"/>
                </a:tc>
              </a:tr>
              <a:tr h="501175">
                <a:tc>
                  <a:txBody>
                    <a:bodyPr/>
                    <a:lstStyle/>
                    <a:p>
                      <a:pPr indent="0" lvl="0" marL="0" rtl="0" algn="l">
                        <a:spcBef>
                          <a:spcPts val="0"/>
                        </a:spcBef>
                        <a:spcAft>
                          <a:spcPts val="0"/>
                        </a:spcAft>
                        <a:buNone/>
                      </a:pPr>
                      <a:r>
                        <a:rPr lang="en"/>
                        <a:t>Network-wise</a:t>
                      </a:r>
                      <a:endParaRPr/>
                    </a:p>
                  </a:txBody>
                  <a:tcPr marT="91425" marB="91425" marR="91425" marL="91425"/>
                </a:tc>
                <a:tc>
                  <a:txBody>
                    <a:bodyPr/>
                    <a:lstStyle/>
                    <a:p>
                      <a:pPr indent="0" lvl="0" marL="0" rtl="0" algn="l">
                        <a:spcBef>
                          <a:spcPts val="0"/>
                        </a:spcBef>
                        <a:spcAft>
                          <a:spcPts val="0"/>
                        </a:spcAft>
                        <a:buNone/>
                      </a:pPr>
                      <a:r>
                        <a:rPr lang="en"/>
                        <a:t>All 8.6B</a:t>
                      </a:r>
                      <a:endParaRPr/>
                    </a:p>
                  </a:txBody>
                  <a:tcPr marT="91425" marB="91425" marR="91425" marL="91425"/>
                </a:tc>
                <a:tc>
                  <a:txBody>
                    <a:bodyPr/>
                    <a:lstStyle/>
                    <a:p>
                      <a:pPr indent="0" lvl="0" marL="0" rtl="0" algn="l">
                        <a:spcBef>
                          <a:spcPts val="0"/>
                        </a:spcBef>
                        <a:spcAft>
                          <a:spcPts val="0"/>
                        </a:spcAft>
                        <a:buNone/>
                      </a:pPr>
                      <a:r>
                        <a:rPr lang="en"/>
                        <a:t>Overall failure rate</a:t>
                      </a:r>
                      <a:endParaRPr/>
                    </a:p>
                  </a:txBody>
                  <a:tcPr marT="91425" marB="91425" marR="91425" marL="91425"/>
                </a:tc>
              </a:tr>
              <a:tr h="501175">
                <a:tc>
                  <a:txBody>
                    <a:bodyPr/>
                    <a:lstStyle/>
                    <a:p>
                      <a:pPr indent="0" lvl="0" marL="0" rtl="0" algn="l">
                        <a:spcBef>
                          <a:spcPts val="0"/>
                        </a:spcBef>
                        <a:spcAft>
                          <a:spcPts val="0"/>
                        </a:spcAft>
                        <a:buNone/>
                      </a:pPr>
                      <a:r>
                        <a:rPr lang="en"/>
                        <a:t>Layer-wise</a:t>
                      </a:r>
                      <a:endParaRPr/>
                    </a:p>
                  </a:txBody>
                  <a:tcPr marT="91425" marB="91425" marR="91425" marL="91425"/>
                </a:tc>
                <a:tc>
                  <a:txBody>
                    <a:bodyPr/>
                    <a:lstStyle/>
                    <a:p>
                      <a:pPr indent="0" lvl="0" marL="0" rtl="0" algn="l">
                        <a:spcBef>
                          <a:spcPts val="0"/>
                        </a:spcBef>
                        <a:spcAft>
                          <a:spcPts val="0"/>
                        </a:spcAft>
                        <a:buNone/>
                      </a:pPr>
                      <a:r>
                        <a:rPr lang="en"/>
                        <a:t>Per-layer</a:t>
                      </a:r>
                      <a:endParaRPr/>
                    </a:p>
                  </a:txBody>
                  <a:tcPr marT="91425" marB="91425" marR="91425" marL="91425"/>
                </a:tc>
                <a:tc>
                  <a:txBody>
                    <a:bodyPr/>
                    <a:lstStyle/>
                    <a:p>
                      <a:pPr indent="0" lvl="0" marL="0" rtl="0" algn="l">
                        <a:spcBef>
                          <a:spcPts val="0"/>
                        </a:spcBef>
                        <a:spcAft>
                          <a:spcPts val="0"/>
                        </a:spcAft>
                        <a:buNone/>
                      </a:pPr>
                      <a:r>
                        <a:rPr lang="en"/>
                        <a:t>Vulnerability ranking</a:t>
                      </a:r>
                      <a:endParaRPr/>
                    </a:p>
                  </a:txBody>
                  <a:tcPr marT="91425" marB="91425" marR="91425" marL="91425"/>
                </a:tc>
              </a:tr>
              <a:tr h="501175">
                <a:tc>
                  <a:txBody>
                    <a:bodyPr/>
                    <a:lstStyle/>
                    <a:p>
                      <a:pPr indent="0" lvl="0" marL="0" rtl="0" algn="l">
                        <a:spcBef>
                          <a:spcPts val="0"/>
                        </a:spcBef>
                        <a:spcAft>
                          <a:spcPts val="0"/>
                        </a:spcAft>
                        <a:buNone/>
                      </a:pPr>
                      <a:r>
                        <a:rPr lang="en"/>
                        <a:t>Component-wise</a:t>
                      </a:r>
                      <a:endParaRPr/>
                    </a:p>
                  </a:txBody>
                  <a:tcPr marT="91425" marB="91425" marR="91425" marL="91425"/>
                </a:tc>
                <a:tc>
                  <a:txBody>
                    <a:bodyPr/>
                    <a:lstStyle/>
                    <a:p>
                      <a:pPr indent="0" lvl="0" marL="0" rtl="0" algn="l">
                        <a:spcBef>
                          <a:spcPts val="0"/>
                        </a:spcBef>
                        <a:spcAft>
                          <a:spcPts val="0"/>
                        </a:spcAft>
                        <a:buNone/>
                      </a:pPr>
                      <a:r>
                        <a:rPr lang="en"/>
                        <a:t>ATTN, MLP, etc.</a:t>
                      </a:r>
                      <a:endParaRPr/>
                    </a:p>
                  </a:txBody>
                  <a:tcPr marT="91425" marB="91425" marR="91425" marL="91425"/>
                </a:tc>
                <a:tc>
                  <a:txBody>
                    <a:bodyPr/>
                    <a:lstStyle/>
                    <a:p>
                      <a:pPr indent="0" lvl="0" marL="0" rtl="0" algn="l">
                        <a:spcBef>
                          <a:spcPts val="0"/>
                        </a:spcBef>
                        <a:spcAft>
                          <a:spcPts val="0"/>
                        </a:spcAft>
                        <a:buNone/>
                      </a:pPr>
                      <a:r>
                        <a:rPr lang="en"/>
                        <a:t>Component criticality</a:t>
                      </a:r>
                      <a:endParaRPr/>
                    </a:p>
                  </a:txBody>
                  <a:tcPr marT="91425" marB="91425" marR="91425" marL="91425"/>
                </a:tc>
              </a:tr>
              <a:tr h="501175">
                <a:tc>
                  <a:txBody>
                    <a:bodyPr/>
                    <a:lstStyle/>
                    <a:p>
                      <a:pPr indent="0" lvl="0" marL="0" rtl="0" algn="l">
                        <a:spcBef>
                          <a:spcPts val="0"/>
                        </a:spcBef>
                        <a:spcAft>
                          <a:spcPts val="0"/>
                        </a:spcAft>
                        <a:buNone/>
                      </a:pPr>
                      <a:r>
                        <a:rPr lang="en"/>
                        <a:t>Bit-wise</a:t>
                      </a:r>
                      <a:endParaRPr/>
                    </a:p>
                  </a:txBody>
                  <a:tcPr marT="91425" marB="91425" marR="91425" marL="91425"/>
                </a:tc>
                <a:tc>
                  <a:txBody>
                    <a:bodyPr/>
                    <a:lstStyle/>
                    <a:p>
                      <a:pPr indent="0" lvl="0" marL="0" rtl="0" algn="l">
                        <a:spcBef>
                          <a:spcPts val="0"/>
                        </a:spcBef>
                        <a:spcAft>
                          <a:spcPts val="0"/>
                        </a:spcAft>
                        <a:buNone/>
                      </a:pPr>
                      <a:r>
                        <a:rPr lang="en"/>
                        <a:t>Bits 0-31</a:t>
                      </a:r>
                      <a:endParaRPr/>
                    </a:p>
                  </a:txBody>
                  <a:tcPr marT="91425" marB="91425" marR="91425" marL="91425"/>
                </a:tc>
                <a:tc>
                  <a:txBody>
                    <a:bodyPr/>
                    <a:lstStyle/>
                    <a:p>
                      <a:pPr indent="0" lvl="0" marL="0" rtl="0" algn="l">
                        <a:spcBef>
                          <a:spcPts val="0"/>
                        </a:spcBef>
                        <a:spcAft>
                          <a:spcPts val="0"/>
                        </a:spcAft>
                        <a:buNone/>
                      </a:pPr>
                      <a:r>
                        <a:rPr lang="en"/>
                        <a:t>Critical bit positions</a:t>
                      </a:r>
                      <a:endParaRPr/>
                    </a:p>
                  </a:txBody>
                  <a:tcPr marT="91425" marB="91425" marR="91425" marL="91425"/>
                </a:tc>
              </a:tr>
            </a:tbl>
          </a:graphicData>
        </a:graphic>
      </p:graphicFrame>
      <p:sp>
        <p:nvSpPr>
          <p:cNvPr id="176" name="Google Shape;176;p25"/>
          <p:cNvSpPr txBox="1"/>
          <p:nvPr/>
        </p:nvSpPr>
        <p:spPr>
          <a:xfrm>
            <a:off x="5421525" y="1857150"/>
            <a:ext cx="3240900" cy="283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Special Considerations:</a:t>
            </a:r>
            <a:endParaRPr b="1" sz="1100"/>
          </a:p>
          <a:p>
            <a:pPr indent="-298450" lvl="0" marL="457200" rtl="0" algn="l">
              <a:lnSpc>
                <a:spcPct val="115000"/>
              </a:lnSpc>
              <a:spcBef>
                <a:spcPts val="1200"/>
              </a:spcBef>
              <a:spcAft>
                <a:spcPts val="0"/>
              </a:spcAft>
              <a:buSzPts val="1100"/>
              <a:buChar char="●"/>
            </a:pPr>
            <a:r>
              <a:rPr lang="en" sz="1100"/>
              <a:t>Bits 30-31: handle NaN/Inf separately </a:t>
            </a:r>
            <a:endParaRPr sz="1100"/>
          </a:p>
          <a:p>
            <a:pPr indent="0" lvl="0" marL="457200" rtl="0" algn="l">
              <a:lnSpc>
                <a:spcPct val="115000"/>
              </a:lnSpc>
              <a:spcBef>
                <a:spcPts val="1200"/>
              </a:spcBef>
              <a:spcAft>
                <a:spcPts val="0"/>
              </a:spcAft>
              <a:buNone/>
            </a:pPr>
            <a:r>
              <a:t/>
            </a:r>
            <a:endParaRPr sz="1100"/>
          </a:p>
          <a:p>
            <a:pPr indent="-298450" lvl="0" marL="457200" rtl="0" algn="l">
              <a:lnSpc>
                <a:spcPct val="115000"/>
              </a:lnSpc>
              <a:spcBef>
                <a:spcPts val="1200"/>
              </a:spcBef>
              <a:spcAft>
                <a:spcPts val="0"/>
              </a:spcAft>
              <a:buSzPts val="1100"/>
              <a:buChar char="●"/>
            </a:pPr>
            <a:r>
              <a:rPr lang="en" sz="1100"/>
              <a:t>ViT has different structure than CNN</a:t>
            </a:r>
            <a:endParaRPr sz="1100"/>
          </a:p>
          <a:p>
            <a:pPr indent="-298450" lvl="1" marL="914400" rtl="0" algn="l">
              <a:lnSpc>
                <a:spcPct val="115000"/>
              </a:lnSpc>
              <a:spcBef>
                <a:spcPts val="0"/>
              </a:spcBef>
              <a:spcAft>
                <a:spcPts val="0"/>
              </a:spcAft>
              <a:buSzPts val="1100"/>
              <a:buChar char="○"/>
            </a:pPr>
            <a:r>
              <a:rPr lang="en" sz="1100"/>
              <a:t>Attention might behave differently</a:t>
            </a:r>
            <a:endParaRPr sz="1100"/>
          </a:p>
          <a:p>
            <a:pPr indent="-298450" lvl="1" marL="914400" rtl="0" algn="l">
              <a:lnSpc>
                <a:spcPct val="115000"/>
              </a:lnSpc>
              <a:spcBef>
                <a:spcPts val="0"/>
              </a:spcBef>
              <a:spcAft>
                <a:spcPts val="0"/>
              </a:spcAft>
              <a:buSzPts val="1100"/>
              <a:buChar char="○"/>
            </a:pPr>
            <a:r>
              <a:rPr lang="en" sz="1100"/>
              <a:t>Positional embeddings could be critical</a:t>
            </a:r>
            <a:endParaRPr sz="1100"/>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727650" y="59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This Matters for Our Work</a:t>
            </a:r>
            <a:endParaRPr/>
          </a:p>
        </p:txBody>
      </p:sp>
      <p:sp>
        <p:nvSpPr>
          <p:cNvPr id="182" name="Google Shape;182;p26"/>
          <p:cNvSpPr txBox="1"/>
          <p:nvPr>
            <p:ph idx="1" type="body"/>
          </p:nvPr>
        </p:nvSpPr>
        <p:spPr>
          <a:xfrm>
            <a:off x="729450" y="1305550"/>
            <a:ext cx="7688700" cy="3034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Current Phase 1 Approach:</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12 repetitions at each BER (arbitrary)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No confidence quantification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"Looks good" based on curves</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 sz="1100">
                <a:solidFill>
                  <a:srgbClr val="000000"/>
                </a:solidFill>
                <a:latin typeface="Arial"/>
                <a:ea typeface="Arial"/>
                <a:cs typeface="Arial"/>
                <a:sym typeface="Arial"/>
              </a:rPr>
              <a:t>New Statistical Approach:</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n calculated precisely for desired confidence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Every result has error bars: "X% ± Y%"</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Defensible for safety certification</a:t>
            </a:r>
            <a:endParaRPr sz="1100">
              <a:solidFill>
                <a:srgbClr val="000000"/>
              </a:solidFill>
              <a:latin typeface="Arial"/>
              <a:ea typeface="Arial"/>
              <a:cs typeface="Arial"/>
              <a:sym typeface="Arial"/>
            </a:endParaRPr>
          </a:p>
          <a:p>
            <a:pPr indent="0" lvl="0" marL="45720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
        <p:nvSpPr>
          <p:cNvPr id="183" name="Google Shape;183;p26"/>
          <p:cNvSpPr txBox="1"/>
          <p:nvPr/>
        </p:nvSpPr>
        <p:spPr>
          <a:xfrm>
            <a:off x="4351700" y="2200975"/>
            <a:ext cx="4002600" cy="302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Expected Improvements:</a:t>
            </a:r>
            <a:endParaRPr b="1" sz="1100"/>
          </a:p>
          <a:p>
            <a:pPr indent="-298450" lvl="0" marL="457200" rtl="0" algn="l">
              <a:lnSpc>
                <a:spcPct val="115000"/>
              </a:lnSpc>
              <a:spcBef>
                <a:spcPts val="1200"/>
              </a:spcBef>
              <a:spcAft>
                <a:spcPts val="0"/>
              </a:spcAft>
              <a:buSzPts val="1100"/>
              <a:buChar char="●"/>
            </a:pPr>
            <a:r>
              <a:rPr lang="en" sz="1100"/>
              <a:t>70-90% fewer tests than exhaustive</a:t>
            </a:r>
            <a:endParaRPr sz="1100"/>
          </a:p>
          <a:p>
            <a:pPr indent="-298450" lvl="0" marL="457200" rtl="0" algn="l">
              <a:lnSpc>
                <a:spcPct val="115000"/>
              </a:lnSpc>
              <a:spcBef>
                <a:spcPts val="0"/>
              </a:spcBef>
              <a:spcAft>
                <a:spcPts val="0"/>
              </a:spcAft>
              <a:buSzPts val="1100"/>
              <a:buChar char="●"/>
            </a:pPr>
            <a:r>
              <a:rPr lang="en" sz="1100"/>
              <a:t>Rigorous confidence statements</a:t>
            </a:r>
            <a:endParaRPr sz="1100"/>
          </a:p>
          <a:p>
            <a:pPr indent="-298450" lvl="0" marL="457200" rtl="0" algn="l">
              <a:lnSpc>
                <a:spcPct val="115000"/>
              </a:lnSpc>
              <a:spcBef>
                <a:spcPts val="0"/>
              </a:spcBef>
              <a:spcAft>
                <a:spcPts val="0"/>
              </a:spcAft>
              <a:buSzPts val="1100"/>
              <a:buChar char="●"/>
            </a:pPr>
            <a:r>
              <a:rPr lang="en" sz="1100"/>
              <a:t>Identify specific vulnerabilities</a:t>
            </a:r>
            <a:endParaRPr sz="1100"/>
          </a:p>
          <a:p>
            <a:pPr indent="-298450" lvl="0" marL="457200" rtl="0" algn="l">
              <a:lnSpc>
                <a:spcPct val="115000"/>
              </a:lnSpc>
              <a:spcBef>
                <a:spcPts val="0"/>
              </a:spcBef>
              <a:spcAft>
                <a:spcPts val="0"/>
              </a:spcAft>
              <a:buSzPts val="1100"/>
              <a:buChar char="●"/>
            </a:pPr>
            <a:r>
              <a:rPr lang="en" sz="1100"/>
              <a:t>Guide </a:t>
            </a:r>
            <a:r>
              <a:rPr b="1" lang="en" sz="1100"/>
              <a:t>Phase 3 incremental learning</a:t>
            </a:r>
            <a:endParaRPr b="1" sz="1100"/>
          </a:p>
          <a:p>
            <a:pPr indent="0" lvl="0" marL="457200" rtl="0" algn="l">
              <a:lnSpc>
                <a:spcPct val="115000"/>
              </a:lnSpc>
              <a:spcBef>
                <a:spcPts val="1200"/>
              </a:spcBef>
              <a:spcAft>
                <a:spcPts val="1200"/>
              </a:spcAft>
              <a:buNone/>
            </a:pPr>
            <a:r>
              <a:t/>
            </a:r>
            <a:endParaRPr sz="1300">
              <a:solidFill>
                <a:schemeClr val="accen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