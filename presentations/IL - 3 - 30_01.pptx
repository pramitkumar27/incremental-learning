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Ubuntu"/>
      <p:regular r:id="rId20"/>
      <p:bold r:id="rId21"/>
      <p:italic r:id="rId22"/>
      <p:boldItalic r:id="rId23"/>
    </p:embeddedFont>
    <p:embeddedFont>
      <p:font typeface="Raleway"/>
      <p:regular r:id="rId24"/>
      <p:bold r:id="rId25"/>
      <p:italic r:id="rId26"/>
      <p:boldItalic r:id="rId27"/>
    </p:embeddedFont>
    <p:embeddedFont>
      <p:font typeface="Lato"/>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Ubuntu-regular.fntdata"/><Relationship Id="rId22" Type="http://schemas.openxmlformats.org/officeDocument/2006/relationships/font" Target="fonts/Ubuntu-italic.fntdata"/><Relationship Id="rId21" Type="http://schemas.openxmlformats.org/officeDocument/2006/relationships/font" Target="fonts/Ubuntu-bold.fntdata"/><Relationship Id="rId24" Type="http://schemas.openxmlformats.org/officeDocument/2006/relationships/font" Target="fonts/Raleway-regular.fntdata"/><Relationship Id="rId23" Type="http://schemas.openxmlformats.org/officeDocument/2006/relationships/font" Target="fonts/Ubuntu-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aleway-italic.fntdata"/><Relationship Id="rId25" Type="http://schemas.openxmlformats.org/officeDocument/2006/relationships/font" Target="fonts/Raleway-bold.fntdata"/><Relationship Id="rId28" Type="http://schemas.openxmlformats.org/officeDocument/2006/relationships/font" Target="fonts/Lato-regular.fntdata"/><Relationship Id="rId27" Type="http://schemas.openxmlformats.org/officeDocument/2006/relationships/font" Target="fonts/Raleway-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boldItalic.fntdata"/><Relationship Id="rId30" Type="http://schemas.openxmlformats.org/officeDocument/2006/relationships/font" Target="fonts/Lato-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c20e7a48b4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c20e7a48b4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key foundation for Phase 2 was implementing a fault model that matches what radiation does in memory: bit flips, not arbitrary scaling.”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Elaborate (facts grounded in our experiment):</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“Originally, I tested a simple corruption that multiplied a weight by a constant. This doesn’t represent an SEU.”</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 actual hardware, radiation causes </a:t>
            </a:r>
            <a:r>
              <a:rPr b="1" lang="en">
                <a:solidFill>
                  <a:schemeClr val="dk1"/>
                </a:solidFill>
              </a:rPr>
              <a:t>single event upsets (SEUs)</a:t>
            </a:r>
            <a:r>
              <a:rPr lang="en">
                <a:solidFill>
                  <a:schemeClr val="dk1"/>
                </a:solidFill>
              </a:rPr>
              <a:t> that flip bits in stored values.”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“So I switched to a bit-flip injector that flips a random bit in a </a:t>
            </a:r>
            <a:r>
              <a:rPr b="1" lang="en">
                <a:solidFill>
                  <a:schemeClr val="dk1"/>
                </a:solidFill>
              </a:rPr>
              <a:t>float32 IEEE-754 representation</a:t>
            </a:r>
            <a:r>
              <a:rPr lang="en">
                <a:solidFill>
                  <a:schemeClr val="dk1"/>
                </a:solidFill>
              </a:rPr>
              <a:t>. This matters because the impact depends on which bit flips—some changes are tiny, others are catastrophic.”</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corrected fault model is the basis for a defensible reliability experiment and aligns with how fault-injection studies are typically performed.”</a:t>
            </a:r>
            <a:br>
              <a:rPr lang="en">
                <a:solidFill>
                  <a:schemeClr val="dk1"/>
                </a:solidFill>
              </a:rPr>
            </a:b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c20e7a48b4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c20e7a48b4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“To simulate different space environments, we need a knob that controls how many bit flips occur. That knob is BER.”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Elaborate (facts grounded in our experiment):</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“BER (Bit Error Rate) is a probability measure that represents how frequently bits flip due to radiation.”</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 our implementation I used </a:t>
            </a:r>
            <a:r>
              <a:rPr b="1" lang="en">
                <a:solidFill>
                  <a:schemeClr val="dk1"/>
                </a:solidFill>
              </a:rPr>
              <a:t>per-parameter BER mode</a:t>
            </a:r>
            <a:r>
              <a:rPr lang="en">
                <a:solidFill>
                  <a:schemeClr val="dk1"/>
                </a:solidFill>
              </a:rPr>
              <a:t> (inspired from the script I got from you) where:</a:t>
            </a:r>
            <a:br>
              <a:rPr lang="en">
                <a:solidFill>
                  <a:schemeClr val="dk1"/>
                </a:solidFill>
              </a:rPr>
            </a:br>
            <a:r>
              <a:rPr lang="en">
                <a:solidFill>
                  <a:schemeClr val="dk1"/>
                </a:solidFill>
              </a:rPr>
              <a:t> </a:t>
            </a:r>
            <a:r>
              <a:rPr b="1" lang="en">
                <a:solidFill>
                  <a:schemeClr val="dk1"/>
                </a:solidFill>
              </a:rPr>
              <a:t>faults/run = BER × number of parameters</a:t>
            </a:r>
            <a:r>
              <a:rPr lang="en">
                <a:solidFill>
                  <a:schemeClr val="dk1"/>
                </a:solidFill>
              </a:rPr>
              <a: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“Our ViT has </a:t>
            </a:r>
            <a:r>
              <a:rPr b="1" lang="en">
                <a:solidFill>
                  <a:schemeClr val="dk1"/>
                </a:solidFill>
              </a:rPr>
              <a:t>5,526,346 trainable parameters</a:t>
            </a:r>
            <a:r>
              <a:rPr lang="en">
                <a:solidFill>
                  <a:schemeClr val="dk1"/>
                </a:solidFill>
              </a:rPr>
              <a:t>, so BER directly maps to expected faults per run. For example:</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BER=1e-6 → ~5 faults</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BER=1e-5 → ~55 faults</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BER=1e-4 → ~552 faults.”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mapping is important for interpretability: each BER value corresponds to a specific fault load we inject into the model.”</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c20e7a48b4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c20e7a48b4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slide demonstrates that Phase 2 is implemented correctly: starting from a clean checkpoint, injecting faults, and measuring the post-fault accuracy.”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Elaborate (facts grounded in our experiment):</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“I load the clean checkpoint and measure baseline accuracy: </a:t>
            </a:r>
            <a:r>
              <a:rPr b="1" lang="en">
                <a:solidFill>
                  <a:schemeClr val="dk1"/>
                </a:solidFill>
              </a:rPr>
              <a:t>97.74%</a:t>
            </a:r>
            <a:r>
              <a:rPr lang="en">
                <a:solidFill>
                  <a:schemeClr val="dk1"/>
                </a:solidFill>
              </a:rPr>
              <a: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“Then we inject a controlled number of bit flips into random parameters across the whole model.”</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“We validated the pipeline at BER=1e-6 (~5 faults/run) in early tests and saw almost no change in some runs, confirming injection doesn’t automatically break the model every time.”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key point is that the pipeline is repeatable: we always reset to the same clean checkpoint before each injected run.”</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c20e7a48b4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c20e7a48b4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reason we use Monte-Carlo is because radiation faults are random—so reliability must be measured statistically, not with a single run.”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Elaborate (facts grounded in our experiment):</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“For each BER value, we run multiple independent trials (e.g., 20 or 50). Each trial starts from a clean checkpoint and injects a different random fault pattern.”</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“We summarize outcomes with mean accuracy, standard deviation, and worst-case accuracy.”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is crucial because we observed very large variance in the knee region: the mean may still look acceptable, while worst-case collapses.”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Monte-Carlo approach lets us compute reliability metrics like </a:t>
            </a:r>
            <a:r>
              <a:rPr b="1" lang="en">
                <a:solidFill>
                  <a:schemeClr val="dk1"/>
                </a:solidFill>
              </a:rPr>
              <a:t>P(accuracy &lt; threshold)</a:t>
            </a:r>
            <a:r>
              <a:rPr lang="en">
                <a:solidFill>
                  <a:schemeClr val="dk1"/>
                </a:solidFill>
              </a:rPr>
              <a:t>, which is more meaningful for safety-critical systems.”</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c20e7a48b4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c20e7a48b4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These results show the overall reliability pattern: stable baseline, sharp degradation with BER, and a collapse floor.”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Elaborate (facts grounded in your output):</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“Baseline accuracy is </a:t>
            </a:r>
            <a:r>
              <a:rPr b="1" lang="en">
                <a:solidFill>
                  <a:schemeClr val="dk1"/>
                </a:solidFill>
              </a:rPr>
              <a:t>97.74%</a:t>
            </a:r>
            <a:r>
              <a:rPr lang="en">
                <a:solidFill>
                  <a:schemeClr val="dk1"/>
                </a:solidFill>
              </a:rPr>
              <a:t> (BER=0).”</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“At </a:t>
            </a:r>
            <a:r>
              <a:rPr b="1" lang="en">
                <a:solidFill>
                  <a:schemeClr val="dk1"/>
                </a:solidFill>
              </a:rPr>
              <a:t>BER=1e-6</a:t>
            </a:r>
            <a:r>
              <a:rPr lang="en">
                <a:solidFill>
                  <a:schemeClr val="dk1"/>
                </a:solidFill>
              </a:rPr>
              <a:t>, results can vary dramatically across trials: we saw mean around </a:t>
            </a:r>
            <a:r>
              <a:rPr b="1" lang="en">
                <a:solidFill>
                  <a:schemeClr val="dk1"/>
                </a:solidFill>
              </a:rPr>
              <a:t>80%</a:t>
            </a:r>
            <a:r>
              <a:rPr lang="en">
                <a:solidFill>
                  <a:schemeClr val="dk1"/>
                </a:solidFill>
              </a:rPr>
              <a:t> in the coarse sweep with a very large std, and worst-case reaching </a:t>
            </a:r>
            <a:r>
              <a:rPr b="1" lang="en">
                <a:solidFill>
                  <a:schemeClr val="dk1"/>
                </a:solidFill>
              </a:rPr>
              <a:t>~11.69%</a:t>
            </a:r>
            <a:r>
              <a:rPr lang="en">
                <a:solidFill>
                  <a:schemeClr val="dk1"/>
                </a:solidFill>
              </a:rPr>
              <a: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“At </a:t>
            </a:r>
            <a:r>
              <a:rPr b="1" lang="en">
                <a:solidFill>
                  <a:schemeClr val="dk1"/>
                </a:solidFill>
              </a:rPr>
              <a:t>BER=1e-5</a:t>
            </a:r>
            <a:r>
              <a:rPr lang="en">
                <a:solidFill>
                  <a:schemeClr val="dk1"/>
                </a:solidFill>
              </a:rPr>
              <a:t>, mean accuracy dropped further (around </a:t>
            </a:r>
            <a:r>
              <a:rPr b="1" lang="en">
                <a:solidFill>
                  <a:schemeClr val="dk1"/>
                </a:solidFill>
              </a:rPr>
              <a:t>31%</a:t>
            </a:r>
            <a:r>
              <a:rPr lang="en">
                <a:solidFill>
                  <a:schemeClr val="dk1"/>
                </a:solidFill>
              </a:rPr>
              <a:t>) and worst-case still hit the same collapse floor.”</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“From </a:t>
            </a:r>
            <a:r>
              <a:rPr b="1" lang="en">
                <a:solidFill>
                  <a:schemeClr val="dk1"/>
                </a:solidFill>
              </a:rPr>
              <a:t>BER ≥ 1e-4</a:t>
            </a:r>
            <a:r>
              <a:rPr lang="en">
                <a:solidFill>
                  <a:schemeClr val="dk1"/>
                </a:solidFill>
              </a:rPr>
              <a:t>, accuracy becomes </a:t>
            </a:r>
            <a:r>
              <a:rPr b="1" lang="en">
                <a:solidFill>
                  <a:schemeClr val="dk1"/>
                </a:solidFill>
              </a:rPr>
              <a:t>11.69% with std = 0</a:t>
            </a:r>
            <a:r>
              <a:rPr lang="en">
                <a:solidFill>
                  <a:schemeClr val="dk1"/>
                </a:solidFill>
              </a:rPr>
              <a:t>, meaning every run collapses the same way.”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clearly identifies the knee region: around 1e-7 to a few e-6 where failures start appearing but are not guaranteed.”</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Your script gave me the correct Monte-Carlo reliability structure: reset, inject random faults, sweep BER, repeat. I adapted it to ViT in PyTorch, replaced the fault model with IEEE-754 bit flips, refined the BER grid to the knee region, and added failure-probability metrics. The core methodology is directly based on your script.</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c20e7a48b4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c20e7a48b4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explains a key reliability phenomenon: the same BER can look harmless in one run and catastrophic in another.”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Elaborate (facts grounded in our experiment + IEEE-754 reasoning):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“At BER=1e-6, we inject only about </a:t>
            </a:r>
            <a:r>
              <a:rPr b="1" lang="en">
                <a:solidFill>
                  <a:schemeClr val="dk1"/>
                </a:solidFill>
              </a:rPr>
              <a:t>5 faults/run</a:t>
            </a:r>
            <a:r>
              <a:rPr lang="en">
                <a:solidFill>
                  <a:schemeClr val="dk1"/>
                </a:solidFill>
              </a:rPr>
              <a:t>, which is extremely small compared to 5.5M parameters.”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“Because the number of faults is small, outcomes are dominated by </a:t>
            </a:r>
            <a:r>
              <a:rPr i="1" lang="en">
                <a:solidFill>
                  <a:schemeClr val="dk1"/>
                </a:solidFill>
              </a:rPr>
              <a:t>where</a:t>
            </a:r>
            <a:r>
              <a:rPr lang="en">
                <a:solidFill>
                  <a:schemeClr val="dk1"/>
                </a:solidFill>
              </a:rPr>
              <a:t> the faults land. Some trials hit low-impact bits/parameters and accuracy stays high; other trials hit sensitive locations and accuracy collapses.”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is reflected in the large standard deviations we observed in the knee region (std values ~20–35 in our sweeps).”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is why reliability must be expressed as probability of failure, not just mean accuracy.”</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c20e7a48b4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c20e7a48b4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To understand why some faults barely matter while others destroy accuracy, we need one slide on how float32 numbers are stored.”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Elaborate (facts grounded in bit-flip behavior):</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“float32 stores a number as sign (1 bit), exponent (8 bits), and mantissa (23 bits).”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“Flipping a mantissa bit usually creates a small numeric change—often the model still works.”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“Flipping an exponent bit can change the value by orders of magnitude, which can destabilize activations and logits.”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matches our observed knee behavior: a few faults may be harmless, but a single unlucky exponent/sign flip can trigger a catastrophic collapse.”</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c20e7a48b4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c20e7a48b4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“After the first full BER sweep, the next step was to focus on the ‘knee’—the region where the model transitions from mostly correct to frequent catastrophic failures.”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Elaborate (facts grounded in our experiment):</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“In the coarse sweep, BER=0 stayed stable at </a:t>
            </a:r>
            <a:r>
              <a:rPr b="1" lang="en">
                <a:solidFill>
                  <a:schemeClr val="dk1"/>
                </a:solidFill>
              </a:rPr>
              <a:t>97.74%</a:t>
            </a:r>
            <a:r>
              <a:rPr lang="en">
                <a:solidFill>
                  <a:schemeClr val="dk1"/>
                </a:solidFill>
              </a:rPr>
              <a:t> accuracy with </a:t>
            </a:r>
            <a:r>
              <a:rPr b="1" lang="en">
                <a:solidFill>
                  <a:schemeClr val="dk1"/>
                </a:solidFill>
              </a:rPr>
              <a:t>std = 0</a:t>
            </a:r>
            <a:r>
              <a:rPr lang="en">
                <a:solidFill>
                  <a:schemeClr val="dk1"/>
                </a:solidFill>
              </a:rPr>
              <a:t>, confirming the evaluation pipeline is deterministic when no faults are injected.”</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“At higher BER values like </a:t>
            </a:r>
            <a:r>
              <a:rPr b="1" lang="en">
                <a:solidFill>
                  <a:schemeClr val="dk1"/>
                </a:solidFill>
              </a:rPr>
              <a:t>1e-4 and above</a:t>
            </a:r>
            <a:r>
              <a:rPr lang="en">
                <a:solidFill>
                  <a:schemeClr val="dk1"/>
                </a:solidFill>
              </a:rPr>
              <a:t>, the model consistently collapsed to </a:t>
            </a:r>
            <a:r>
              <a:rPr b="1" lang="en">
                <a:solidFill>
                  <a:schemeClr val="dk1"/>
                </a:solidFill>
              </a:rPr>
              <a:t>~11.69%</a:t>
            </a:r>
            <a:r>
              <a:rPr lang="en">
                <a:solidFill>
                  <a:schemeClr val="dk1"/>
                </a:solidFill>
              </a:rPr>
              <a:t> accuracy with </a:t>
            </a:r>
            <a:r>
              <a:rPr b="1" lang="en">
                <a:solidFill>
                  <a:schemeClr val="dk1"/>
                </a:solidFill>
              </a:rPr>
              <a:t>std = 0</a:t>
            </a:r>
            <a:r>
              <a:rPr lang="en">
                <a:solidFill>
                  <a:schemeClr val="dk1"/>
                </a:solidFill>
              </a:rPr>
              <a:t>, which indicates we reached a ‘failure floor’ where the model is essentially non-functional in every trial.”</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“That means large BER steps (like 1e-4 → 1e-3 → 1e-2) don’t add new information—everything past the collapse point behaves the same.”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informative part is the transition region, where accuracy can still be high in some trials but collapses in others. That is exactly what we need for dependability, because satellites care about </a:t>
            </a:r>
            <a:r>
              <a:rPr b="1" lang="en">
                <a:solidFill>
                  <a:schemeClr val="dk1"/>
                </a:solidFill>
              </a:rPr>
              <a:t>worst-case and failure probability</a:t>
            </a:r>
            <a:r>
              <a:rPr lang="en">
                <a:solidFill>
                  <a:schemeClr val="dk1"/>
                </a:solidFill>
              </a:rPr>
              <a:t>, not only averages.”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“So the knee sweep is about increasing resolution around the point where failures begin, to build a reliable curve and quantify failure risk.”</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c20e7a48b4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c20e7a48b4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“In the next test, BER values weren’t chosen randomly — I refined them step-by-step based on what the previous sweep revealed.”</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Elaborate (facts grounded in our experiment):</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“Stage 1 was a coarse sweep to locate regimes: baseline at BER=0, a high-variance knee at low BER, and a collapse floor at higher BER.”</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“Stage 2 densified around the knee (e.g., 1e-7 → 2e-6) because that’s where failures first appear and variability becomes large.”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“Stage 3 was about adding extra points inside the knee (e.g., 1.5e-7, 3e-7, 7e-7, 1.2e-6, 1.5e-6, 1.8e-6) so the reliability curve is smooth and plot-ready.”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is also a compute strategy: I spend trials where behavior changes to identify the key regions.”</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c24195fc3c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c24195fc3c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After the first sweep showed a cliff, I refined Phase 2 to get a plot-ready reliability curve.”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Elaborate (facts grounded in our output):</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“The earlier coarse sweep showed two extremes: stable baseline at BER=0 and a collapse floor at higher BER.”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 capture the transition properly, I added more BER points around the knee, where failures start appearing.”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 per-param mode, we compute faults/run = floor(BER × #params). With ~5.5M parameters: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BER=2e-7 → ~1 fault/run</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BER=1e-6 → ~5 faults/run</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BER=1e-5 → ~55 faults/run.”</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“Because bit flips are random, I use Monte-Carlo trials per BER and now report reliability as probability: P(acc&lt;50) and P(acc&lt;20).”</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“Observed trend: as BER increases, mean accuracy drops and failure probabilities increase.”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“Example: by BER=5e-6 (~27 faults/run), P(acc&lt;50)≈0.50.”</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“At BER=1e-5 (~55 faults/run), mean accuracy drops to ~27% and P(acc&lt;50)≈0.83.”</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upgraded sweep gives us a knee-region reliability curve that i can now use to motivate Phase 3 repair.”</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c24195fc3c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c24195fc3c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“Plot 1 shows how average accuracy degrades as BER increases, and how unstable the model becomes in the knee region.”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Elaborate (facts grounded in the plot / output):</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“X-axis is BER in log scale; Y-axis is mean test accuracy across 12 Monte-Carlo trials per BER.”</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error bars represent variability (std). Large error bars indicate that outcomes depend strongly on where the random bit flips land.”</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“At very low BER (≤1e-7), faults/run rounds to zero, so accuracy stays at baseline (~97.9%).”</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“Once we reach the knee (≈2e-7 to 2e-6), the mean drops to ~83–76% and the std becomes very large (~32–37%), meaning some trials remain near-normal while others collapse.”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“At higher BER values (e.g., 5e-6 and 1e-5), the mean accuracy drops further (~58% then ~27%), showing the system becomes increasingly unreliable under heavier fault loads.”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“Key takeaway: mean accuracy alone is not enough; variance shows why we also need failure probabilities.”</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c24195fc3c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c24195fc3c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plot translates the same experiments into a reliability metric: how often the model becomes unacceptable.”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Elaborate (facts grounded in the plot / output):</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“I define two failure thresholds: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P(acc&lt;50%) = mission-level failure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P(acc&lt;20%) = catastrophic failure.”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“At very low BER, both probabilities are near zero because there are effectively no injected faults per run.”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“Starting around BER≈2e-7 (~1 fault/run), failure probability becomes non-zero: we begin seeing rare catastrophic outcomes.”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 the knee region, the failure probability rises gradually:</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around BER=3e-6 (~16 faults/run), P(acc&lt;50)≈0.33</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at BER=5e-6 (~27 faults/run), P(acc&lt;50)≈0.50.”</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“At BER=1e-5 (~55 faults/run), failure becomes dominant: P(acc&lt;50)≈0.83 and catastrophic failures also rise strongly.”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“Key takeaway: this curve is the dependability story—radiation faults don’t just reduce accuracy; they increase the probability of unacceptable outcomes.”</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c24195fc3c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c24195fc3c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Now that i have a working reliability curve, the next steps are about (1) making the results statistically stronger, (2) understanding </a:t>
            </a:r>
            <a:r>
              <a:rPr i="1" lang="en">
                <a:solidFill>
                  <a:schemeClr val="dk1"/>
                </a:solidFill>
              </a:rPr>
              <a:t>where</a:t>
            </a:r>
            <a:r>
              <a:rPr lang="en">
                <a:solidFill>
                  <a:schemeClr val="dk1"/>
                </a:solidFill>
              </a:rPr>
              <a:t> the model is most vulnerable, and (3) showing a repair mechanism.”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Elaborate:</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“First, i will rerun the knee-region sweep using the </a:t>
            </a:r>
            <a:r>
              <a:rPr b="1" lang="en">
                <a:solidFill>
                  <a:schemeClr val="dk1"/>
                </a:solidFill>
              </a:rPr>
              <a:t>full test set</a:t>
            </a:r>
            <a:r>
              <a:rPr lang="en">
                <a:solidFill>
                  <a:schemeClr val="dk1"/>
                </a:solidFill>
              </a:rPr>
              <a:t> and more Monte-Carlo trials (e.g., 50–100). This should reduce sampling noise and gives better reliability curves.”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“Second, i’ll do </a:t>
            </a:r>
            <a:r>
              <a:rPr b="1" lang="en">
                <a:solidFill>
                  <a:schemeClr val="dk1"/>
                </a:solidFill>
              </a:rPr>
              <a:t>component analysis</a:t>
            </a:r>
            <a:r>
              <a:rPr lang="en">
                <a:solidFill>
                  <a:schemeClr val="dk1"/>
                </a:solidFill>
              </a:rPr>
              <a:t>. A Vision Transformer is made of different functional blocks, and a bit flip in one block can be far more damaging than in another.”</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“Examples of components:</a:t>
            </a:r>
            <a:br>
              <a:rPr lang="en">
                <a:solidFill>
                  <a:schemeClr val="dk1"/>
                </a:solidFill>
              </a:rPr>
            </a:b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b="1" lang="en">
                <a:solidFill>
                  <a:schemeClr val="dk1"/>
                </a:solidFill>
              </a:rPr>
              <a:t>Patch embedding</a:t>
            </a:r>
            <a:r>
              <a:rPr lang="en">
                <a:solidFill>
                  <a:schemeClr val="dk1"/>
                </a:solidFill>
              </a:rPr>
              <a:t> (converts image patches into tokens)</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b="1" lang="en">
                <a:solidFill>
                  <a:schemeClr val="dk1"/>
                </a:solidFill>
              </a:rPr>
              <a:t>Attention layers</a:t>
            </a:r>
            <a:r>
              <a:rPr lang="en">
                <a:solidFill>
                  <a:schemeClr val="dk1"/>
                </a:solidFill>
              </a:rPr>
              <a:t> (global mixing of information across patches)</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b="1" lang="en">
                <a:solidFill>
                  <a:schemeClr val="dk1"/>
                </a:solidFill>
              </a:rPr>
              <a:t>MLP layers</a:t>
            </a:r>
            <a:r>
              <a:rPr lang="en">
                <a:solidFill>
                  <a:schemeClr val="dk1"/>
                </a:solidFill>
              </a:rPr>
              <a:t> (large feed-forward layers with many parameters)</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b="1" lang="en">
                <a:solidFill>
                  <a:schemeClr val="dk1"/>
                </a:solidFill>
              </a:rPr>
              <a:t>LayerNorm</a:t>
            </a:r>
            <a:r>
              <a:rPr lang="en">
                <a:solidFill>
                  <a:schemeClr val="dk1"/>
                </a:solidFill>
              </a:rPr>
              <a:t> (stabilizes activations)</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b="1" lang="en">
                <a:solidFill>
                  <a:schemeClr val="dk1"/>
                </a:solidFill>
              </a:rPr>
              <a:t>Classifier head</a:t>
            </a:r>
            <a:r>
              <a:rPr lang="en">
                <a:solidFill>
                  <a:schemeClr val="dk1"/>
                </a:solidFill>
              </a:rPr>
              <a:t> (final class decision)”</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 component analysis, i inject the </a:t>
            </a:r>
            <a:r>
              <a:rPr i="1" lang="en">
                <a:solidFill>
                  <a:schemeClr val="dk1"/>
                </a:solidFill>
              </a:rPr>
              <a:t>same number of faults</a:t>
            </a:r>
            <a:r>
              <a:rPr lang="en">
                <a:solidFill>
                  <a:schemeClr val="dk1"/>
                </a:solidFill>
              </a:rPr>
              <a:t> but restrict where they land, then compare reliability metrics like </a:t>
            </a:r>
            <a:r>
              <a:rPr b="1" lang="en">
                <a:solidFill>
                  <a:schemeClr val="dk1"/>
                </a:solidFill>
              </a:rPr>
              <a:t>P(acc&lt;50%)</a:t>
            </a:r>
            <a:r>
              <a:rPr lang="en">
                <a:solidFill>
                  <a:schemeClr val="dk1"/>
                </a:solidFill>
              </a:rPr>
              <a:t>. This tells us </a:t>
            </a:r>
            <a:r>
              <a:rPr i="1" lang="en">
                <a:solidFill>
                  <a:schemeClr val="dk1"/>
                </a:solidFill>
              </a:rPr>
              <a:t>which part is most sensitive</a:t>
            </a:r>
            <a:r>
              <a:rPr lang="en">
                <a:solidFill>
                  <a:schemeClr val="dk1"/>
                </a:solidFill>
              </a:rPr>
              <a: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“And then, we move to </a:t>
            </a:r>
            <a:r>
              <a:rPr b="1" lang="en">
                <a:solidFill>
                  <a:schemeClr val="dk1"/>
                </a:solidFill>
              </a:rPr>
              <a:t>Phase 3</a:t>
            </a:r>
            <a:r>
              <a:rPr lang="en">
                <a:solidFill>
                  <a:schemeClr val="dk1"/>
                </a:solidFill>
              </a:rPr>
              <a:t>: to implement a repair method using </a:t>
            </a:r>
            <a:r>
              <a:rPr b="1" lang="en">
                <a:solidFill>
                  <a:schemeClr val="dk1"/>
                </a:solidFill>
              </a:rPr>
              <a:t>LoRA/QLoRA</a:t>
            </a:r>
            <a:r>
              <a:rPr lang="en">
                <a:solidFill>
                  <a:schemeClr val="dk1"/>
                </a:solidFill>
              </a:rPr>
              <a:t>. The goal is to take a corrupted model from the knee region and recover performance without retraining the whole network.”</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Incremental Learning - 3</a:t>
            </a:r>
            <a:endParaRPr/>
          </a:p>
          <a:p>
            <a:pPr indent="0" lvl="0" marL="0" rtl="0" algn="l">
              <a:spcBef>
                <a:spcPts val="0"/>
              </a:spcBef>
              <a:spcAft>
                <a:spcPts val="0"/>
              </a:spcAft>
              <a:buNone/>
            </a:pPr>
            <a:r>
              <a:rPr lang="en" sz="1800"/>
              <a:t>30/01</a:t>
            </a:r>
            <a:endParaRPr sz="1800"/>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Pramit Kumar Bhaduri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7650" y="6013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Initial fault model</a:t>
            </a:r>
            <a:endParaRPr/>
          </a:p>
        </p:txBody>
      </p:sp>
      <p:sp>
        <p:nvSpPr>
          <p:cNvPr id="93" name="Google Shape;93;p14"/>
          <p:cNvSpPr txBox="1"/>
          <p:nvPr>
            <p:ph idx="1" type="body"/>
          </p:nvPr>
        </p:nvSpPr>
        <p:spPr>
          <a:xfrm>
            <a:off x="729450" y="1326200"/>
            <a:ext cx="5406000" cy="30138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000">
                <a:solidFill>
                  <a:srgbClr val="000000"/>
                </a:solidFill>
              </a:rPr>
              <a:t>Current method</a:t>
            </a:r>
            <a:r>
              <a:rPr lang="en" sz="1000">
                <a:solidFill>
                  <a:srgbClr val="000000"/>
                </a:solidFill>
              </a:rPr>
              <a:t>:</a:t>
            </a:r>
            <a:endParaRPr sz="1000">
              <a:solidFill>
                <a:srgbClr val="000000"/>
              </a:solidFill>
            </a:endParaRPr>
          </a:p>
          <a:p>
            <a:pPr indent="-292100" lvl="0" marL="457200" rtl="0" algn="l">
              <a:spcBef>
                <a:spcPts val="1200"/>
              </a:spcBef>
              <a:spcAft>
                <a:spcPts val="0"/>
              </a:spcAft>
              <a:buClr>
                <a:srgbClr val="000000"/>
              </a:buClr>
              <a:buSzPts val="1000"/>
              <a:buFont typeface="Lato"/>
              <a:buChar char="●"/>
            </a:pPr>
            <a:r>
              <a:rPr lang="en" sz="1000">
                <a:solidFill>
                  <a:srgbClr val="000000"/>
                </a:solidFill>
              </a:rPr>
              <a:t>multiplies a weight by 100</a:t>
            </a:r>
            <a:br>
              <a:rPr lang="en" sz="1000">
                <a:solidFill>
                  <a:srgbClr val="000000"/>
                </a:solidFill>
              </a:rPr>
            </a:br>
            <a:endParaRPr sz="1000">
              <a:solidFill>
                <a:srgbClr val="000000"/>
              </a:solidFill>
            </a:endParaRPr>
          </a:p>
          <a:p>
            <a:pPr indent="0" lvl="0" marL="0" rtl="0" algn="l">
              <a:spcBef>
                <a:spcPts val="1200"/>
              </a:spcBef>
              <a:spcAft>
                <a:spcPts val="0"/>
              </a:spcAft>
              <a:buNone/>
            </a:pPr>
            <a:r>
              <a:rPr lang="en" sz="1000">
                <a:solidFill>
                  <a:srgbClr val="000000"/>
                </a:solidFill>
              </a:rPr>
              <a:t>This is a </a:t>
            </a:r>
            <a:r>
              <a:rPr b="1" lang="en" sz="1000">
                <a:solidFill>
                  <a:srgbClr val="000000"/>
                </a:solidFill>
              </a:rPr>
              <a:t>value corruption model</a:t>
            </a:r>
            <a:r>
              <a:rPr lang="en" sz="1000">
                <a:solidFill>
                  <a:srgbClr val="000000"/>
                </a:solidFill>
              </a:rPr>
              <a:t>, not a true “bit flip model”.</a:t>
            </a:r>
            <a:endParaRPr sz="1000">
              <a:solidFill>
                <a:srgbClr val="000000"/>
              </a:solidFill>
            </a:endParaRPr>
          </a:p>
          <a:p>
            <a:pPr indent="0" lvl="0" marL="0" rtl="0" algn="l">
              <a:spcBef>
                <a:spcPts val="1200"/>
              </a:spcBef>
              <a:spcAft>
                <a:spcPts val="0"/>
              </a:spcAft>
              <a:buNone/>
            </a:pPr>
            <a:r>
              <a:rPr lang="en" sz="1000">
                <a:solidFill>
                  <a:srgbClr val="000000"/>
                </a:solidFill>
              </a:rPr>
              <a:t>A true </a:t>
            </a:r>
            <a:r>
              <a:rPr b="1" lang="en" sz="1000">
                <a:solidFill>
                  <a:srgbClr val="000000"/>
                </a:solidFill>
              </a:rPr>
              <a:t>bit flip model</a:t>
            </a:r>
            <a:r>
              <a:rPr lang="en" sz="1000">
                <a:solidFill>
                  <a:srgbClr val="000000"/>
                </a:solidFill>
              </a:rPr>
              <a:t> would:</a:t>
            </a:r>
            <a:endParaRPr sz="1000">
              <a:solidFill>
                <a:srgbClr val="000000"/>
              </a:solidFill>
            </a:endParaRPr>
          </a:p>
          <a:p>
            <a:pPr indent="-292100" lvl="0" marL="457200" rtl="0" algn="l">
              <a:spcBef>
                <a:spcPts val="1200"/>
              </a:spcBef>
              <a:spcAft>
                <a:spcPts val="0"/>
              </a:spcAft>
              <a:buClr>
                <a:srgbClr val="000000"/>
              </a:buClr>
              <a:buSzPts val="1000"/>
              <a:buFont typeface="Lato"/>
              <a:buChar char="●"/>
            </a:pPr>
            <a:r>
              <a:rPr lang="en" sz="1000">
                <a:solidFill>
                  <a:srgbClr val="000000"/>
                </a:solidFill>
              </a:rPr>
              <a:t>take the float32 number in memory</a:t>
            </a:r>
            <a:br>
              <a:rPr lang="en" sz="1000">
                <a:solidFill>
                  <a:srgbClr val="000000"/>
                </a:solidFill>
              </a:rPr>
            </a:br>
            <a:endParaRPr sz="1000">
              <a:solidFill>
                <a:srgbClr val="000000"/>
              </a:solidFill>
            </a:endParaRPr>
          </a:p>
          <a:p>
            <a:pPr indent="-292100" lvl="0" marL="457200" rtl="0" algn="l">
              <a:spcBef>
                <a:spcPts val="0"/>
              </a:spcBef>
              <a:spcAft>
                <a:spcPts val="0"/>
              </a:spcAft>
              <a:buClr>
                <a:srgbClr val="000000"/>
              </a:buClr>
              <a:buSzPts val="1000"/>
              <a:buFont typeface="Lato"/>
              <a:buChar char="●"/>
            </a:pPr>
            <a:r>
              <a:rPr lang="en" sz="1000">
                <a:solidFill>
                  <a:srgbClr val="000000"/>
                </a:solidFill>
              </a:rPr>
              <a:t>flip one of its 32 bits</a:t>
            </a:r>
            <a:br>
              <a:rPr lang="en" sz="1000">
                <a:solidFill>
                  <a:srgbClr val="000000"/>
                </a:solidFill>
              </a:rPr>
            </a:br>
            <a:endParaRPr sz="1000">
              <a:solidFill>
                <a:srgbClr val="000000"/>
              </a:solidFill>
            </a:endParaRPr>
          </a:p>
          <a:p>
            <a:pPr indent="-292100" lvl="0" marL="457200" rtl="0" algn="l">
              <a:spcBef>
                <a:spcPts val="0"/>
              </a:spcBef>
              <a:spcAft>
                <a:spcPts val="0"/>
              </a:spcAft>
              <a:buClr>
                <a:srgbClr val="000000"/>
              </a:buClr>
              <a:buSzPts val="1000"/>
              <a:buFont typeface="Lato"/>
              <a:buChar char="●"/>
            </a:pPr>
            <a:r>
              <a:rPr lang="en" sz="1000">
                <a:solidFill>
                  <a:srgbClr val="000000"/>
                </a:solidFill>
              </a:rPr>
              <a:t>convert back to float</a:t>
            </a:r>
            <a:br>
              <a:rPr lang="en" sz="1000">
                <a:solidFill>
                  <a:srgbClr val="000000"/>
                </a:solidFill>
              </a:rPr>
            </a:br>
            <a:endParaRPr sz="1000">
              <a:solidFill>
                <a:srgbClr val="000000"/>
              </a:solidFill>
            </a:endParaRPr>
          </a:p>
          <a:p>
            <a:pPr indent="-292100" lvl="0" marL="457200" rtl="0" algn="l">
              <a:spcBef>
                <a:spcPts val="0"/>
              </a:spcBef>
              <a:spcAft>
                <a:spcPts val="0"/>
              </a:spcAft>
              <a:buClr>
                <a:srgbClr val="000000"/>
              </a:buClr>
              <a:buSzPts val="1000"/>
              <a:buFont typeface="Lato"/>
              <a:buChar char="●"/>
            </a:pPr>
            <a:r>
              <a:rPr lang="en" sz="1000">
                <a:solidFill>
                  <a:srgbClr val="000000"/>
                </a:solidFill>
              </a:rPr>
              <a:t>sometimes the value barely changes</a:t>
            </a:r>
            <a:br>
              <a:rPr lang="en" sz="1000">
                <a:solidFill>
                  <a:srgbClr val="000000"/>
                </a:solidFill>
              </a:rPr>
            </a:br>
            <a:endParaRPr sz="1000">
              <a:solidFill>
                <a:srgbClr val="000000"/>
              </a:solidFill>
            </a:endParaRPr>
          </a:p>
          <a:p>
            <a:pPr indent="-292100" lvl="0" marL="457200" rtl="0" algn="l">
              <a:spcBef>
                <a:spcPts val="0"/>
              </a:spcBef>
              <a:spcAft>
                <a:spcPts val="0"/>
              </a:spcAft>
              <a:buClr>
                <a:srgbClr val="000000"/>
              </a:buClr>
              <a:buSzPts val="1000"/>
              <a:buFont typeface="Lato"/>
              <a:buChar char="●"/>
            </a:pPr>
            <a:r>
              <a:rPr lang="en" sz="1000">
                <a:solidFill>
                  <a:srgbClr val="000000"/>
                </a:solidFill>
              </a:rPr>
              <a:t>sometimes it becomes huge or NaN (if exponent bits flip)</a:t>
            </a:r>
            <a:endParaRPr sz="1000">
              <a:solidFill>
                <a:srgbClr val="000000"/>
              </a:solidFill>
            </a:endParaRPr>
          </a:p>
          <a:p>
            <a:pPr indent="0" lvl="0" marL="0" rtl="0" algn="l">
              <a:spcBef>
                <a:spcPts val="1200"/>
              </a:spcBef>
              <a:spcAft>
                <a:spcPts val="1200"/>
              </a:spcAft>
              <a:buNone/>
            </a:pPr>
            <a:r>
              <a:t/>
            </a:r>
            <a:endParaRPr sz="1000"/>
          </a:p>
        </p:txBody>
      </p:sp>
      <p:pic>
        <p:nvPicPr>
          <p:cNvPr id="94" name="Google Shape;94;p14"/>
          <p:cNvPicPr preferRelativeResize="0"/>
          <p:nvPr/>
        </p:nvPicPr>
        <p:blipFill>
          <a:blip r:embed="rId3">
            <a:alphaModFix/>
          </a:blip>
          <a:stretch>
            <a:fillRect/>
          </a:stretch>
        </p:blipFill>
        <p:spPr>
          <a:xfrm>
            <a:off x="6231125" y="2419852"/>
            <a:ext cx="2185225" cy="1920150"/>
          </a:xfrm>
          <a:prstGeom prst="rect">
            <a:avLst/>
          </a:prstGeom>
          <a:noFill/>
          <a:ln>
            <a:noFill/>
          </a:ln>
        </p:spPr>
      </p:pic>
      <p:pic>
        <p:nvPicPr>
          <p:cNvPr id="95" name="Google Shape;95;p14"/>
          <p:cNvPicPr preferRelativeResize="0"/>
          <p:nvPr/>
        </p:nvPicPr>
        <p:blipFill>
          <a:blip r:embed="rId4">
            <a:alphaModFix/>
          </a:blip>
          <a:stretch>
            <a:fillRect/>
          </a:stretch>
        </p:blipFill>
        <p:spPr>
          <a:xfrm>
            <a:off x="6231138" y="1429400"/>
            <a:ext cx="2185224" cy="463976"/>
          </a:xfrm>
          <a:prstGeom prst="rect">
            <a:avLst/>
          </a:prstGeom>
          <a:noFill/>
          <a:ln>
            <a:noFill/>
          </a:ln>
        </p:spPr>
      </p:pic>
      <p:sp>
        <p:nvSpPr>
          <p:cNvPr id="96" name="Google Shape;96;p14"/>
          <p:cNvSpPr txBox="1"/>
          <p:nvPr/>
        </p:nvSpPr>
        <p:spPr>
          <a:xfrm>
            <a:off x="7042488" y="1979800"/>
            <a:ext cx="562500" cy="11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Ubuntu"/>
                <a:ea typeface="Ubuntu"/>
                <a:cs typeface="Ubuntu"/>
                <a:sym typeface="Ubuntu"/>
              </a:rPr>
              <a:t>V/S</a:t>
            </a:r>
            <a:endParaRPr b="1">
              <a:solidFill>
                <a:srgbClr val="FF0000"/>
              </a:solidFill>
              <a:latin typeface="Ubuntu"/>
              <a:ea typeface="Ubuntu"/>
              <a:cs typeface="Ubuntu"/>
              <a:sym typeface="Ubuntu"/>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5"/>
          <p:cNvSpPr txBox="1"/>
          <p:nvPr>
            <p:ph type="title"/>
          </p:nvPr>
        </p:nvSpPr>
        <p:spPr>
          <a:xfrm>
            <a:off x="727650" y="6013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BER? (Bit Error Rate)</a:t>
            </a:r>
            <a:endParaRPr/>
          </a:p>
        </p:txBody>
      </p:sp>
      <p:sp>
        <p:nvSpPr>
          <p:cNvPr id="102" name="Google Shape;102;p15"/>
          <p:cNvSpPr txBox="1"/>
          <p:nvPr>
            <p:ph idx="1" type="body"/>
          </p:nvPr>
        </p:nvSpPr>
        <p:spPr>
          <a:xfrm>
            <a:off x="729450" y="1326200"/>
            <a:ext cx="7686900" cy="3013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2"/>
                </a:solidFill>
              </a:rPr>
              <a:t>“</a:t>
            </a:r>
            <a:r>
              <a:rPr i="1" lang="en" sz="1200">
                <a:solidFill>
                  <a:schemeClr val="dk2"/>
                </a:solidFill>
              </a:rPr>
              <a:t>probability that any stored bit flips from 0→1 or 1→0 due to radiation</a:t>
            </a:r>
            <a:r>
              <a:rPr lang="en" sz="1200">
                <a:solidFill>
                  <a:schemeClr val="dk2"/>
                </a:solidFill>
              </a:rPr>
              <a:t>”</a:t>
            </a:r>
            <a:endParaRPr sz="1200">
              <a:solidFill>
                <a:schemeClr val="dk2"/>
              </a:solidFill>
            </a:endParaRPr>
          </a:p>
          <a:p>
            <a:pPr indent="0" lvl="0" marL="0" rtl="0" algn="l">
              <a:spcBef>
                <a:spcPts val="1400"/>
              </a:spcBef>
              <a:spcAft>
                <a:spcPts val="0"/>
              </a:spcAft>
              <a:buNone/>
            </a:pPr>
            <a:r>
              <a:rPr lang="en" sz="1100">
                <a:solidFill>
                  <a:schemeClr val="dk2"/>
                </a:solidFill>
              </a:rPr>
              <a:t>Why “</a:t>
            </a:r>
            <a:r>
              <a:rPr b="1" lang="en" sz="1100">
                <a:solidFill>
                  <a:schemeClr val="dk2"/>
                </a:solidFill>
              </a:rPr>
              <a:t>bit</a:t>
            </a:r>
            <a:r>
              <a:rPr lang="en" sz="1100">
                <a:solidFill>
                  <a:schemeClr val="dk2"/>
                </a:solidFill>
              </a:rPr>
              <a:t>” matters</a:t>
            </a:r>
            <a:endParaRPr sz="1100">
              <a:solidFill>
                <a:schemeClr val="dk2"/>
              </a:solidFill>
            </a:endParaRPr>
          </a:p>
          <a:p>
            <a:pPr indent="0" lvl="0" marL="0" rtl="0" algn="l">
              <a:spcBef>
                <a:spcPts val="1200"/>
              </a:spcBef>
              <a:spcAft>
                <a:spcPts val="0"/>
              </a:spcAft>
              <a:buNone/>
            </a:pPr>
            <a:r>
              <a:rPr lang="en" sz="1100">
                <a:solidFill>
                  <a:schemeClr val="dk2"/>
                </a:solidFill>
              </a:rPr>
              <a:t>Model weights are stored as numbers in memory.</a:t>
            </a:r>
            <a:endParaRPr sz="1100">
              <a:solidFill>
                <a:schemeClr val="dk2"/>
              </a:solidFill>
            </a:endParaRPr>
          </a:p>
          <a:p>
            <a:pPr indent="0" lvl="0" marL="0" rtl="0" algn="l">
              <a:spcBef>
                <a:spcPts val="1200"/>
              </a:spcBef>
              <a:spcAft>
                <a:spcPts val="0"/>
              </a:spcAft>
              <a:buNone/>
            </a:pPr>
            <a:r>
              <a:rPr lang="en" sz="1100">
                <a:solidFill>
                  <a:schemeClr val="dk2"/>
                </a:solidFill>
              </a:rPr>
              <a:t>If we store weights as </a:t>
            </a:r>
            <a:r>
              <a:rPr b="1" lang="en" sz="1100">
                <a:solidFill>
                  <a:schemeClr val="dk2"/>
                </a:solidFill>
              </a:rPr>
              <a:t>float32</a:t>
            </a:r>
            <a:r>
              <a:rPr lang="en" sz="1100">
                <a:solidFill>
                  <a:schemeClr val="dk2"/>
                </a:solidFill>
              </a:rPr>
              <a:t>:</a:t>
            </a:r>
            <a:endParaRPr sz="1100">
              <a:solidFill>
                <a:schemeClr val="dk2"/>
              </a:solidFill>
            </a:endParaRPr>
          </a:p>
          <a:p>
            <a:pPr indent="-298450" lvl="0" marL="457200" rtl="0" algn="l">
              <a:spcBef>
                <a:spcPts val="1200"/>
              </a:spcBef>
              <a:spcAft>
                <a:spcPts val="0"/>
              </a:spcAft>
              <a:buClr>
                <a:schemeClr val="dk2"/>
              </a:buClr>
              <a:buSzPts val="1100"/>
              <a:buFont typeface="Arial"/>
              <a:buChar char="●"/>
            </a:pPr>
            <a:r>
              <a:rPr lang="en" sz="1100">
                <a:solidFill>
                  <a:schemeClr val="dk2"/>
                </a:solidFill>
              </a:rPr>
              <a:t>Each weight = 32 bits</a:t>
            </a:r>
            <a:br>
              <a:rPr lang="en" sz="1100">
                <a:solidFill>
                  <a:schemeClr val="dk2"/>
                </a:solidFill>
              </a:rPr>
            </a:br>
            <a:endParaRPr sz="1100">
              <a:solidFill>
                <a:schemeClr val="dk2"/>
              </a:solidFill>
            </a:endParaRPr>
          </a:p>
          <a:p>
            <a:pPr indent="-298450" lvl="0" marL="457200" rtl="0" algn="l">
              <a:spcBef>
                <a:spcPts val="0"/>
              </a:spcBef>
              <a:spcAft>
                <a:spcPts val="0"/>
              </a:spcAft>
              <a:buClr>
                <a:schemeClr val="dk2"/>
              </a:buClr>
              <a:buSzPts val="1100"/>
              <a:buFont typeface="Lato"/>
              <a:buChar char="●"/>
            </a:pPr>
            <a:r>
              <a:rPr lang="en" sz="1100">
                <a:solidFill>
                  <a:schemeClr val="dk2"/>
                </a:solidFill>
              </a:rPr>
              <a:t>If we have N parameters:</a:t>
            </a:r>
            <a:br>
              <a:rPr lang="en" sz="1100">
                <a:solidFill>
                  <a:schemeClr val="dk2"/>
                </a:solidFill>
              </a:rPr>
            </a:br>
            <a:endParaRPr sz="1100">
              <a:solidFill>
                <a:schemeClr val="dk2"/>
              </a:solidFill>
            </a:endParaRPr>
          </a:p>
          <a:p>
            <a:pPr indent="-298450" lvl="1" marL="914400" rtl="0" algn="l">
              <a:spcBef>
                <a:spcPts val="0"/>
              </a:spcBef>
              <a:spcAft>
                <a:spcPts val="0"/>
              </a:spcAft>
              <a:buClr>
                <a:schemeClr val="dk2"/>
              </a:buClr>
              <a:buSzPts val="1100"/>
              <a:buFont typeface="Lato"/>
              <a:buChar char="○"/>
            </a:pPr>
            <a:r>
              <a:rPr lang="en">
                <a:solidFill>
                  <a:schemeClr val="dk2"/>
                </a:solidFill>
              </a:rPr>
              <a:t>total bits stored = N * 32</a:t>
            </a:r>
            <a:br>
              <a:rPr lang="en">
                <a:solidFill>
                  <a:schemeClr val="dk2"/>
                </a:solidFill>
              </a:rPr>
            </a:br>
            <a:endParaRPr>
              <a:solidFill>
                <a:schemeClr val="dk2"/>
              </a:solidFill>
            </a:endParaRPr>
          </a:p>
          <a:p>
            <a:pPr indent="0" lvl="0" marL="0" rtl="0" algn="l">
              <a:spcBef>
                <a:spcPts val="1200"/>
              </a:spcBef>
              <a:spcAft>
                <a:spcPts val="0"/>
              </a:spcAft>
              <a:buNone/>
            </a:pPr>
            <a:r>
              <a:t/>
            </a:r>
            <a:endParaRPr sz="1100">
              <a:solidFill>
                <a:schemeClr val="dk2"/>
              </a:solidFill>
            </a:endParaRPr>
          </a:p>
          <a:p>
            <a:pPr indent="0" lvl="0" marL="0" rtl="0" algn="l">
              <a:spcBef>
                <a:spcPts val="1200"/>
              </a:spcBef>
              <a:spcAft>
                <a:spcPts val="0"/>
              </a:spcAft>
              <a:buNone/>
            </a:pPr>
            <a:r>
              <a:t/>
            </a:r>
            <a:endParaRPr sz="900">
              <a:solidFill>
                <a:schemeClr val="dk2"/>
              </a:solidFill>
            </a:endParaRPr>
          </a:p>
          <a:p>
            <a:pPr indent="0" lvl="0" marL="0" rtl="0" algn="l">
              <a:spcBef>
                <a:spcPts val="1200"/>
              </a:spcBef>
              <a:spcAft>
                <a:spcPts val="1200"/>
              </a:spcAft>
              <a:buNone/>
            </a:pPr>
            <a:r>
              <a:t/>
            </a:r>
            <a:endParaRPr sz="900">
              <a:solidFill>
                <a:schemeClr val="dk2"/>
              </a:solidFill>
            </a:endParaRPr>
          </a:p>
        </p:txBody>
      </p:sp>
      <p:pic>
        <p:nvPicPr>
          <p:cNvPr descr="Programming (Provided by Getty Images)" id="103" name="Google Shape;103;p15"/>
          <p:cNvPicPr preferRelativeResize="0"/>
          <p:nvPr/>
        </p:nvPicPr>
        <p:blipFill>
          <a:blip r:embed="rId3">
            <a:alphaModFix/>
          </a:blip>
          <a:stretch>
            <a:fillRect/>
          </a:stretch>
        </p:blipFill>
        <p:spPr>
          <a:xfrm>
            <a:off x="7385446" y="601375"/>
            <a:ext cx="1030902" cy="687600"/>
          </a:xfrm>
          <a:prstGeom prst="rect">
            <a:avLst/>
          </a:prstGeom>
          <a:noFill/>
          <a:ln>
            <a:noFill/>
          </a:ln>
        </p:spPr>
      </p:pic>
      <p:sp>
        <p:nvSpPr>
          <p:cNvPr id="104" name="Google Shape;104;p15"/>
          <p:cNvSpPr txBox="1"/>
          <p:nvPr/>
        </p:nvSpPr>
        <p:spPr>
          <a:xfrm>
            <a:off x="4650300" y="1748425"/>
            <a:ext cx="3766200" cy="2588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100" u="sng">
                <a:solidFill>
                  <a:schemeClr val="dk2"/>
                </a:solidFill>
                <a:latin typeface="Lato"/>
                <a:ea typeface="Lato"/>
                <a:cs typeface="Lato"/>
                <a:sym typeface="Lato"/>
              </a:rPr>
              <a:t>Quick numerical feel</a:t>
            </a:r>
            <a:endParaRPr b="1" sz="1100" u="sng">
              <a:solidFill>
                <a:schemeClr val="dk2"/>
              </a:solidFill>
              <a:latin typeface="Lato"/>
              <a:ea typeface="Lato"/>
              <a:cs typeface="Lato"/>
              <a:sym typeface="Lato"/>
            </a:endParaRPr>
          </a:p>
          <a:p>
            <a:pPr indent="0" lvl="0" marL="0" rtl="0" algn="l">
              <a:lnSpc>
                <a:spcPct val="115000"/>
              </a:lnSpc>
              <a:spcBef>
                <a:spcPts val="1200"/>
              </a:spcBef>
              <a:spcAft>
                <a:spcPts val="0"/>
              </a:spcAft>
              <a:buNone/>
            </a:pPr>
            <a:r>
              <a:rPr lang="en" sz="1100">
                <a:solidFill>
                  <a:schemeClr val="dk2"/>
                </a:solidFill>
                <a:latin typeface="Lato"/>
                <a:ea typeface="Lato"/>
                <a:cs typeface="Lato"/>
                <a:sym typeface="Lato"/>
              </a:rPr>
              <a:t>Suppose our model has ~5 million parameters (example scale).</a:t>
            </a:r>
            <a:endParaRPr sz="1100">
              <a:solidFill>
                <a:schemeClr val="dk2"/>
              </a:solidFill>
              <a:latin typeface="Lato"/>
              <a:ea typeface="Lato"/>
              <a:cs typeface="Lato"/>
              <a:sym typeface="Lato"/>
            </a:endParaRPr>
          </a:p>
          <a:p>
            <a:pPr indent="-298450" lvl="0" marL="457200" rtl="0" algn="l">
              <a:lnSpc>
                <a:spcPct val="115000"/>
              </a:lnSpc>
              <a:spcBef>
                <a:spcPts val="1200"/>
              </a:spcBef>
              <a:spcAft>
                <a:spcPts val="0"/>
              </a:spcAft>
              <a:buClr>
                <a:schemeClr val="dk2"/>
              </a:buClr>
              <a:buSzPts val="1100"/>
              <a:buFont typeface="Lato"/>
              <a:buChar char="●"/>
            </a:pPr>
            <a:r>
              <a:rPr lang="en" sz="1100">
                <a:solidFill>
                  <a:schemeClr val="dk2"/>
                </a:solidFill>
                <a:latin typeface="Lato"/>
                <a:ea typeface="Lato"/>
                <a:cs typeface="Lato"/>
                <a:sym typeface="Lato"/>
              </a:rPr>
              <a:t>float32 bits = 5,000,000 × 32 = 160,000,000 bits</a:t>
            </a:r>
            <a:br>
              <a:rPr lang="en" sz="1100">
                <a:solidFill>
                  <a:schemeClr val="dk2"/>
                </a:solidFill>
                <a:latin typeface="Lato"/>
                <a:ea typeface="Lato"/>
                <a:cs typeface="Lato"/>
                <a:sym typeface="Lato"/>
              </a:rPr>
            </a:br>
            <a:endParaRPr sz="1100">
              <a:solidFill>
                <a:schemeClr val="dk2"/>
              </a:solidFill>
              <a:latin typeface="Lato"/>
              <a:ea typeface="Lato"/>
              <a:cs typeface="Lato"/>
              <a:sym typeface="Lato"/>
            </a:endParaRPr>
          </a:p>
          <a:p>
            <a:pPr indent="0" lvl="0" marL="0" rtl="0" algn="l">
              <a:lnSpc>
                <a:spcPct val="115000"/>
              </a:lnSpc>
              <a:spcBef>
                <a:spcPts val="1200"/>
              </a:spcBef>
              <a:spcAft>
                <a:spcPts val="0"/>
              </a:spcAft>
              <a:buNone/>
            </a:pPr>
            <a:r>
              <a:rPr lang="en" sz="1100">
                <a:solidFill>
                  <a:schemeClr val="dk2"/>
                </a:solidFill>
                <a:latin typeface="Lato"/>
                <a:ea typeface="Lato"/>
                <a:cs typeface="Lato"/>
                <a:sym typeface="Lato"/>
              </a:rPr>
              <a:t>If BER = 10^−9</a:t>
            </a:r>
            <a:br>
              <a:rPr lang="en" sz="1100">
                <a:solidFill>
                  <a:schemeClr val="dk2"/>
                </a:solidFill>
                <a:latin typeface="Lato"/>
                <a:ea typeface="Lato"/>
                <a:cs typeface="Lato"/>
                <a:sym typeface="Lato"/>
              </a:rPr>
            </a:br>
            <a:r>
              <a:rPr lang="en" sz="1100">
                <a:solidFill>
                  <a:schemeClr val="dk2"/>
                </a:solidFill>
                <a:latin typeface="Lato"/>
                <a:ea typeface="Lato"/>
                <a:cs typeface="Lato"/>
                <a:sym typeface="Lato"/>
              </a:rPr>
              <a:t> </a:t>
            </a:r>
            <a:r>
              <a:rPr b="1" lang="en" sz="1100">
                <a:solidFill>
                  <a:schemeClr val="dk2"/>
                </a:solidFill>
                <a:latin typeface="Lato"/>
                <a:ea typeface="Lato"/>
                <a:cs typeface="Lato"/>
                <a:sym typeface="Lato"/>
              </a:rPr>
              <a:t>Expected flips</a:t>
            </a:r>
            <a:r>
              <a:rPr lang="en" sz="1100">
                <a:solidFill>
                  <a:schemeClr val="dk2"/>
                </a:solidFill>
                <a:latin typeface="Lato"/>
                <a:ea typeface="Lato"/>
                <a:cs typeface="Lato"/>
                <a:sym typeface="Lato"/>
              </a:rPr>
              <a:t> ≈ 0.16 flips → usually 0 or 1 flip</a:t>
            </a:r>
            <a:endParaRPr sz="1100">
              <a:solidFill>
                <a:schemeClr val="dk2"/>
              </a:solidFill>
              <a:latin typeface="Lato"/>
              <a:ea typeface="Lato"/>
              <a:cs typeface="Lato"/>
              <a:sym typeface="Lato"/>
            </a:endParaRPr>
          </a:p>
          <a:p>
            <a:pPr indent="0" lvl="0" marL="0" rtl="0" algn="l">
              <a:lnSpc>
                <a:spcPct val="115000"/>
              </a:lnSpc>
              <a:spcBef>
                <a:spcPts val="1200"/>
              </a:spcBef>
              <a:spcAft>
                <a:spcPts val="0"/>
              </a:spcAft>
              <a:buNone/>
            </a:pPr>
            <a:r>
              <a:rPr lang="en" sz="1100">
                <a:solidFill>
                  <a:schemeClr val="dk2"/>
                </a:solidFill>
                <a:latin typeface="Lato"/>
                <a:ea typeface="Lato"/>
                <a:cs typeface="Lato"/>
                <a:sym typeface="Lato"/>
              </a:rPr>
              <a:t>If BER = 10^−7</a:t>
            </a:r>
            <a:br>
              <a:rPr lang="en" sz="1100">
                <a:solidFill>
                  <a:schemeClr val="dk2"/>
                </a:solidFill>
                <a:latin typeface="Lato"/>
                <a:ea typeface="Lato"/>
                <a:cs typeface="Lato"/>
                <a:sym typeface="Lato"/>
              </a:rPr>
            </a:br>
            <a:r>
              <a:rPr lang="en" sz="1100">
                <a:solidFill>
                  <a:schemeClr val="dk2"/>
                </a:solidFill>
                <a:latin typeface="Lato"/>
                <a:ea typeface="Lato"/>
                <a:cs typeface="Lato"/>
                <a:sym typeface="Lato"/>
              </a:rPr>
              <a:t> </a:t>
            </a:r>
            <a:r>
              <a:rPr b="1" lang="en" sz="1100">
                <a:solidFill>
                  <a:schemeClr val="dk2"/>
                </a:solidFill>
                <a:latin typeface="Lato"/>
                <a:ea typeface="Lato"/>
                <a:cs typeface="Lato"/>
                <a:sym typeface="Lato"/>
              </a:rPr>
              <a:t>Expected flips</a:t>
            </a:r>
            <a:r>
              <a:rPr lang="en" sz="1100">
                <a:solidFill>
                  <a:schemeClr val="dk2"/>
                </a:solidFill>
                <a:latin typeface="Lato"/>
                <a:ea typeface="Lato"/>
                <a:cs typeface="Lato"/>
                <a:sym typeface="Lato"/>
              </a:rPr>
              <a:t> ≈ 16 flips → corrupting many weights</a:t>
            </a:r>
            <a:endParaRPr sz="1100">
              <a:solidFill>
                <a:schemeClr val="dk2"/>
              </a:solidFill>
              <a:latin typeface="Lato"/>
              <a:ea typeface="Lato"/>
              <a:cs typeface="Lato"/>
              <a:sym typeface="Lato"/>
            </a:endParaRPr>
          </a:p>
          <a:p>
            <a:pPr indent="0" lvl="0" marL="0" rtl="0" algn="l">
              <a:lnSpc>
                <a:spcPct val="115000"/>
              </a:lnSpc>
              <a:spcBef>
                <a:spcPts val="1200"/>
              </a:spcBef>
              <a:spcAft>
                <a:spcPts val="1200"/>
              </a:spcAft>
              <a:buNone/>
            </a:pPr>
            <a:r>
              <a:rPr lang="en" sz="1100">
                <a:solidFill>
                  <a:schemeClr val="dk2"/>
                </a:solidFill>
                <a:latin typeface="Lato"/>
                <a:ea typeface="Lato"/>
                <a:cs typeface="Lato"/>
                <a:sym typeface="Lato"/>
              </a:rPr>
              <a:t>So BER acts like a </a:t>
            </a:r>
            <a:r>
              <a:rPr b="1" lang="en" sz="1100">
                <a:solidFill>
                  <a:schemeClr val="dk2"/>
                </a:solidFill>
                <a:latin typeface="Lato"/>
                <a:ea typeface="Lato"/>
                <a:cs typeface="Lato"/>
                <a:sym typeface="Lato"/>
              </a:rPr>
              <a:t>knob</a:t>
            </a:r>
            <a:r>
              <a:rPr lang="en" sz="1100">
                <a:solidFill>
                  <a:schemeClr val="dk2"/>
                </a:solidFill>
                <a:latin typeface="Lato"/>
                <a:ea typeface="Lato"/>
                <a:cs typeface="Lato"/>
                <a:sym typeface="Lato"/>
              </a:rPr>
              <a:t> for “space harshness”</a:t>
            </a:r>
            <a:endParaRPr sz="1100">
              <a:solidFill>
                <a:schemeClr val="dk2"/>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6"/>
          <p:cNvSpPr txBox="1"/>
          <p:nvPr>
            <p:ph type="title"/>
          </p:nvPr>
        </p:nvSpPr>
        <p:spPr>
          <a:xfrm>
            <a:off x="727650" y="6013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Phase 2: Bit-Flip Fault Injection (Minimal Working)</a:t>
            </a:r>
            <a:endParaRPr/>
          </a:p>
        </p:txBody>
      </p:sp>
      <p:sp>
        <p:nvSpPr>
          <p:cNvPr id="110" name="Google Shape;110;p16"/>
          <p:cNvSpPr txBox="1"/>
          <p:nvPr>
            <p:ph idx="1" type="body"/>
          </p:nvPr>
        </p:nvSpPr>
        <p:spPr>
          <a:xfrm>
            <a:off x="729450" y="1326200"/>
            <a:ext cx="5220300" cy="3746400"/>
          </a:xfrm>
          <a:prstGeom prst="rect">
            <a:avLst/>
          </a:prstGeom>
        </p:spPr>
        <p:txBody>
          <a:bodyPr anchorCtr="0" anchor="t" bIns="91425" lIns="91425" spcFirstLastPara="1" rIns="91425" wrap="square" tIns="91425">
            <a:noAutofit/>
          </a:bodyPr>
          <a:lstStyle/>
          <a:p>
            <a:pPr indent="0" lvl="0" marL="0" rtl="0" algn="l">
              <a:lnSpc>
                <a:spcPct val="100000"/>
              </a:lnSpc>
              <a:spcBef>
                <a:spcPts val="1200"/>
              </a:spcBef>
              <a:spcAft>
                <a:spcPts val="0"/>
              </a:spcAft>
              <a:buNone/>
            </a:pPr>
            <a:r>
              <a:rPr lang="en" sz="900">
                <a:solidFill>
                  <a:schemeClr val="dk2"/>
                </a:solidFill>
              </a:rPr>
              <a:t>Load trained ViT-Tiny EuroSAT checkpoint (</a:t>
            </a:r>
            <a:r>
              <a:rPr b="1" lang="en" sz="900">
                <a:solidFill>
                  <a:schemeClr val="dk2"/>
                </a:solidFill>
              </a:rPr>
              <a:t>vit_eurosat_clean.pth</a:t>
            </a:r>
            <a:r>
              <a:rPr lang="en" sz="900">
                <a:solidFill>
                  <a:schemeClr val="dk2"/>
                </a:solidFill>
              </a:rPr>
              <a:t>)</a:t>
            </a:r>
            <a:endParaRPr sz="900">
              <a:solidFill>
                <a:schemeClr val="dk2"/>
              </a:solidFill>
            </a:endParaRPr>
          </a:p>
          <a:p>
            <a:pPr indent="0" lvl="0" marL="0" rtl="0" algn="l">
              <a:lnSpc>
                <a:spcPct val="100000"/>
              </a:lnSpc>
              <a:spcBef>
                <a:spcPts val="1200"/>
              </a:spcBef>
              <a:spcAft>
                <a:spcPts val="0"/>
              </a:spcAft>
              <a:buNone/>
            </a:pPr>
            <a:r>
              <a:rPr b="1" lang="en" sz="900">
                <a:solidFill>
                  <a:schemeClr val="dk2"/>
                </a:solidFill>
              </a:rPr>
              <a:t>Baseline</a:t>
            </a:r>
            <a:r>
              <a:rPr lang="en" sz="900">
                <a:solidFill>
                  <a:schemeClr val="dk2"/>
                </a:solidFill>
              </a:rPr>
              <a:t> evaluation on test set</a:t>
            </a:r>
            <a:endParaRPr sz="900">
              <a:solidFill>
                <a:schemeClr val="dk2"/>
              </a:solidFill>
            </a:endParaRPr>
          </a:p>
          <a:p>
            <a:pPr indent="0" lvl="0" marL="0" rtl="0" algn="l">
              <a:lnSpc>
                <a:spcPct val="100000"/>
              </a:lnSpc>
              <a:spcBef>
                <a:spcPts val="1200"/>
              </a:spcBef>
              <a:spcAft>
                <a:spcPts val="0"/>
              </a:spcAft>
              <a:buNone/>
            </a:pPr>
            <a:r>
              <a:rPr lang="en" sz="900">
                <a:solidFill>
                  <a:schemeClr val="dk2"/>
                </a:solidFill>
              </a:rPr>
              <a:t>Fault model: random SEU bit-flips</a:t>
            </a:r>
            <a:endParaRPr sz="900">
              <a:solidFill>
                <a:schemeClr val="dk2"/>
              </a:solidFill>
            </a:endParaRPr>
          </a:p>
          <a:p>
            <a:pPr indent="-285750" lvl="1" marL="914400" rtl="0" algn="l">
              <a:spcBef>
                <a:spcPts val="1200"/>
              </a:spcBef>
              <a:spcAft>
                <a:spcPts val="0"/>
              </a:spcAft>
              <a:buClr>
                <a:schemeClr val="dk2"/>
              </a:buClr>
              <a:buSzPts val="900"/>
              <a:buFont typeface="Lato"/>
              <a:buChar char="○"/>
            </a:pPr>
            <a:r>
              <a:rPr lang="en" sz="900">
                <a:solidFill>
                  <a:schemeClr val="dk2"/>
                </a:solidFill>
              </a:rPr>
              <a:t>choose random parameter (entire model)</a:t>
            </a:r>
            <a:endParaRPr sz="900">
              <a:solidFill>
                <a:schemeClr val="dk2"/>
              </a:solidFill>
            </a:endParaRPr>
          </a:p>
          <a:p>
            <a:pPr indent="-285750" lvl="1" marL="914400" rtl="0" algn="l">
              <a:spcBef>
                <a:spcPts val="0"/>
              </a:spcBef>
              <a:spcAft>
                <a:spcPts val="0"/>
              </a:spcAft>
              <a:buClr>
                <a:schemeClr val="dk2"/>
              </a:buClr>
              <a:buSzPts val="900"/>
              <a:buFont typeface="Lato"/>
              <a:buChar char="○"/>
            </a:pPr>
            <a:r>
              <a:rPr lang="en" sz="900">
                <a:solidFill>
                  <a:schemeClr val="dk2"/>
                </a:solidFill>
              </a:rPr>
              <a:t>choose random element</a:t>
            </a:r>
            <a:endParaRPr sz="900">
              <a:solidFill>
                <a:schemeClr val="dk2"/>
              </a:solidFill>
            </a:endParaRPr>
          </a:p>
          <a:p>
            <a:pPr indent="-285750" lvl="1" marL="914400" rtl="0" algn="l">
              <a:spcBef>
                <a:spcPts val="0"/>
              </a:spcBef>
              <a:spcAft>
                <a:spcPts val="0"/>
              </a:spcAft>
              <a:buClr>
                <a:schemeClr val="dk2"/>
              </a:buClr>
              <a:buSzPts val="900"/>
              <a:buFont typeface="Arial"/>
              <a:buChar char="○"/>
            </a:pPr>
            <a:r>
              <a:rPr lang="en" sz="900">
                <a:solidFill>
                  <a:schemeClr val="dk2"/>
                </a:solidFill>
              </a:rPr>
              <a:t>flip 1 random IEEE-754 float32 bit</a:t>
            </a:r>
            <a:br>
              <a:rPr lang="en" sz="900">
                <a:solidFill>
                  <a:schemeClr val="dk2"/>
                </a:solidFill>
              </a:rPr>
            </a:br>
            <a:endParaRPr sz="900">
              <a:solidFill>
                <a:schemeClr val="dk2"/>
              </a:solidFill>
            </a:endParaRPr>
          </a:p>
          <a:p>
            <a:pPr indent="-285750" lvl="0" marL="457200" rtl="0" algn="l">
              <a:spcBef>
                <a:spcPts val="0"/>
              </a:spcBef>
              <a:spcAft>
                <a:spcPts val="0"/>
              </a:spcAft>
              <a:buClr>
                <a:schemeClr val="dk2"/>
              </a:buClr>
              <a:buSzPts val="900"/>
              <a:buFont typeface="Arial"/>
              <a:buChar char="●"/>
            </a:pPr>
            <a:r>
              <a:rPr b="1" lang="en" sz="900">
                <a:solidFill>
                  <a:schemeClr val="dk2"/>
                </a:solidFill>
              </a:rPr>
              <a:t>BER</a:t>
            </a:r>
            <a:r>
              <a:rPr lang="en" sz="900">
                <a:solidFill>
                  <a:schemeClr val="dk2"/>
                </a:solidFill>
              </a:rPr>
              <a:t> definition: per-parameter</a:t>
            </a:r>
            <a:endParaRPr sz="900">
              <a:solidFill>
                <a:schemeClr val="dk2"/>
              </a:solidFill>
            </a:endParaRPr>
          </a:p>
          <a:p>
            <a:pPr indent="-285750" lvl="1" marL="914400" rtl="0" algn="l">
              <a:spcBef>
                <a:spcPts val="0"/>
              </a:spcBef>
              <a:spcAft>
                <a:spcPts val="0"/>
              </a:spcAft>
              <a:buClr>
                <a:schemeClr val="dk2"/>
              </a:buClr>
              <a:buSzPts val="900"/>
              <a:buFont typeface="Lato"/>
              <a:buChar char="○"/>
            </a:pPr>
            <a:r>
              <a:rPr b="1" lang="en" sz="900">
                <a:solidFill>
                  <a:schemeClr val="dk2"/>
                </a:solidFill>
              </a:rPr>
              <a:t>n_faults=BER×#params</a:t>
            </a:r>
            <a:endParaRPr b="1" sz="900">
              <a:solidFill>
                <a:schemeClr val="dk2"/>
              </a:solidFill>
            </a:endParaRPr>
          </a:p>
          <a:p>
            <a:pPr indent="0" lvl="0" marL="0" rtl="0" algn="l">
              <a:spcBef>
                <a:spcPts val="1200"/>
              </a:spcBef>
              <a:spcAft>
                <a:spcPts val="0"/>
              </a:spcAft>
              <a:buNone/>
            </a:pPr>
            <a:r>
              <a:rPr lang="en" sz="900">
                <a:solidFill>
                  <a:schemeClr val="dk2"/>
                </a:solidFill>
              </a:rPr>
              <a:t>Monte-Carlo repetitions: 10 runs per BER point</a:t>
            </a:r>
            <a:endParaRPr sz="900">
              <a:solidFill>
                <a:schemeClr val="dk2"/>
              </a:solidFill>
            </a:endParaRPr>
          </a:p>
          <a:p>
            <a:pPr indent="0" lvl="0" marL="0" rtl="0" algn="l">
              <a:spcBef>
                <a:spcPts val="1400"/>
              </a:spcBef>
              <a:spcAft>
                <a:spcPts val="0"/>
              </a:spcAft>
              <a:buNone/>
            </a:pPr>
            <a:r>
              <a:rPr lang="en" sz="900">
                <a:solidFill>
                  <a:schemeClr val="dk2"/>
                </a:solidFill>
              </a:rPr>
              <a:t>Setup numbers</a:t>
            </a:r>
            <a:endParaRPr sz="900">
              <a:solidFill>
                <a:schemeClr val="dk2"/>
              </a:solidFill>
            </a:endParaRPr>
          </a:p>
          <a:p>
            <a:pPr indent="-285750" lvl="0" marL="457200" rtl="0" algn="l">
              <a:spcBef>
                <a:spcPts val="1200"/>
              </a:spcBef>
              <a:spcAft>
                <a:spcPts val="0"/>
              </a:spcAft>
              <a:buClr>
                <a:schemeClr val="dk2"/>
              </a:buClr>
              <a:buSzPts val="900"/>
              <a:buFont typeface="Arial"/>
              <a:buChar char="●"/>
            </a:pPr>
            <a:r>
              <a:rPr lang="en" sz="900">
                <a:solidFill>
                  <a:schemeClr val="dk2"/>
                </a:solidFill>
              </a:rPr>
              <a:t>Total trainable parameters: </a:t>
            </a:r>
            <a:r>
              <a:rPr b="1" lang="en" sz="900">
                <a:solidFill>
                  <a:schemeClr val="dk2"/>
                </a:solidFill>
              </a:rPr>
              <a:t>5,526,346</a:t>
            </a:r>
            <a:endParaRPr b="1" sz="900">
              <a:solidFill>
                <a:schemeClr val="dk2"/>
              </a:solidFill>
            </a:endParaRPr>
          </a:p>
          <a:p>
            <a:pPr indent="-285750" lvl="0" marL="457200" rtl="0" algn="l">
              <a:spcBef>
                <a:spcPts val="0"/>
              </a:spcBef>
              <a:spcAft>
                <a:spcPts val="0"/>
              </a:spcAft>
              <a:buClr>
                <a:schemeClr val="dk2"/>
              </a:buClr>
              <a:buSzPts val="900"/>
              <a:buFont typeface="Arial"/>
              <a:buChar char="●"/>
            </a:pPr>
            <a:r>
              <a:rPr lang="en" sz="900">
                <a:solidFill>
                  <a:schemeClr val="dk2"/>
                </a:solidFill>
              </a:rPr>
              <a:t>BER = </a:t>
            </a:r>
            <a:r>
              <a:rPr b="1" lang="en" sz="900">
                <a:solidFill>
                  <a:schemeClr val="dk2"/>
                </a:solidFill>
              </a:rPr>
              <a:t>1e-6 → 5</a:t>
            </a:r>
            <a:r>
              <a:rPr lang="en" sz="900">
                <a:solidFill>
                  <a:schemeClr val="dk2"/>
                </a:solidFill>
              </a:rPr>
              <a:t> injected faults/run</a:t>
            </a:r>
            <a:endParaRPr sz="900">
              <a:solidFill>
                <a:schemeClr val="dk2"/>
              </a:solidFill>
            </a:endParaRPr>
          </a:p>
          <a:p>
            <a:pPr indent="0" lvl="0" marL="0" rtl="0" algn="l">
              <a:spcBef>
                <a:spcPts val="1400"/>
              </a:spcBef>
              <a:spcAft>
                <a:spcPts val="0"/>
              </a:spcAft>
              <a:buNone/>
            </a:pPr>
            <a:r>
              <a:rPr lang="en" sz="900">
                <a:solidFill>
                  <a:schemeClr val="dk2"/>
                </a:solidFill>
              </a:rPr>
              <a:t>Conclusion</a:t>
            </a:r>
            <a:endParaRPr sz="900">
              <a:solidFill>
                <a:schemeClr val="dk2"/>
              </a:solidFill>
            </a:endParaRPr>
          </a:p>
          <a:p>
            <a:pPr indent="-285750" lvl="0" marL="457200" rtl="0" algn="l">
              <a:spcBef>
                <a:spcPts val="1200"/>
              </a:spcBef>
              <a:spcAft>
                <a:spcPts val="0"/>
              </a:spcAft>
              <a:buClr>
                <a:schemeClr val="dk2"/>
              </a:buClr>
              <a:buSzPts val="900"/>
              <a:buFont typeface="Arial"/>
              <a:buChar char="●"/>
            </a:pPr>
            <a:r>
              <a:rPr lang="en" sz="900">
                <a:solidFill>
                  <a:schemeClr val="dk2"/>
                </a:solidFill>
              </a:rPr>
              <a:t>Low fault rate causes negligible degradation → next: BER sweep to observe failure curve.</a:t>
            </a:r>
            <a:endParaRPr sz="900">
              <a:solidFill>
                <a:schemeClr val="dk2"/>
              </a:solidFill>
            </a:endParaRPr>
          </a:p>
          <a:p>
            <a:pPr indent="0" lvl="0" marL="0" rtl="0" algn="l">
              <a:spcBef>
                <a:spcPts val="1200"/>
              </a:spcBef>
              <a:spcAft>
                <a:spcPts val="1200"/>
              </a:spcAft>
              <a:buNone/>
            </a:pPr>
            <a:r>
              <a:t/>
            </a:r>
            <a:endParaRPr sz="900">
              <a:solidFill>
                <a:schemeClr val="dk2"/>
              </a:solidFill>
            </a:endParaRPr>
          </a:p>
        </p:txBody>
      </p:sp>
      <p:pic>
        <p:nvPicPr>
          <p:cNvPr id="111" name="Google Shape;111;p16"/>
          <p:cNvPicPr preferRelativeResize="0"/>
          <p:nvPr/>
        </p:nvPicPr>
        <p:blipFill>
          <a:blip r:embed="rId3">
            <a:alphaModFix/>
          </a:blip>
          <a:stretch>
            <a:fillRect/>
          </a:stretch>
        </p:blipFill>
        <p:spPr>
          <a:xfrm>
            <a:off x="5526900" y="1758550"/>
            <a:ext cx="2889450" cy="233653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7"/>
          <p:cNvSpPr txBox="1"/>
          <p:nvPr>
            <p:ph type="title"/>
          </p:nvPr>
        </p:nvSpPr>
        <p:spPr>
          <a:xfrm>
            <a:off x="727650" y="6013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Next, Monte-Carlo Reliability Sweep</a:t>
            </a:r>
            <a:endParaRPr/>
          </a:p>
        </p:txBody>
      </p:sp>
      <p:sp>
        <p:nvSpPr>
          <p:cNvPr id="117" name="Google Shape;117;p17"/>
          <p:cNvSpPr txBox="1"/>
          <p:nvPr>
            <p:ph idx="1" type="body"/>
          </p:nvPr>
        </p:nvSpPr>
        <p:spPr>
          <a:xfrm>
            <a:off x="728550" y="1316450"/>
            <a:ext cx="7686900" cy="369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000000"/>
                </a:solidFill>
              </a:rPr>
              <a:t>Baseline</a:t>
            </a:r>
            <a:r>
              <a:rPr lang="en" sz="1100">
                <a:solidFill>
                  <a:srgbClr val="000000"/>
                </a:solidFill>
              </a:rPr>
              <a:t>: load clean checkpoint (trained ViT-Tiny) and measure test accuracy.</a:t>
            </a:r>
            <a:br>
              <a:rPr lang="en" sz="1100">
                <a:solidFill>
                  <a:srgbClr val="000000"/>
                </a:solidFill>
              </a:rPr>
            </a:br>
            <a:endParaRPr sz="1100">
              <a:solidFill>
                <a:srgbClr val="000000"/>
              </a:solidFill>
            </a:endParaRPr>
          </a:p>
          <a:p>
            <a:pPr indent="0" lvl="0" marL="0" rtl="0" algn="l">
              <a:spcBef>
                <a:spcPts val="1200"/>
              </a:spcBef>
              <a:spcAft>
                <a:spcPts val="0"/>
              </a:spcAft>
              <a:buNone/>
            </a:pPr>
            <a:r>
              <a:rPr b="1" lang="en" sz="1100">
                <a:solidFill>
                  <a:srgbClr val="000000"/>
                </a:solidFill>
              </a:rPr>
              <a:t>Fault model</a:t>
            </a:r>
            <a:r>
              <a:rPr lang="en" sz="1100">
                <a:solidFill>
                  <a:srgbClr val="000000"/>
                </a:solidFill>
              </a:rPr>
              <a:t>: inject random IEEE-754 bit flips into random model parameters (global injection across the network).</a:t>
            </a:r>
            <a:br>
              <a:rPr lang="en" sz="1100">
                <a:solidFill>
                  <a:srgbClr val="000000"/>
                </a:solidFill>
              </a:rPr>
            </a:br>
            <a:endParaRPr sz="1100">
              <a:solidFill>
                <a:srgbClr val="000000"/>
              </a:solidFill>
            </a:endParaRPr>
          </a:p>
          <a:p>
            <a:pPr indent="0" lvl="0" marL="0" rtl="0" algn="l">
              <a:spcBef>
                <a:spcPts val="1200"/>
              </a:spcBef>
              <a:spcAft>
                <a:spcPts val="0"/>
              </a:spcAft>
              <a:buNone/>
            </a:pPr>
            <a:r>
              <a:rPr b="1" lang="en" sz="1100">
                <a:solidFill>
                  <a:srgbClr val="000000"/>
                </a:solidFill>
              </a:rPr>
              <a:t>Monte-Carlo method</a:t>
            </a:r>
            <a:r>
              <a:rPr lang="en" sz="1100">
                <a:solidFill>
                  <a:srgbClr val="000000"/>
                </a:solidFill>
              </a:rPr>
              <a:t>: for each BER value</a:t>
            </a:r>
            <a:br>
              <a:rPr lang="en" sz="1100">
                <a:solidFill>
                  <a:srgbClr val="000000"/>
                </a:solidFill>
              </a:rPr>
            </a:br>
            <a:endParaRPr sz="1100">
              <a:solidFill>
                <a:srgbClr val="000000"/>
              </a:solidFill>
            </a:endParaRPr>
          </a:p>
          <a:p>
            <a:pPr indent="-298450" lvl="0" marL="457200" rtl="0" algn="l">
              <a:spcBef>
                <a:spcPts val="1200"/>
              </a:spcBef>
              <a:spcAft>
                <a:spcPts val="0"/>
              </a:spcAft>
              <a:buClr>
                <a:srgbClr val="000000"/>
              </a:buClr>
              <a:buSzPts val="1100"/>
              <a:buFont typeface="Lato"/>
              <a:buChar char="●"/>
            </a:pPr>
            <a:r>
              <a:rPr b="1" lang="en" sz="1100">
                <a:solidFill>
                  <a:srgbClr val="000000"/>
                </a:solidFill>
              </a:rPr>
              <a:t>reset</a:t>
            </a:r>
            <a:r>
              <a:rPr lang="en" sz="1100">
                <a:solidFill>
                  <a:srgbClr val="000000"/>
                </a:solidFill>
              </a:rPr>
              <a:t> to clean checkpoint</a:t>
            </a:r>
            <a:endParaRPr sz="1100">
              <a:solidFill>
                <a:srgbClr val="000000"/>
              </a:solidFill>
            </a:endParaRPr>
          </a:p>
          <a:p>
            <a:pPr indent="-298450" lvl="0" marL="457200" rtl="0" algn="l">
              <a:spcBef>
                <a:spcPts val="0"/>
              </a:spcBef>
              <a:spcAft>
                <a:spcPts val="0"/>
              </a:spcAft>
              <a:buClr>
                <a:srgbClr val="000000"/>
              </a:buClr>
              <a:buSzPts val="1100"/>
              <a:buFont typeface="Lato"/>
              <a:buChar char="●"/>
            </a:pPr>
            <a:r>
              <a:rPr b="1" lang="en" sz="1100">
                <a:solidFill>
                  <a:srgbClr val="000000"/>
                </a:solidFill>
              </a:rPr>
              <a:t>inject</a:t>
            </a:r>
            <a:r>
              <a:rPr lang="en" sz="1100">
                <a:solidFill>
                  <a:srgbClr val="000000"/>
                </a:solidFill>
              </a:rPr>
              <a:t> N faults (derived from BER)</a:t>
            </a:r>
            <a:endParaRPr sz="1100">
              <a:solidFill>
                <a:srgbClr val="000000"/>
              </a:solidFill>
            </a:endParaRPr>
          </a:p>
          <a:p>
            <a:pPr indent="-298450" lvl="0" marL="457200" rtl="0" algn="l">
              <a:spcBef>
                <a:spcPts val="0"/>
              </a:spcBef>
              <a:spcAft>
                <a:spcPts val="0"/>
              </a:spcAft>
              <a:buClr>
                <a:srgbClr val="000000"/>
              </a:buClr>
              <a:buSzPts val="1100"/>
              <a:buFont typeface="Lato"/>
              <a:buChar char="●"/>
            </a:pPr>
            <a:r>
              <a:rPr b="1" lang="en" sz="1100">
                <a:solidFill>
                  <a:srgbClr val="000000"/>
                </a:solidFill>
              </a:rPr>
              <a:t>evaluate</a:t>
            </a:r>
            <a:r>
              <a:rPr lang="en" sz="1100">
                <a:solidFill>
                  <a:srgbClr val="000000"/>
                </a:solidFill>
              </a:rPr>
              <a:t> on test set</a:t>
            </a:r>
            <a:endParaRPr sz="1100">
              <a:solidFill>
                <a:srgbClr val="000000"/>
              </a:solidFill>
            </a:endParaRPr>
          </a:p>
          <a:p>
            <a:pPr indent="-298450" lvl="0" marL="457200" rtl="0" algn="l">
              <a:spcBef>
                <a:spcPts val="0"/>
              </a:spcBef>
              <a:spcAft>
                <a:spcPts val="0"/>
              </a:spcAft>
              <a:buClr>
                <a:srgbClr val="000000"/>
              </a:buClr>
              <a:buSzPts val="1100"/>
              <a:buFont typeface="Lato"/>
              <a:buChar char="●"/>
            </a:pPr>
            <a:r>
              <a:rPr b="1" lang="en" sz="1100">
                <a:solidFill>
                  <a:srgbClr val="000000"/>
                </a:solidFill>
              </a:rPr>
              <a:t>repeat</a:t>
            </a:r>
            <a:r>
              <a:rPr lang="en" sz="1100">
                <a:solidFill>
                  <a:srgbClr val="000000"/>
                </a:solidFill>
              </a:rPr>
              <a:t> 20 independent trials</a:t>
            </a:r>
            <a:br>
              <a:rPr lang="en" sz="1100">
                <a:solidFill>
                  <a:srgbClr val="000000"/>
                </a:solidFill>
              </a:rPr>
            </a:br>
            <a:endParaRPr sz="1100">
              <a:solidFill>
                <a:srgbClr val="000000"/>
              </a:solidFill>
            </a:endParaRPr>
          </a:p>
          <a:p>
            <a:pPr indent="0" lvl="0" marL="0" rtl="0" algn="l">
              <a:spcBef>
                <a:spcPts val="1200"/>
              </a:spcBef>
              <a:spcAft>
                <a:spcPts val="0"/>
              </a:spcAft>
              <a:buNone/>
            </a:pPr>
            <a:r>
              <a:rPr lang="en" sz="1100">
                <a:solidFill>
                  <a:srgbClr val="000000"/>
                </a:solidFill>
              </a:rPr>
              <a:t>Reported metrics: </a:t>
            </a:r>
            <a:r>
              <a:rPr b="1" lang="en" sz="1100">
                <a:solidFill>
                  <a:srgbClr val="000000"/>
                </a:solidFill>
              </a:rPr>
              <a:t>mean</a:t>
            </a:r>
            <a:r>
              <a:rPr lang="en" sz="1100">
                <a:solidFill>
                  <a:srgbClr val="000000"/>
                </a:solidFill>
              </a:rPr>
              <a:t> accuracy, </a:t>
            </a:r>
            <a:r>
              <a:rPr b="1" lang="en" sz="1100">
                <a:solidFill>
                  <a:srgbClr val="000000"/>
                </a:solidFill>
              </a:rPr>
              <a:t>std</a:t>
            </a:r>
            <a:r>
              <a:rPr lang="en" sz="1100">
                <a:solidFill>
                  <a:srgbClr val="000000"/>
                </a:solidFill>
              </a:rPr>
              <a:t> deviation, worst-case </a:t>
            </a:r>
            <a:r>
              <a:rPr b="1" lang="en" sz="1100">
                <a:solidFill>
                  <a:srgbClr val="000000"/>
                </a:solidFill>
              </a:rPr>
              <a:t>accuracy </a:t>
            </a:r>
            <a:r>
              <a:rPr lang="en" sz="1100">
                <a:solidFill>
                  <a:srgbClr val="000000"/>
                </a:solidFill>
              </a:rPr>
              <a:t>per BER.</a:t>
            </a:r>
            <a:endParaRPr sz="1100">
              <a:solidFill>
                <a:srgbClr val="000000"/>
              </a:solidFill>
            </a:endParaRPr>
          </a:p>
          <a:p>
            <a:pPr indent="0" lvl="0" marL="0" rtl="0" algn="l">
              <a:spcBef>
                <a:spcPts val="0"/>
              </a:spcBef>
              <a:spcAft>
                <a:spcPts val="1200"/>
              </a:spcAft>
              <a:buNone/>
            </a:pPr>
            <a:r>
              <a:t/>
            </a:r>
            <a:endParaRPr sz="1100">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8"/>
          <p:cNvSpPr txBox="1"/>
          <p:nvPr>
            <p:ph type="title"/>
          </p:nvPr>
        </p:nvSpPr>
        <p:spPr>
          <a:xfrm>
            <a:off x="727650" y="6013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a:t>
            </a:r>
            <a:endParaRPr/>
          </a:p>
        </p:txBody>
      </p:sp>
      <p:sp>
        <p:nvSpPr>
          <p:cNvPr id="123" name="Google Shape;123;p18"/>
          <p:cNvSpPr txBox="1"/>
          <p:nvPr>
            <p:ph idx="1" type="body"/>
          </p:nvPr>
        </p:nvSpPr>
        <p:spPr>
          <a:xfrm>
            <a:off x="729450" y="1326200"/>
            <a:ext cx="3594300" cy="371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000000"/>
                </a:solidFill>
              </a:rPr>
              <a:t>Clean baseline:</a:t>
            </a:r>
            <a:r>
              <a:rPr lang="en" sz="1100">
                <a:solidFill>
                  <a:srgbClr val="000000"/>
                </a:solidFill>
              </a:rPr>
              <a:t> 97.74% accuracy (BER = 0 → no faults, stable).</a:t>
            </a:r>
            <a:endParaRPr sz="1100">
              <a:solidFill>
                <a:srgbClr val="000000"/>
              </a:solidFill>
            </a:endParaRPr>
          </a:p>
          <a:p>
            <a:pPr indent="0" lvl="0" marL="0" rtl="0" algn="l">
              <a:spcBef>
                <a:spcPts val="1200"/>
              </a:spcBef>
              <a:spcAft>
                <a:spcPts val="0"/>
              </a:spcAft>
              <a:buNone/>
            </a:pPr>
            <a:r>
              <a:rPr b="1" lang="en" sz="1100">
                <a:solidFill>
                  <a:srgbClr val="000000"/>
                </a:solidFill>
              </a:rPr>
              <a:t>Rapid degradation with higher BER:</a:t>
            </a:r>
            <a:r>
              <a:rPr lang="en" sz="1100">
                <a:solidFill>
                  <a:srgbClr val="000000"/>
                </a:solidFill>
              </a:rPr>
              <a:t> accuracy drops sharply as injected faults increase.</a:t>
            </a:r>
            <a:endParaRPr sz="1100">
              <a:solidFill>
                <a:srgbClr val="000000"/>
              </a:solidFill>
            </a:endParaRPr>
          </a:p>
          <a:p>
            <a:pPr indent="0" lvl="0" marL="0" rtl="0" algn="l">
              <a:spcBef>
                <a:spcPts val="1200"/>
              </a:spcBef>
              <a:spcAft>
                <a:spcPts val="0"/>
              </a:spcAft>
              <a:buNone/>
            </a:pPr>
            <a:r>
              <a:rPr b="1" lang="en" sz="1100">
                <a:solidFill>
                  <a:srgbClr val="000000"/>
                </a:solidFill>
              </a:rPr>
              <a:t>Failure floor:</a:t>
            </a:r>
            <a:r>
              <a:rPr lang="en" sz="1100">
                <a:solidFill>
                  <a:srgbClr val="000000"/>
                </a:solidFill>
              </a:rPr>
              <a:t> from </a:t>
            </a:r>
            <a:r>
              <a:rPr b="1" lang="en" sz="1100">
                <a:solidFill>
                  <a:srgbClr val="000000"/>
                </a:solidFill>
              </a:rPr>
              <a:t>BER ≥ 1e-4</a:t>
            </a:r>
            <a:r>
              <a:rPr lang="en" sz="1100">
                <a:solidFill>
                  <a:srgbClr val="000000"/>
                </a:solidFill>
              </a:rPr>
              <a:t> (≈552+ faults/run), accuracy collapses to </a:t>
            </a:r>
            <a:r>
              <a:rPr b="1" lang="en" sz="1100">
                <a:solidFill>
                  <a:srgbClr val="000000"/>
                </a:solidFill>
              </a:rPr>
              <a:t>11.69%</a:t>
            </a:r>
            <a:r>
              <a:rPr lang="en" sz="1100">
                <a:solidFill>
                  <a:srgbClr val="000000"/>
                </a:solidFill>
              </a:rPr>
              <a:t> consistently (std ≈ 0).</a:t>
            </a:r>
            <a:endParaRPr sz="1100">
              <a:solidFill>
                <a:srgbClr val="000000"/>
              </a:solidFill>
            </a:endParaRPr>
          </a:p>
          <a:p>
            <a:pPr indent="0" lvl="0" marL="0" rtl="0" algn="l">
              <a:spcBef>
                <a:spcPts val="1200"/>
              </a:spcBef>
              <a:spcAft>
                <a:spcPts val="0"/>
              </a:spcAft>
              <a:buNone/>
            </a:pPr>
            <a:r>
              <a:rPr b="1" lang="en" sz="1100">
                <a:solidFill>
                  <a:srgbClr val="000000"/>
                </a:solidFill>
              </a:rPr>
              <a:t>Critical “knee” region:</a:t>
            </a:r>
            <a:r>
              <a:rPr lang="en" sz="1100">
                <a:solidFill>
                  <a:srgbClr val="000000"/>
                </a:solidFill>
              </a:rPr>
              <a:t> </a:t>
            </a:r>
            <a:r>
              <a:rPr b="1" lang="en" sz="1100">
                <a:solidFill>
                  <a:srgbClr val="000000"/>
                </a:solidFill>
              </a:rPr>
              <a:t>BER = 1e-6 to 1e-5</a:t>
            </a:r>
            <a:r>
              <a:rPr lang="en" sz="1100">
                <a:solidFill>
                  <a:srgbClr val="000000"/>
                </a:solidFill>
              </a:rPr>
              <a:t> shows large uncertainty—sometimes near-normal accuracy, sometimes catastrophic failure.</a:t>
            </a:r>
            <a:endParaRPr sz="1100">
              <a:solidFill>
                <a:srgbClr val="000000"/>
              </a:solidFill>
            </a:endParaRPr>
          </a:p>
          <a:p>
            <a:pPr indent="0" lvl="0" marL="0" rtl="0" algn="l">
              <a:spcBef>
                <a:spcPts val="1200"/>
              </a:spcBef>
              <a:spcAft>
                <a:spcPts val="0"/>
              </a:spcAft>
              <a:buNone/>
            </a:pPr>
            <a:r>
              <a:rPr b="1" lang="en" sz="1100">
                <a:solidFill>
                  <a:srgbClr val="000000"/>
                </a:solidFill>
              </a:rPr>
              <a:t>Takeaway:</a:t>
            </a:r>
            <a:r>
              <a:rPr lang="en" sz="1100">
                <a:solidFill>
                  <a:srgbClr val="000000"/>
                </a:solidFill>
              </a:rPr>
              <a:t> model is high-performing when healthy, but </a:t>
            </a:r>
            <a:r>
              <a:rPr b="1" lang="en" sz="1100">
                <a:solidFill>
                  <a:srgbClr val="000000"/>
                </a:solidFill>
              </a:rPr>
              <a:t>not dependable under random SEU-style faults</a:t>
            </a:r>
            <a:r>
              <a:rPr lang="en" sz="1100">
                <a:solidFill>
                  <a:srgbClr val="000000"/>
                </a:solidFill>
              </a:rPr>
              <a:t> → motivates repair/mitigation (Phase 3).</a:t>
            </a:r>
            <a:endParaRPr sz="1100">
              <a:solidFill>
                <a:srgbClr val="000000"/>
              </a:solidFill>
            </a:endParaRPr>
          </a:p>
          <a:p>
            <a:pPr indent="0" lvl="0" marL="0" rtl="0" algn="l">
              <a:spcBef>
                <a:spcPts val="1200"/>
              </a:spcBef>
              <a:spcAft>
                <a:spcPts val="1200"/>
              </a:spcAft>
              <a:buNone/>
            </a:pPr>
            <a:r>
              <a:t/>
            </a:r>
            <a:endParaRPr sz="1100">
              <a:solidFill>
                <a:schemeClr val="dk2"/>
              </a:solidFill>
            </a:endParaRPr>
          </a:p>
        </p:txBody>
      </p:sp>
      <p:pic>
        <p:nvPicPr>
          <p:cNvPr id="124" name="Google Shape;124;p18"/>
          <p:cNvPicPr preferRelativeResize="0"/>
          <p:nvPr/>
        </p:nvPicPr>
        <p:blipFill>
          <a:blip r:embed="rId3">
            <a:alphaModFix/>
          </a:blip>
          <a:stretch>
            <a:fillRect/>
          </a:stretch>
        </p:blipFill>
        <p:spPr>
          <a:xfrm>
            <a:off x="4944625" y="1386575"/>
            <a:ext cx="3171143" cy="37021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9"/>
          <p:cNvSpPr txBox="1"/>
          <p:nvPr>
            <p:ph type="title"/>
          </p:nvPr>
        </p:nvSpPr>
        <p:spPr>
          <a:xfrm>
            <a:off x="727650" y="6013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BER = 1e-6 (~5 faults/run): Same BER, Diff. Outcome</a:t>
            </a:r>
            <a:endParaRPr/>
          </a:p>
        </p:txBody>
      </p:sp>
      <p:sp>
        <p:nvSpPr>
          <p:cNvPr id="130" name="Google Shape;130;p19"/>
          <p:cNvSpPr txBox="1"/>
          <p:nvPr>
            <p:ph idx="1" type="body"/>
          </p:nvPr>
        </p:nvSpPr>
        <p:spPr>
          <a:xfrm>
            <a:off x="729450" y="1326200"/>
            <a:ext cx="7686900" cy="37155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sz="1100">
                <a:solidFill>
                  <a:srgbClr val="000000"/>
                </a:solidFill>
              </a:rPr>
              <a:t>At </a:t>
            </a:r>
            <a:r>
              <a:rPr b="1" lang="en" sz="1100">
                <a:solidFill>
                  <a:srgbClr val="000000"/>
                </a:solidFill>
              </a:rPr>
              <a:t>BER = 1e-6</a:t>
            </a:r>
            <a:r>
              <a:rPr lang="en" sz="1100">
                <a:solidFill>
                  <a:srgbClr val="000000"/>
                </a:solidFill>
              </a:rPr>
              <a:t>, we inject only </a:t>
            </a:r>
            <a:r>
              <a:rPr b="1" lang="en" sz="1100">
                <a:solidFill>
                  <a:srgbClr val="000000"/>
                </a:solidFill>
              </a:rPr>
              <a:t>~5 random bit flips per run</a:t>
            </a:r>
            <a:r>
              <a:rPr lang="en" sz="1100">
                <a:solidFill>
                  <a:srgbClr val="000000"/>
                </a:solidFill>
              </a:rPr>
              <a:t> → results depend heavily on </a:t>
            </a:r>
            <a:r>
              <a:rPr i="1" lang="en" sz="1100">
                <a:solidFill>
                  <a:srgbClr val="000000"/>
                </a:solidFill>
              </a:rPr>
              <a:t>where</a:t>
            </a:r>
            <a:r>
              <a:rPr lang="en" sz="1100">
                <a:solidFill>
                  <a:srgbClr val="000000"/>
                </a:solidFill>
              </a:rPr>
              <a:t> the faults land.</a:t>
            </a:r>
            <a:endParaRPr sz="1100">
              <a:solidFill>
                <a:srgbClr val="000000"/>
              </a:solidFill>
            </a:endParaRPr>
          </a:p>
          <a:p>
            <a:pPr indent="0" lvl="0" marL="0" rtl="0" algn="l">
              <a:spcBef>
                <a:spcPts val="1200"/>
              </a:spcBef>
              <a:spcAft>
                <a:spcPts val="0"/>
              </a:spcAft>
              <a:buNone/>
            </a:pPr>
            <a:r>
              <a:rPr b="1" lang="en" sz="1100">
                <a:solidFill>
                  <a:srgbClr val="000000"/>
                </a:solidFill>
              </a:rPr>
              <a:t>Previous run:</a:t>
            </a:r>
            <a:r>
              <a:rPr lang="en" sz="1100">
                <a:solidFill>
                  <a:srgbClr val="000000"/>
                </a:solidFill>
              </a:rPr>
              <a:t> faults likely hit </a:t>
            </a:r>
            <a:r>
              <a:rPr b="1" lang="en" sz="1100">
                <a:solidFill>
                  <a:srgbClr val="000000"/>
                </a:solidFill>
              </a:rPr>
              <a:t>low-impact bits/parameters</a:t>
            </a:r>
            <a:r>
              <a:rPr lang="en" sz="1100">
                <a:solidFill>
                  <a:srgbClr val="000000"/>
                </a:solidFill>
              </a:rPr>
              <a:t> → accuracy remained near baseline.</a:t>
            </a:r>
            <a:endParaRPr sz="1100">
              <a:solidFill>
                <a:srgbClr val="000000"/>
              </a:solidFill>
            </a:endParaRPr>
          </a:p>
          <a:p>
            <a:pPr indent="0" lvl="0" marL="0" rtl="0" algn="l">
              <a:spcBef>
                <a:spcPts val="1200"/>
              </a:spcBef>
              <a:spcAft>
                <a:spcPts val="0"/>
              </a:spcAft>
              <a:buNone/>
            </a:pPr>
            <a:r>
              <a:rPr b="1" lang="en" sz="1100">
                <a:solidFill>
                  <a:srgbClr val="000000"/>
                </a:solidFill>
              </a:rPr>
              <a:t>This sweep:</a:t>
            </a:r>
            <a:r>
              <a:rPr lang="en" sz="1100">
                <a:solidFill>
                  <a:srgbClr val="000000"/>
                </a:solidFill>
              </a:rPr>
              <a:t> some trials hit </a:t>
            </a:r>
            <a:r>
              <a:rPr b="1" lang="en" sz="1100">
                <a:solidFill>
                  <a:srgbClr val="000000"/>
                </a:solidFill>
              </a:rPr>
              <a:t>high-impact locations</a:t>
            </a:r>
            <a:r>
              <a:rPr lang="en" sz="1100">
                <a:solidFill>
                  <a:srgbClr val="000000"/>
                </a:solidFill>
              </a:rPr>
              <a:t> → accuracy dropped strongly (mean ≈ </a:t>
            </a:r>
            <a:r>
              <a:rPr b="1" lang="en" sz="1100">
                <a:solidFill>
                  <a:srgbClr val="000000"/>
                </a:solidFill>
              </a:rPr>
              <a:t>80.53%</a:t>
            </a:r>
            <a:r>
              <a:rPr lang="en" sz="1100">
                <a:solidFill>
                  <a:srgbClr val="000000"/>
                </a:solidFill>
              </a:rPr>
              <a:t>, worst ≈ </a:t>
            </a:r>
            <a:r>
              <a:rPr b="1" lang="en" sz="1100">
                <a:solidFill>
                  <a:srgbClr val="000000"/>
                </a:solidFill>
              </a:rPr>
              <a:t>11.69%</a:t>
            </a:r>
            <a:r>
              <a:rPr lang="en" sz="1100">
                <a:solidFill>
                  <a:srgbClr val="000000"/>
                </a:solidFill>
              </a:rPr>
              <a:t>).</a:t>
            </a:r>
            <a:br>
              <a:rPr lang="en" sz="1100">
                <a:solidFill>
                  <a:srgbClr val="000000"/>
                </a:solidFill>
              </a:rPr>
            </a:br>
            <a:endParaRPr sz="1100">
              <a:solidFill>
                <a:srgbClr val="000000"/>
              </a:solidFill>
            </a:endParaRPr>
          </a:p>
          <a:p>
            <a:pPr indent="0" lvl="0" marL="0" rtl="0" algn="l">
              <a:spcBef>
                <a:spcPts val="1200"/>
              </a:spcBef>
              <a:spcAft>
                <a:spcPts val="0"/>
              </a:spcAft>
              <a:buNone/>
            </a:pPr>
            <a:r>
              <a:rPr b="1" lang="en" sz="1100">
                <a:solidFill>
                  <a:srgbClr val="000000"/>
                </a:solidFill>
              </a:rPr>
              <a:t>Why this happens (IEEE-754 bit flips):</a:t>
            </a:r>
            <a:endParaRPr b="1" sz="1100">
              <a:solidFill>
                <a:srgbClr val="000000"/>
              </a:solidFill>
            </a:endParaRPr>
          </a:p>
          <a:p>
            <a:pPr indent="-298450" lvl="0" marL="457200" rtl="0" algn="l">
              <a:spcBef>
                <a:spcPts val="1200"/>
              </a:spcBef>
              <a:spcAft>
                <a:spcPts val="0"/>
              </a:spcAft>
              <a:buClr>
                <a:srgbClr val="000000"/>
              </a:buClr>
              <a:buSzPts val="1100"/>
              <a:buFont typeface="Arial"/>
              <a:buChar char="●"/>
            </a:pPr>
            <a:r>
              <a:rPr b="1" lang="en" sz="1100">
                <a:solidFill>
                  <a:srgbClr val="000000"/>
                </a:solidFill>
              </a:rPr>
              <a:t>Harmless flips:</a:t>
            </a:r>
            <a:r>
              <a:rPr lang="en" sz="1100">
                <a:solidFill>
                  <a:srgbClr val="000000"/>
                </a:solidFill>
              </a:rPr>
              <a:t> mantissa (fraction) bit flips → small numeric change → minimal effect on predictions.</a:t>
            </a:r>
            <a:endParaRPr sz="1100">
              <a:solidFill>
                <a:srgbClr val="000000"/>
              </a:solidFil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rPr>
              <a:t>Dangerous flips:</a:t>
            </a:r>
            <a:r>
              <a:rPr lang="en" sz="1100">
                <a:solidFill>
                  <a:srgbClr val="000000"/>
                </a:solidFill>
              </a:rPr>
              <a:t> exponent/sign bit flips → huge numeric change (orders of magnitude) → unstable activations/logits.</a:t>
            </a:r>
            <a:endParaRPr sz="1100">
              <a:solidFill>
                <a:srgbClr val="000000"/>
              </a:solidFill>
            </a:endParaRPr>
          </a:p>
          <a:p>
            <a:pPr indent="-298450" lvl="0" marL="457200" rtl="0" algn="l">
              <a:spcBef>
                <a:spcPts val="0"/>
              </a:spcBef>
              <a:spcAft>
                <a:spcPts val="0"/>
              </a:spcAft>
              <a:buClr>
                <a:srgbClr val="000000"/>
              </a:buClr>
              <a:buSzPts val="1100"/>
              <a:buFont typeface="Arial"/>
              <a:buChar char="●"/>
            </a:pPr>
            <a:r>
              <a:rPr lang="en" sz="1100">
                <a:solidFill>
                  <a:srgbClr val="000000"/>
                </a:solidFill>
              </a:rPr>
              <a:t>If logits become extreme or invalid (NaN/Inf), the model can output a </a:t>
            </a:r>
            <a:r>
              <a:rPr b="1" lang="en" sz="1100">
                <a:solidFill>
                  <a:srgbClr val="000000"/>
                </a:solidFill>
              </a:rPr>
              <a:t>constant class</a:t>
            </a:r>
            <a:r>
              <a:rPr lang="en" sz="1100">
                <a:solidFill>
                  <a:srgbClr val="000000"/>
                </a:solidFill>
              </a:rPr>
              <a:t> → accuracy collapses to a “floor”.</a:t>
            </a:r>
            <a:br>
              <a:rPr lang="en" sz="1100">
                <a:solidFill>
                  <a:srgbClr val="000000"/>
                </a:solidFill>
              </a:rPr>
            </a:br>
            <a:endParaRPr sz="1100">
              <a:solidFill>
                <a:srgbClr val="000000"/>
              </a:solidFill>
            </a:endParaRPr>
          </a:p>
          <a:p>
            <a:pPr indent="0" lvl="0" marL="0" rtl="0" algn="l">
              <a:spcBef>
                <a:spcPts val="1200"/>
              </a:spcBef>
              <a:spcAft>
                <a:spcPts val="0"/>
              </a:spcAft>
              <a:buNone/>
            </a:pPr>
            <a:r>
              <a:rPr b="1" lang="en" sz="1100">
                <a:solidFill>
                  <a:srgbClr val="000000"/>
                </a:solidFill>
              </a:rPr>
              <a:t>Takeaway:</a:t>
            </a:r>
            <a:endParaRPr b="1" sz="1100">
              <a:solidFill>
                <a:srgbClr val="000000"/>
              </a:solidFil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rPr>
              <a:t>BER=1e-6 is in a </a:t>
            </a:r>
            <a:r>
              <a:rPr b="1" lang="en" sz="1100">
                <a:solidFill>
                  <a:srgbClr val="000000"/>
                </a:solidFill>
              </a:rPr>
              <a:t>rare-catastrophe regime</a:t>
            </a:r>
            <a:r>
              <a:rPr lang="en" sz="1100">
                <a:solidFill>
                  <a:srgbClr val="000000"/>
                </a:solidFill>
              </a:rPr>
              <a:t>: average performance may look okay, but reliability is dominated by low-probability worst cases.</a:t>
            </a:r>
            <a:endParaRPr sz="1100">
              <a:solidFill>
                <a:srgbClr val="000000"/>
              </a:solidFill>
            </a:endParaRPr>
          </a:p>
          <a:p>
            <a:pPr indent="0" lvl="0" marL="0" rtl="0" algn="l">
              <a:spcBef>
                <a:spcPts val="1200"/>
              </a:spcBef>
              <a:spcAft>
                <a:spcPts val="1200"/>
              </a:spcAft>
              <a:buNone/>
            </a:pPr>
            <a:r>
              <a:t/>
            </a:r>
            <a:endParaRPr sz="11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0"/>
          <p:cNvSpPr txBox="1"/>
          <p:nvPr>
            <p:ph type="title"/>
          </p:nvPr>
        </p:nvSpPr>
        <p:spPr>
          <a:xfrm>
            <a:off x="727650" y="6013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IEEE-754 Float32: understanding the parts</a:t>
            </a:r>
            <a:endParaRPr/>
          </a:p>
        </p:txBody>
      </p:sp>
      <p:sp>
        <p:nvSpPr>
          <p:cNvPr id="136" name="Google Shape;136;p20"/>
          <p:cNvSpPr txBox="1"/>
          <p:nvPr>
            <p:ph idx="1" type="body"/>
          </p:nvPr>
        </p:nvSpPr>
        <p:spPr>
          <a:xfrm>
            <a:off x="729450" y="1326200"/>
            <a:ext cx="4533300" cy="371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000000"/>
                </a:solidFill>
              </a:rPr>
              <a:t>Model weights are stored as </a:t>
            </a:r>
            <a:r>
              <a:rPr b="1" lang="en" sz="1100">
                <a:solidFill>
                  <a:srgbClr val="000000"/>
                </a:solidFill>
              </a:rPr>
              <a:t>32-bit floats (float32)</a:t>
            </a:r>
            <a:r>
              <a:rPr lang="en" sz="1100">
                <a:solidFill>
                  <a:srgbClr val="000000"/>
                </a:solidFill>
              </a:rPr>
              <a:t> using the </a:t>
            </a:r>
            <a:r>
              <a:rPr b="1" lang="en" sz="1100">
                <a:solidFill>
                  <a:srgbClr val="000000"/>
                </a:solidFill>
              </a:rPr>
              <a:t>IEEE-754</a:t>
            </a:r>
            <a:r>
              <a:rPr lang="en" sz="1100">
                <a:solidFill>
                  <a:srgbClr val="000000"/>
                </a:solidFill>
              </a:rPr>
              <a:t> format.</a:t>
            </a:r>
            <a:endParaRPr sz="1100">
              <a:solidFill>
                <a:srgbClr val="000000"/>
              </a:solidFill>
            </a:endParaRPr>
          </a:p>
          <a:p>
            <a:pPr indent="0" lvl="0" marL="0" rtl="0" algn="l">
              <a:spcBef>
                <a:spcPts val="1200"/>
              </a:spcBef>
              <a:spcAft>
                <a:spcPts val="0"/>
              </a:spcAft>
              <a:buNone/>
            </a:pPr>
            <a:r>
              <a:rPr lang="en" sz="1100">
                <a:solidFill>
                  <a:srgbClr val="000000"/>
                </a:solidFill>
              </a:rPr>
              <a:t>A float32 is split into:</a:t>
            </a:r>
            <a:endParaRPr sz="1100">
              <a:solidFill>
                <a:srgbClr val="000000"/>
              </a:solidFill>
            </a:endParaRPr>
          </a:p>
          <a:p>
            <a:pPr indent="-298450" lvl="0" marL="457200" rtl="0" algn="l">
              <a:spcBef>
                <a:spcPts val="1200"/>
              </a:spcBef>
              <a:spcAft>
                <a:spcPts val="0"/>
              </a:spcAft>
              <a:buClr>
                <a:srgbClr val="000000"/>
              </a:buClr>
              <a:buSzPts val="1100"/>
              <a:buFont typeface="Arial"/>
              <a:buChar char="●"/>
            </a:pPr>
            <a:r>
              <a:rPr b="1" lang="en" sz="1100">
                <a:solidFill>
                  <a:srgbClr val="000000"/>
                </a:solidFill>
              </a:rPr>
              <a:t>Sign (1 bit)</a:t>
            </a:r>
            <a:r>
              <a:rPr lang="en" sz="1100">
                <a:solidFill>
                  <a:srgbClr val="000000"/>
                </a:solidFill>
              </a:rPr>
              <a:t> → flips the value’s sign (+/−)</a:t>
            </a:r>
            <a:endParaRPr sz="1100">
              <a:solidFill>
                <a:srgbClr val="000000"/>
              </a:solidFil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rPr>
              <a:t>Exponent (8 bits)</a:t>
            </a:r>
            <a:r>
              <a:rPr lang="en" sz="1100">
                <a:solidFill>
                  <a:srgbClr val="000000"/>
                </a:solidFill>
              </a:rPr>
              <a:t> → controls the </a:t>
            </a:r>
            <a:r>
              <a:rPr b="1" lang="en" sz="1100">
                <a:solidFill>
                  <a:srgbClr val="000000"/>
                </a:solidFill>
              </a:rPr>
              <a:t>scale</a:t>
            </a:r>
            <a:r>
              <a:rPr lang="en" sz="1100">
                <a:solidFill>
                  <a:srgbClr val="000000"/>
                </a:solidFill>
              </a:rPr>
              <a:t> (can change value by orders of magnitude)</a:t>
            </a:r>
            <a:endParaRPr sz="1100">
              <a:solidFill>
                <a:srgbClr val="000000"/>
              </a:solidFil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rPr>
              <a:t>Mantissa (23 bits)</a:t>
            </a:r>
            <a:r>
              <a:rPr lang="en" sz="1100">
                <a:solidFill>
                  <a:srgbClr val="000000"/>
                </a:solidFill>
              </a:rPr>
              <a:t> → controls </a:t>
            </a:r>
            <a:r>
              <a:rPr b="1" lang="en" sz="1100">
                <a:solidFill>
                  <a:srgbClr val="000000"/>
                </a:solidFill>
              </a:rPr>
              <a:t>small precision changes</a:t>
            </a:r>
            <a:br>
              <a:rPr b="1" lang="en" sz="1100">
                <a:solidFill>
                  <a:srgbClr val="000000"/>
                </a:solidFill>
              </a:rPr>
            </a:br>
            <a:endParaRPr b="1" sz="1100">
              <a:solidFill>
                <a:srgbClr val="000000"/>
              </a:solidFill>
            </a:endParaRPr>
          </a:p>
          <a:p>
            <a:pPr indent="0" lvl="0" marL="0" rtl="0" algn="l">
              <a:spcBef>
                <a:spcPts val="1200"/>
              </a:spcBef>
              <a:spcAft>
                <a:spcPts val="0"/>
              </a:spcAft>
              <a:buNone/>
            </a:pPr>
            <a:r>
              <a:rPr b="1" lang="en" sz="1100">
                <a:solidFill>
                  <a:srgbClr val="000000"/>
                </a:solidFill>
              </a:rPr>
              <a:t>Key idea:</a:t>
            </a:r>
            <a:endParaRPr b="1" sz="1100">
              <a:solidFill>
                <a:srgbClr val="000000"/>
              </a:solidFill>
            </a:endParaRPr>
          </a:p>
          <a:p>
            <a:pPr indent="-298450" lvl="0" marL="457200" rtl="0" algn="l">
              <a:spcBef>
                <a:spcPts val="1200"/>
              </a:spcBef>
              <a:spcAft>
                <a:spcPts val="0"/>
              </a:spcAft>
              <a:buClr>
                <a:srgbClr val="000000"/>
              </a:buClr>
              <a:buSzPts val="1100"/>
              <a:buFont typeface="Arial"/>
              <a:buChar char="●"/>
            </a:pPr>
            <a:r>
              <a:rPr b="1" lang="en" sz="1100">
                <a:solidFill>
                  <a:srgbClr val="000000"/>
                </a:solidFill>
              </a:rPr>
              <a:t>Mantissa flips</a:t>
            </a:r>
            <a:r>
              <a:rPr lang="en" sz="1100">
                <a:solidFill>
                  <a:srgbClr val="000000"/>
                </a:solidFill>
              </a:rPr>
              <a:t> often cause small changes → sometimes accuracy stays high</a:t>
            </a:r>
            <a:endParaRPr sz="1100">
              <a:solidFill>
                <a:srgbClr val="000000"/>
              </a:solidFil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rPr>
              <a:t>Exponent/sign flips</a:t>
            </a:r>
            <a:r>
              <a:rPr lang="en" sz="1100">
                <a:solidFill>
                  <a:srgbClr val="000000"/>
                </a:solidFill>
              </a:rPr>
              <a:t> can cause huge changes → can collapse predictions</a:t>
            </a:r>
            <a:endParaRPr sz="1100">
              <a:solidFill>
                <a:srgbClr val="000000"/>
              </a:solidFill>
            </a:endParaRPr>
          </a:p>
          <a:p>
            <a:pPr indent="0" lvl="0" marL="0" rtl="0" algn="l">
              <a:spcBef>
                <a:spcPts val="1200"/>
              </a:spcBef>
              <a:spcAft>
                <a:spcPts val="1200"/>
              </a:spcAft>
              <a:buNone/>
            </a:pPr>
            <a:r>
              <a:t/>
            </a:r>
            <a:endParaRPr sz="1100">
              <a:solidFill>
                <a:schemeClr val="dk2"/>
              </a:solidFill>
            </a:endParaRPr>
          </a:p>
        </p:txBody>
      </p:sp>
      <p:pic>
        <p:nvPicPr>
          <p:cNvPr id="137" name="Google Shape;137;p20"/>
          <p:cNvPicPr preferRelativeResize="0"/>
          <p:nvPr/>
        </p:nvPicPr>
        <p:blipFill>
          <a:blip r:embed="rId3">
            <a:alphaModFix/>
          </a:blip>
          <a:stretch>
            <a:fillRect/>
          </a:stretch>
        </p:blipFill>
        <p:spPr>
          <a:xfrm>
            <a:off x="5373650" y="2219820"/>
            <a:ext cx="2861025" cy="13045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1"/>
          <p:cNvSpPr txBox="1"/>
          <p:nvPr>
            <p:ph type="title"/>
          </p:nvPr>
        </p:nvSpPr>
        <p:spPr>
          <a:xfrm>
            <a:off x="727650" y="6013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next?</a:t>
            </a:r>
            <a:r>
              <a:rPr lang="en"/>
              <a:t> a “Knee-Region” BER Sweep</a:t>
            </a:r>
            <a:endParaRPr/>
          </a:p>
        </p:txBody>
      </p:sp>
      <p:sp>
        <p:nvSpPr>
          <p:cNvPr id="143" name="Google Shape;143;p21"/>
          <p:cNvSpPr txBox="1"/>
          <p:nvPr>
            <p:ph idx="1" type="body"/>
          </p:nvPr>
        </p:nvSpPr>
        <p:spPr>
          <a:xfrm>
            <a:off x="727650" y="1428000"/>
            <a:ext cx="4479000" cy="371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000000"/>
                </a:solidFill>
              </a:rPr>
              <a:t>Full BER sweep showed a </a:t>
            </a:r>
            <a:r>
              <a:rPr b="1" lang="en" sz="1100">
                <a:solidFill>
                  <a:srgbClr val="000000"/>
                </a:solidFill>
              </a:rPr>
              <a:t>cliff</a:t>
            </a:r>
            <a:r>
              <a:rPr lang="en" sz="1100">
                <a:solidFill>
                  <a:srgbClr val="000000"/>
                </a:solidFill>
              </a:rPr>
              <a:t>: low BER ≈ fine → higher BER = </a:t>
            </a:r>
            <a:r>
              <a:rPr b="1" lang="en" sz="1100">
                <a:solidFill>
                  <a:srgbClr val="000000"/>
                </a:solidFill>
              </a:rPr>
              <a:t>collapse floor</a:t>
            </a:r>
            <a:br>
              <a:rPr b="1" lang="en" sz="1100">
                <a:solidFill>
                  <a:srgbClr val="000000"/>
                </a:solidFill>
              </a:rPr>
            </a:br>
            <a:endParaRPr b="1" sz="1100">
              <a:solidFill>
                <a:srgbClr val="000000"/>
              </a:solidFill>
            </a:endParaRPr>
          </a:p>
          <a:p>
            <a:pPr indent="0" lvl="0" marL="0" rtl="0" algn="l">
              <a:spcBef>
                <a:spcPts val="1200"/>
              </a:spcBef>
              <a:spcAft>
                <a:spcPts val="0"/>
              </a:spcAft>
              <a:buNone/>
            </a:pPr>
            <a:r>
              <a:rPr lang="en" sz="1100">
                <a:solidFill>
                  <a:srgbClr val="000000"/>
                </a:solidFill>
              </a:rPr>
              <a:t>We target the </a:t>
            </a:r>
            <a:r>
              <a:rPr b="1" lang="en" sz="1100">
                <a:solidFill>
                  <a:srgbClr val="000000"/>
                </a:solidFill>
              </a:rPr>
              <a:t>knee region</a:t>
            </a:r>
            <a:r>
              <a:rPr lang="en" sz="1100">
                <a:solidFill>
                  <a:srgbClr val="000000"/>
                </a:solidFill>
              </a:rPr>
              <a:t> where:</a:t>
            </a:r>
            <a:br>
              <a:rPr lang="en" sz="1100">
                <a:solidFill>
                  <a:srgbClr val="000000"/>
                </a:solidFill>
              </a:rPr>
            </a:br>
            <a:endParaRPr sz="1100">
              <a:solidFill>
                <a:srgbClr val="000000"/>
              </a:solidFill>
            </a:endParaRPr>
          </a:p>
          <a:p>
            <a:pPr indent="-298450" lvl="0" marL="457200" rtl="0" algn="l">
              <a:spcBef>
                <a:spcPts val="1200"/>
              </a:spcBef>
              <a:spcAft>
                <a:spcPts val="0"/>
              </a:spcAft>
              <a:buClr>
                <a:srgbClr val="000000"/>
              </a:buClr>
              <a:buSzPts val="1100"/>
              <a:buFont typeface="Lato"/>
              <a:buChar char="●"/>
            </a:pPr>
            <a:r>
              <a:rPr lang="en" sz="1100">
                <a:solidFill>
                  <a:srgbClr val="000000"/>
                </a:solidFill>
              </a:rPr>
              <a:t>accuracy sometimes stays high</a:t>
            </a:r>
            <a:br>
              <a:rPr lang="en" sz="1100">
                <a:solidFill>
                  <a:srgbClr val="000000"/>
                </a:solidFill>
              </a:rPr>
            </a:br>
            <a:endParaRPr sz="1100">
              <a:solidFill>
                <a:srgbClr val="000000"/>
              </a:solidFill>
            </a:endParaRPr>
          </a:p>
          <a:p>
            <a:pPr indent="-298450" lvl="0" marL="457200" rtl="0" algn="l">
              <a:spcBef>
                <a:spcPts val="0"/>
              </a:spcBef>
              <a:spcAft>
                <a:spcPts val="0"/>
              </a:spcAft>
              <a:buClr>
                <a:srgbClr val="000000"/>
              </a:buClr>
              <a:buSzPts val="1100"/>
              <a:buFont typeface="Lato"/>
              <a:buChar char="●"/>
            </a:pPr>
            <a:r>
              <a:rPr lang="en" sz="1100">
                <a:solidFill>
                  <a:srgbClr val="000000"/>
                </a:solidFill>
              </a:rPr>
              <a:t>sometimes fails catastrophically</a:t>
            </a:r>
            <a:br>
              <a:rPr lang="en" sz="1100">
                <a:solidFill>
                  <a:srgbClr val="000000"/>
                </a:solidFill>
              </a:rPr>
            </a:br>
            <a:endParaRPr sz="1100">
              <a:solidFill>
                <a:srgbClr val="000000"/>
              </a:solidFill>
            </a:endParaRPr>
          </a:p>
          <a:p>
            <a:pPr indent="0" lvl="0" marL="0" rtl="0" algn="l">
              <a:spcBef>
                <a:spcPts val="1200"/>
              </a:spcBef>
              <a:spcAft>
                <a:spcPts val="0"/>
              </a:spcAft>
              <a:buNone/>
            </a:pPr>
            <a:r>
              <a:rPr lang="en" sz="1100">
                <a:solidFill>
                  <a:srgbClr val="000000"/>
                </a:solidFill>
              </a:rPr>
              <a:t>Purpose: capture the transition to failure with </a:t>
            </a:r>
            <a:r>
              <a:rPr b="1" lang="en" sz="1100">
                <a:solidFill>
                  <a:srgbClr val="000000"/>
                </a:solidFill>
              </a:rPr>
              <a:t>higher resolution</a:t>
            </a:r>
            <a:br>
              <a:rPr b="1" lang="en" sz="1100">
                <a:solidFill>
                  <a:srgbClr val="000000"/>
                </a:solidFill>
              </a:rPr>
            </a:br>
            <a:endParaRPr b="1" sz="1100">
              <a:solidFill>
                <a:srgbClr val="000000"/>
              </a:solidFill>
            </a:endParaRPr>
          </a:p>
          <a:p>
            <a:pPr indent="0" lvl="0" marL="0" rtl="0" algn="l">
              <a:spcBef>
                <a:spcPts val="0"/>
              </a:spcBef>
              <a:spcAft>
                <a:spcPts val="0"/>
              </a:spcAft>
              <a:buNone/>
            </a:pPr>
            <a:r>
              <a:rPr lang="en" sz="1100">
                <a:solidFill>
                  <a:srgbClr val="000000"/>
                </a:solidFill>
              </a:rPr>
              <a:t>Practical mapping (per-param mode):</a:t>
            </a:r>
            <a:br>
              <a:rPr lang="en" sz="1100">
                <a:solidFill>
                  <a:srgbClr val="000000"/>
                </a:solidFill>
              </a:rPr>
            </a:br>
            <a:r>
              <a:rPr lang="en" sz="1100">
                <a:solidFill>
                  <a:srgbClr val="000000"/>
                </a:solidFill>
              </a:rPr>
              <a:t> </a:t>
            </a:r>
            <a:r>
              <a:rPr b="1" lang="en" sz="1100">
                <a:solidFill>
                  <a:srgbClr val="000000"/>
                </a:solidFill>
              </a:rPr>
              <a:t>faults/run = BER × #params</a:t>
            </a:r>
            <a:r>
              <a:rPr lang="en" sz="1100">
                <a:solidFill>
                  <a:srgbClr val="000000"/>
                </a:solidFill>
              </a:rPr>
              <a:t> (≈ 5.5M params)</a:t>
            </a:r>
            <a:endParaRPr sz="1100">
              <a:solidFill>
                <a:srgbClr val="000000"/>
              </a:solidFill>
            </a:endParaRPr>
          </a:p>
          <a:p>
            <a:pPr indent="0" lvl="0" marL="0" rtl="0" algn="l">
              <a:spcBef>
                <a:spcPts val="1200"/>
              </a:spcBef>
              <a:spcAft>
                <a:spcPts val="1200"/>
              </a:spcAft>
              <a:buNone/>
            </a:pPr>
            <a:r>
              <a:t/>
            </a:r>
            <a:endParaRPr sz="1100">
              <a:solidFill>
                <a:schemeClr val="dk2"/>
              </a:solidFill>
            </a:endParaRPr>
          </a:p>
        </p:txBody>
      </p:sp>
      <p:pic>
        <p:nvPicPr>
          <p:cNvPr id="144" name="Google Shape;144;p21"/>
          <p:cNvPicPr preferRelativeResize="0"/>
          <p:nvPr/>
        </p:nvPicPr>
        <p:blipFill>
          <a:blip r:embed="rId3">
            <a:alphaModFix/>
          </a:blip>
          <a:stretch>
            <a:fillRect/>
          </a:stretch>
        </p:blipFill>
        <p:spPr>
          <a:xfrm>
            <a:off x="5208450" y="1899751"/>
            <a:ext cx="3467850" cy="16237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2"/>
          <p:cNvSpPr txBox="1"/>
          <p:nvPr>
            <p:ph type="title"/>
          </p:nvPr>
        </p:nvSpPr>
        <p:spPr>
          <a:xfrm>
            <a:off x="727650" y="6013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further refine BER values</a:t>
            </a:r>
            <a:endParaRPr/>
          </a:p>
        </p:txBody>
      </p:sp>
      <p:sp>
        <p:nvSpPr>
          <p:cNvPr id="150" name="Google Shape;150;p22"/>
          <p:cNvSpPr txBox="1"/>
          <p:nvPr>
            <p:ph idx="1" type="body"/>
          </p:nvPr>
        </p:nvSpPr>
        <p:spPr>
          <a:xfrm>
            <a:off x="728550" y="1428000"/>
            <a:ext cx="7686900" cy="371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000000"/>
                </a:solidFill>
              </a:rPr>
              <a:t>Stage 1 (coarse sweep):</a:t>
            </a:r>
            <a:r>
              <a:rPr lang="en" sz="1100">
                <a:solidFill>
                  <a:srgbClr val="000000"/>
                </a:solidFill>
              </a:rPr>
              <a:t> locate failure regimes</a:t>
            </a:r>
            <a:br>
              <a:rPr lang="en" sz="1100">
                <a:solidFill>
                  <a:srgbClr val="000000"/>
                </a:solidFill>
              </a:rPr>
            </a:br>
            <a:endParaRPr sz="1100">
              <a:solidFill>
                <a:srgbClr val="000000"/>
              </a:solidFill>
            </a:endParaRPr>
          </a:p>
          <a:p>
            <a:pPr indent="-298450" lvl="0" marL="457200" rtl="0" algn="l">
              <a:spcBef>
                <a:spcPts val="1200"/>
              </a:spcBef>
              <a:spcAft>
                <a:spcPts val="0"/>
              </a:spcAft>
              <a:buClr>
                <a:srgbClr val="000000"/>
              </a:buClr>
              <a:buSzPts val="1100"/>
              <a:buFont typeface="Lato"/>
              <a:buChar char="●"/>
            </a:pPr>
            <a:r>
              <a:rPr lang="en" sz="1100">
                <a:solidFill>
                  <a:srgbClr val="000000"/>
                </a:solidFill>
              </a:rPr>
              <a:t>example: 0, 1e-6, 1e-5, 1e-4, … → found knee + collapse floor</a:t>
            </a:r>
            <a:br>
              <a:rPr lang="en" sz="1100">
                <a:solidFill>
                  <a:srgbClr val="000000"/>
                </a:solidFill>
              </a:rPr>
            </a:br>
            <a:endParaRPr sz="1100">
              <a:solidFill>
                <a:srgbClr val="000000"/>
              </a:solidFill>
            </a:endParaRPr>
          </a:p>
          <a:p>
            <a:pPr indent="0" lvl="0" marL="0" rtl="0" algn="l">
              <a:spcBef>
                <a:spcPts val="1200"/>
              </a:spcBef>
              <a:spcAft>
                <a:spcPts val="0"/>
              </a:spcAft>
              <a:buNone/>
            </a:pPr>
            <a:r>
              <a:rPr b="1" lang="en" sz="1100">
                <a:solidFill>
                  <a:srgbClr val="000000"/>
                </a:solidFill>
              </a:rPr>
              <a:t>Stage 2 (knee sweep):</a:t>
            </a:r>
            <a:r>
              <a:rPr lang="en" sz="1100">
                <a:solidFill>
                  <a:srgbClr val="000000"/>
                </a:solidFill>
              </a:rPr>
              <a:t> densify around the transition</a:t>
            </a:r>
            <a:br>
              <a:rPr lang="en" sz="1100">
                <a:solidFill>
                  <a:srgbClr val="000000"/>
                </a:solidFill>
              </a:rPr>
            </a:br>
            <a:endParaRPr sz="1100">
              <a:solidFill>
                <a:srgbClr val="000000"/>
              </a:solidFill>
            </a:endParaRPr>
          </a:p>
          <a:p>
            <a:pPr indent="-298450" lvl="0" marL="457200" rtl="0" algn="l">
              <a:spcBef>
                <a:spcPts val="1200"/>
              </a:spcBef>
              <a:spcAft>
                <a:spcPts val="0"/>
              </a:spcAft>
              <a:buClr>
                <a:srgbClr val="000000"/>
              </a:buClr>
              <a:buSzPts val="1100"/>
              <a:buFont typeface="Lato"/>
              <a:buChar char="●"/>
            </a:pPr>
            <a:r>
              <a:rPr lang="en" sz="1100">
                <a:solidFill>
                  <a:srgbClr val="000000"/>
                </a:solidFill>
              </a:rPr>
              <a:t>0, 1e-7, 2e-7, 5e-7, 1e-6, 2e-6, …</a:t>
            </a:r>
            <a:br>
              <a:rPr lang="en" sz="1100">
                <a:solidFill>
                  <a:srgbClr val="000000"/>
                </a:solidFill>
              </a:rPr>
            </a:br>
            <a:endParaRPr sz="1100">
              <a:solidFill>
                <a:srgbClr val="000000"/>
              </a:solidFill>
            </a:endParaRPr>
          </a:p>
          <a:p>
            <a:pPr indent="0" lvl="0" marL="0" rtl="0" algn="l">
              <a:spcBef>
                <a:spcPts val="1200"/>
              </a:spcBef>
              <a:spcAft>
                <a:spcPts val="0"/>
              </a:spcAft>
              <a:buNone/>
            </a:pPr>
            <a:r>
              <a:rPr b="1" lang="en" sz="1100">
                <a:solidFill>
                  <a:srgbClr val="000000"/>
                </a:solidFill>
              </a:rPr>
              <a:t>Stage 3 (final plot grid):</a:t>
            </a:r>
            <a:r>
              <a:rPr lang="en" sz="1100">
                <a:solidFill>
                  <a:srgbClr val="000000"/>
                </a:solidFill>
              </a:rPr>
              <a:t> add extra points inside knee</a:t>
            </a:r>
            <a:br>
              <a:rPr lang="en" sz="1100">
                <a:solidFill>
                  <a:srgbClr val="000000"/>
                </a:solidFill>
              </a:rPr>
            </a:br>
            <a:endParaRPr sz="1100">
              <a:solidFill>
                <a:srgbClr val="000000"/>
              </a:solidFill>
            </a:endParaRPr>
          </a:p>
          <a:p>
            <a:pPr indent="-298450" lvl="0" marL="457200" rtl="0" algn="l">
              <a:spcBef>
                <a:spcPts val="1200"/>
              </a:spcBef>
              <a:spcAft>
                <a:spcPts val="0"/>
              </a:spcAft>
              <a:buClr>
                <a:srgbClr val="000000"/>
              </a:buClr>
              <a:buSzPts val="1100"/>
              <a:buFont typeface="Lato"/>
              <a:buChar char="●"/>
            </a:pPr>
            <a:r>
              <a:rPr lang="en" sz="1100">
                <a:solidFill>
                  <a:srgbClr val="000000"/>
                </a:solidFill>
              </a:rPr>
              <a:t>1.5e-7, 3e-7, 7e-7, 1.2e-6, 1.5e-6, 1.8e-6, …</a:t>
            </a:r>
            <a:endParaRPr sz="1100">
              <a:solidFill>
                <a:srgbClr val="000000"/>
              </a:solidFill>
            </a:endParaRPr>
          </a:p>
          <a:p>
            <a:pPr indent="0" lvl="0" marL="0" rtl="0" algn="l">
              <a:spcBef>
                <a:spcPts val="1200"/>
              </a:spcBef>
              <a:spcAft>
                <a:spcPts val="1200"/>
              </a:spcAft>
              <a:buNone/>
            </a:pPr>
            <a:r>
              <a:t/>
            </a:r>
            <a:endParaRPr sz="9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3"/>
          <p:cNvSpPr txBox="1"/>
          <p:nvPr>
            <p:ph type="title"/>
          </p:nvPr>
        </p:nvSpPr>
        <p:spPr>
          <a:xfrm>
            <a:off x="727650" y="6013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Phase 2 Upgrade: Knee Sweep + Failure Probability</a:t>
            </a:r>
            <a:endParaRPr/>
          </a:p>
        </p:txBody>
      </p:sp>
      <p:sp>
        <p:nvSpPr>
          <p:cNvPr id="156" name="Google Shape;156;p23"/>
          <p:cNvSpPr txBox="1"/>
          <p:nvPr>
            <p:ph idx="1" type="body"/>
          </p:nvPr>
        </p:nvSpPr>
        <p:spPr>
          <a:xfrm>
            <a:off x="728550" y="1428000"/>
            <a:ext cx="3843600" cy="371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000000"/>
                </a:solidFill>
              </a:rPr>
              <a:t>Switched from coarse BER sweep → </a:t>
            </a:r>
            <a:r>
              <a:rPr b="1" lang="en" sz="1100">
                <a:solidFill>
                  <a:srgbClr val="000000"/>
                </a:solidFill>
              </a:rPr>
              <a:t>knee-region sweep</a:t>
            </a:r>
            <a:r>
              <a:rPr lang="en" sz="1100">
                <a:solidFill>
                  <a:srgbClr val="000000"/>
                </a:solidFill>
              </a:rPr>
              <a:t> (denser BER points)</a:t>
            </a:r>
            <a:br>
              <a:rPr lang="en" sz="1100">
                <a:solidFill>
                  <a:srgbClr val="000000"/>
                </a:solidFill>
              </a:rPr>
            </a:br>
            <a:endParaRPr sz="1100">
              <a:solidFill>
                <a:srgbClr val="000000"/>
              </a:solidFill>
            </a:endParaRPr>
          </a:p>
          <a:p>
            <a:pPr indent="0" lvl="0" marL="0" rtl="0" algn="l">
              <a:spcBef>
                <a:spcPts val="1200"/>
              </a:spcBef>
              <a:spcAft>
                <a:spcPts val="0"/>
              </a:spcAft>
              <a:buNone/>
            </a:pPr>
            <a:r>
              <a:rPr lang="en" sz="1100">
                <a:solidFill>
                  <a:srgbClr val="000000"/>
                </a:solidFill>
              </a:rPr>
              <a:t>Added </a:t>
            </a:r>
            <a:r>
              <a:rPr b="1" lang="en" sz="1100">
                <a:solidFill>
                  <a:srgbClr val="000000"/>
                </a:solidFill>
              </a:rPr>
              <a:t>failure probability metrics</a:t>
            </a:r>
            <a:r>
              <a:rPr lang="en" sz="1100">
                <a:solidFill>
                  <a:srgbClr val="000000"/>
                </a:solidFill>
              </a:rPr>
              <a:t>:</a:t>
            </a:r>
            <a:endParaRPr sz="1100">
              <a:solidFill>
                <a:srgbClr val="000000"/>
              </a:solidFill>
            </a:endParaRPr>
          </a:p>
          <a:p>
            <a:pPr indent="-298450" lvl="0" marL="457200" rtl="0" algn="l">
              <a:spcBef>
                <a:spcPts val="1200"/>
              </a:spcBef>
              <a:spcAft>
                <a:spcPts val="0"/>
              </a:spcAft>
              <a:buClr>
                <a:srgbClr val="000000"/>
              </a:buClr>
              <a:buSzPts val="1100"/>
              <a:buFont typeface="Arial"/>
              <a:buChar char="●"/>
            </a:pPr>
            <a:r>
              <a:rPr b="1" lang="en" sz="1100">
                <a:solidFill>
                  <a:srgbClr val="000000"/>
                </a:solidFill>
              </a:rPr>
              <a:t>P(acc &lt; 50%)</a:t>
            </a:r>
            <a:r>
              <a:rPr lang="en" sz="1100">
                <a:solidFill>
                  <a:srgbClr val="000000"/>
                </a:solidFill>
              </a:rPr>
              <a:t> = “mission failure rate”</a:t>
            </a:r>
            <a:endParaRPr sz="1100">
              <a:solidFill>
                <a:srgbClr val="000000"/>
              </a:solidFil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rPr>
              <a:t>P(acc &lt; 20%)</a:t>
            </a:r>
            <a:r>
              <a:rPr lang="en" sz="1100">
                <a:solidFill>
                  <a:srgbClr val="000000"/>
                </a:solidFill>
              </a:rPr>
              <a:t> = “catastrophic failure rate”</a:t>
            </a:r>
            <a:br>
              <a:rPr lang="en" sz="1100">
                <a:solidFill>
                  <a:srgbClr val="000000"/>
                </a:solidFill>
              </a:rPr>
            </a:br>
            <a:endParaRPr sz="1100">
              <a:solidFill>
                <a:srgbClr val="000000"/>
              </a:solidFill>
            </a:endParaRPr>
          </a:p>
          <a:p>
            <a:pPr indent="0" lvl="0" marL="0" rtl="0" algn="l">
              <a:spcBef>
                <a:spcPts val="1200"/>
              </a:spcBef>
              <a:spcAft>
                <a:spcPts val="0"/>
              </a:spcAft>
              <a:buNone/>
            </a:pPr>
            <a:r>
              <a:rPr lang="en" sz="1100">
                <a:solidFill>
                  <a:srgbClr val="000000"/>
                </a:solidFill>
              </a:rPr>
              <a:t>Accelerated runtime using:</a:t>
            </a:r>
            <a:endParaRPr sz="1100">
              <a:solidFill>
                <a:srgbClr val="000000"/>
              </a:solidFill>
            </a:endParaRPr>
          </a:p>
          <a:p>
            <a:pPr indent="-298450" lvl="0" marL="457200" rtl="0" algn="l">
              <a:spcBef>
                <a:spcPts val="1200"/>
              </a:spcBef>
              <a:spcAft>
                <a:spcPts val="0"/>
              </a:spcAft>
              <a:buClr>
                <a:srgbClr val="000000"/>
              </a:buClr>
              <a:buSzPts val="1100"/>
              <a:buFont typeface="Lato"/>
              <a:buChar char="●"/>
            </a:pPr>
            <a:r>
              <a:rPr b="1" lang="en" sz="1100">
                <a:solidFill>
                  <a:srgbClr val="000000"/>
                </a:solidFill>
              </a:rPr>
              <a:t>subset test set (N=1000)</a:t>
            </a:r>
            <a:endParaRPr b="1" sz="1100">
              <a:solidFill>
                <a:srgbClr val="000000"/>
              </a:solidFil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rPr>
              <a:t>12 Monte-Carlo trials</a:t>
            </a:r>
            <a:r>
              <a:rPr lang="en" sz="1100">
                <a:solidFill>
                  <a:srgbClr val="000000"/>
                </a:solidFill>
              </a:rPr>
              <a:t> per BER</a:t>
            </a:r>
            <a:br>
              <a:rPr lang="en" sz="1100">
                <a:solidFill>
                  <a:srgbClr val="000000"/>
                </a:solidFill>
              </a:rPr>
            </a:br>
            <a:endParaRPr sz="1100">
              <a:solidFill>
                <a:srgbClr val="000000"/>
              </a:solidFill>
            </a:endParaRPr>
          </a:p>
          <a:p>
            <a:pPr indent="0" lvl="0" marL="0" rtl="0" algn="l">
              <a:spcBef>
                <a:spcPts val="1200"/>
              </a:spcBef>
              <a:spcAft>
                <a:spcPts val="0"/>
              </a:spcAft>
              <a:buNone/>
            </a:pPr>
            <a:r>
              <a:rPr lang="en" sz="1100">
                <a:solidFill>
                  <a:srgbClr val="000000"/>
                </a:solidFill>
              </a:rPr>
              <a:t>Result: identified knee region where </a:t>
            </a:r>
            <a:r>
              <a:rPr b="1" lang="en" sz="1100">
                <a:solidFill>
                  <a:srgbClr val="000000"/>
                </a:solidFill>
              </a:rPr>
              <a:t>rare catastrophes start</a:t>
            </a:r>
            <a:r>
              <a:rPr lang="en" sz="1100">
                <a:solidFill>
                  <a:srgbClr val="000000"/>
                </a:solidFill>
              </a:rPr>
              <a:t> and failure rate grows with BER</a:t>
            </a:r>
            <a:endParaRPr sz="1100">
              <a:solidFill>
                <a:srgbClr val="000000"/>
              </a:solidFill>
            </a:endParaRPr>
          </a:p>
          <a:p>
            <a:pPr indent="0" lvl="0" marL="0" rtl="0" algn="l">
              <a:spcBef>
                <a:spcPts val="0"/>
              </a:spcBef>
              <a:spcAft>
                <a:spcPts val="1200"/>
              </a:spcAft>
              <a:buNone/>
            </a:pPr>
            <a:r>
              <a:t/>
            </a:r>
            <a:endParaRPr sz="900">
              <a:solidFill>
                <a:schemeClr val="dk2"/>
              </a:solidFill>
            </a:endParaRPr>
          </a:p>
        </p:txBody>
      </p:sp>
      <p:pic>
        <p:nvPicPr>
          <p:cNvPr id="157" name="Google Shape;157;p23"/>
          <p:cNvPicPr preferRelativeResize="0"/>
          <p:nvPr/>
        </p:nvPicPr>
        <p:blipFill>
          <a:blip r:embed="rId3">
            <a:alphaModFix/>
          </a:blip>
          <a:stretch>
            <a:fillRect/>
          </a:stretch>
        </p:blipFill>
        <p:spPr>
          <a:xfrm>
            <a:off x="4572000" y="1826639"/>
            <a:ext cx="4258725" cy="27938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4"/>
          <p:cNvSpPr txBox="1"/>
          <p:nvPr>
            <p:ph type="title"/>
          </p:nvPr>
        </p:nvSpPr>
        <p:spPr>
          <a:xfrm>
            <a:off x="727650" y="6013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Plot 1 — Accuracy vs BER (mean ± std)</a:t>
            </a:r>
            <a:endParaRPr/>
          </a:p>
        </p:txBody>
      </p:sp>
      <p:pic>
        <p:nvPicPr>
          <p:cNvPr id="163" name="Google Shape;163;p24" title="accuracy_vs_ber_better.png"/>
          <p:cNvPicPr preferRelativeResize="0"/>
          <p:nvPr/>
        </p:nvPicPr>
        <p:blipFill>
          <a:blip r:embed="rId3">
            <a:alphaModFix/>
          </a:blip>
          <a:stretch>
            <a:fillRect/>
          </a:stretch>
        </p:blipFill>
        <p:spPr>
          <a:xfrm>
            <a:off x="1703325" y="1234725"/>
            <a:ext cx="5863951" cy="37938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5"/>
          <p:cNvSpPr txBox="1"/>
          <p:nvPr>
            <p:ph type="title"/>
          </p:nvPr>
        </p:nvSpPr>
        <p:spPr>
          <a:xfrm>
            <a:off x="727650" y="601375"/>
            <a:ext cx="7688700" cy="53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240"/>
              <a:t>Plot 2 — Failure Prob. vs BER (Monte-Carlo Reliability)</a:t>
            </a:r>
            <a:endParaRPr sz="2240"/>
          </a:p>
        </p:txBody>
      </p:sp>
      <p:pic>
        <p:nvPicPr>
          <p:cNvPr id="169" name="Google Shape;169;p25" title="failureprob_vs_ber_better.png"/>
          <p:cNvPicPr preferRelativeResize="0"/>
          <p:nvPr/>
        </p:nvPicPr>
        <p:blipFill>
          <a:blip r:embed="rId3">
            <a:alphaModFix/>
          </a:blip>
          <a:stretch>
            <a:fillRect/>
          </a:stretch>
        </p:blipFill>
        <p:spPr>
          <a:xfrm>
            <a:off x="1640250" y="1189800"/>
            <a:ext cx="5975025" cy="386567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6"/>
          <p:cNvSpPr txBox="1"/>
          <p:nvPr>
            <p:ph type="title"/>
          </p:nvPr>
        </p:nvSpPr>
        <p:spPr>
          <a:xfrm>
            <a:off x="727650" y="6013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Next steps</a:t>
            </a:r>
            <a:endParaRPr/>
          </a:p>
        </p:txBody>
      </p:sp>
      <p:sp>
        <p:nvSpPr>
          <p:cNvPr id="175" name="Google Shape;175;p26"/>
          <p:cNvSpPr txBox="1"/>
          <p:nvPr>
            <p:ph idx="1" type="body"/>
          </p:nvPr>
        </p:nvSpPr>
        <p:spPr>
          <a:xfrm>
            <a:off x="728550" y="1428000"/>
            <a:ext cx="7686900" cy="371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000000"/>
                </a:solidFill>
              </a:rPr>
              <a:t>Phase 2 (final):</a:t>
            </a:r>
            <a:r>
              <a:rPr lang="en" sz="1100">
                <a:solidFill>
                  <a:srgbClr val="000000"/>
                </a:solidFill>
              </a:rPr>
              <a:t> rerun knee sweep on </a:t>
            </a:r>
            <a:r>
              <a:rPr b="1" lang="en" sz="1100">
                <a:solidFill>
                  <a:srgbClr val="000000"/>
                </a:solidFill>
              </a:rPr>
              <a:t>full test set</a:t>
            </a:r>
            <a:r>
              <a:rPr lang="en" sz="1100">
                <a:solidFill>
                  <a:srgbClr val="000000"/>
                </a:solidFill>
              </a:rPr>
              <a:t> with more trials</a:t>
            </a:r>
            <a:br>
              <a:rPr lang="en" sz="1100">
                <a:solidFill>
                  <a:srgbClr val="000000"/>
                </a:solidFill>
              </a:rPr>
            </a:br>
            <a:endParaRPr sz="1100">
              <a:solidFill>
                <a:srgbClr val="000000"/>
              </a:solidFill>
            </a:endParaRPr>
          </a:p>
          <a:p>
            <a:pPr indent="0" lvl="0" marL="0" rtl="0" algn="l">
              <a:spcBef>
                <a:spcPts val="1200"/>
              </a:spcBef>
              <a:spcAft>
                <a:spcPts val="0"/>
              </a:spcAft>
              <a:buNone/>
            </a:pPr>
            <a:r>
              <a:rPr b="1" lang="en" sz="1100">
                <a:solidFill>
                  <a:srgbClr val="000000"/>
                </a:solidFill>
              </a:rPr>
              <a:t>Component analysis:</a:t>
            </a:r>
            <a:r>
              <a:rPr lang="en" sz="1100">
                <a:solidFill>
                  <a:srgbClr val="000000"/>
                </a:solidFill>
              </a:rPr>
              <a:t> identify </a:t>
            </a:r>
            <a:r>
              <a:rPr b="1" lang="en" sz="1100">
                <a:solidFill>
                  <a:srgbClr val="000000"/>
                </a:solidFill>
              </a:rPr>
              <a:t>which parts of ViT are most fault-sensitive</a:t>
            </a:r>
            <a:br>
              <a:rPr b="1" lang="en" sz="1100">
                <a:solidFill>
                  <a:srgbClr val="000000"/>
                </a:solidFill>
              </a:rPr>
            </a:br>
            <a:endParaRPr b="1" sz="1100">
              <a:solidFill>
                <a:srgbClr val="000000"/>
              </a:solidFill>
            </a:endParaRPr>
          </a:p>
          <a:p>
            <a:pPr indent="0" lvl="0" marL="0" rtl="0" algn="l">
              <a:spcBef>
                <a:spcPts val="1200"/>
              </a:spcBef>
              <a:spcAft>
                <a:spcPts val="0"/>
              </a:spcAft>
              <a:buNone/>
            </a:pPr>
            <a:r>
              <a:t/>
            </a:r>
            <a:endParaRPr b="1" sz="1100">
              <a:solidFill>
                <a:srgbClr val="000000"/>
              </a:solidFill>
            </a:endParaRPr>
          </a:p>
          <a:p>
            <a:pPr indent="0" lvl="0" marL="0" rtl="0" algn="l">
              <a:spcBef>
                <a:spcPts val="1200"/>
              </a:spcBef>
              <a:spcAft>
                <a:spcPts val="0"/>
              </a:spcAft>
              <a:buNone/>
            </a:pPr>
            <a:r>
              <a:rPr b="1" lang="en" sz="1100">
                <a:solidFill>
                  <a:srgbClr val="000000"/>
                </a:solidFill>
              </a:rPr>
              <a:t>and then..</a:t>
            </a:r>
            <a:endParaRPr b="1" sz="1100">
              <a:solidFill>
                <a:srgbClr val="000000"/>
              </a:solidFill>
            </a:endParaRPr>
          </a:p>
          <a:p>
            <a:pPr indent="0" lvl="0" marL="0" rtl="0" algn="l">
              <a:spcBef>
                <a:spcPts val="1200"/>
              </a:spcBef>
              <a:spcAft>
                <a:spcPts val="0"/>
              </a:spcAft>
              <a:buNone/>
            </a:pPr>
            <a:r>
              <a:rPr b="1" lang="en" sz="1100">
                <a:solidFill>
                  <a:srgbClr val="000000"/>
                </a:solidFill>
              </a:rPr>
              <a:t>Phase 3:</a:t>
            </a:r>
            <a:r>
              <a:rPr lang="en" sz="1100">
                <a:solidFill>
                  <a:srgbClr val="000000"/>
                </a:solidFill>
              </a:rPr>
              <a:t> start implementing </a:t>
            </a:r>
            <a:r>
              <a:rPr b="1" lang="en" sz="1100">
                <a:solidFill>
                  <a:srgbClr val="000000"/>
                </a:solidFill>
              </a:rPr>
              <a:t>repair (LoRA/QLoRA)</a:t>
            </a:r>
            <a:r>
              <a:rPr lang="en" sz="1100">
                <a:solidFill>
                  <a:srgbClr val="000000"/>
                </a:solidFill>
              </a:rPr>
              <a:t> + show recovery and improved reliability</a:t>
            </a:r>
            <a:br>
              <a:rPr lang="en" sz="1100">
                <a:solidFill>
                  <a:srgbClr val="000000"/>
                </a:solidFill>
              </a:rPr>
            </a:br>
            <a:endParaRPr sz="1100">
              <a:solidFill>
                <a:srgbClr val="000000"/>
              </a:solidFill>
            </a:endParaRPr>
          </a:p>
          <a:p>
            <a:pPr indent="0" lvl="0" marL="0" rtl="0" algn="l">
              <a:spcBef>
                <a:spcPts val="1200"/>
              </a:spcBef>
              <a:spcAft>
                <a:spcPts val="0"/>
              </a:spcAft>
              <a:buNone/>
            </a:pPr>
            <a:r>
              <a:t/>
            </a:r>
            <a:endParaRPr sz="1100">
              <a:solidFill>
                <a:srgbClr val="000000"/>
              </a:solidFill>
            </a:endParaRPr>
          </a:p>
          <a:p>
            <a:pPr indent="0" lvl="0" marL="0" rtl="0" algn="l">
              <a:spcBef>
                <a:spcPts val="1200"/>
              </a:spcBef>
              <a:spcAft>
                <a:spcPts val="1200"/>
              </a:spcAft>
              <a:buNone/>
            </a:pPr>
            <a:r>
              <a:t/>
            </a:r>
            <a:endParaRPr b="1" sz="1100">
              <a:solidFill>
                <a:srgbClr val="00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