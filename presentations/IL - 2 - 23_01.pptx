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aleway"/>
      <p:regular r:id="rId18"/>
      <p:bold r:id="rId19"/>
      <p:italic r:id="rId20"/>
      <p:boldItalic r:id="rId21"/>
    </p:embeddedFont>
    <p:embeddedFont>
      <p:font typeface="Lato"/>
      <p:regular r:id="rId22"/>
      <p:bold r:id="rId23"/>
      <p:italic r:id="rId24"/>
      <p:boldItalic r:id="rId25"/>
    </p:embeddedFon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Lato-regular.fntdata"/><Relationship Id="rId21" Type="http://schemas.openxmlformats.org/officeDocument/2006/relationships/font" Target="fonts/Raleway-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regular.fntdata"/><Relationship Id="rId25" Type="http://schemas.openxmlformats.org/officeDocument/2006/relationships/font" Target="fonts/Lato-boldItalic.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a14a5d98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a14a5d98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a14a5d98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a14a5d98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a14a5d98a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a14a5d98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a14a5d98a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a14a5d98a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a14a5d98a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a14a5d98a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chemeClr val="dk1"/>
                </a:solidFill>
              </a:rPr>
              <a:t>What is Transfer Learning? </a:t>
            </a:r>
            <a:r>
              <a:rPr lang="en">
                <a:solidFill>
                  <a:schemeClr val="dk1"/>
                </a:solidFill>
              </a:rPr>
              <a:t>Transfer learning is a strategic machine learning approach where a model pre-trained on a massive, general-purpose dataset—such as ImageNet—is repurposed for a specific target task, like satellite image classification. Instead of training from scratch, we leverage the 'Backbone' of the Vision Transformer, which has already mastered universal visual features like edges, shapes, and textures. By replacing the original 'Head' with a new classification layer specific to our 10 EuroSAT classes, we can achieve high performance—like our 96.83% baseline—using significantly less training data and computational time. This efficiency is critical for space-based applications where specialized labeled data is limited and on-board processing power is at a premium.</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What did you do in the code?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Loading Pre-trained Weights</a:t>
            </a:r>
            <a:r>
              <a:rPr lang="en">
                <a:solidFill>
                  <a:schemeClr val="dk1"/>
                </a:solidFill>
              </a:rPr>
              <a:t>: By using </a:t>
            </a:r>
            <a:r>
              <a:rPr lang="en">
                <a:solidFill>
                  <a:srgbClr val="188038"/>
                </a:solidFill>
                <a:latin typeface="Roboto Mono"/>
                <a:ea typeface="Roboto Mono"/>
                <a:cs typeface="Roboto Mono"/>
                <a:sym typeface="Roboto Mono"/>
              </a:rPr>
              <a:t>timm.create_model(..., pretrained=True)</a:t>
            </a:r>
            <a:r>
              <a:rPr lang="en">
                <a:solidFill>
                  <a:schemeClr val="dk1"/>
                </a:solidFill>
              </a:rPr>
              <a:t>, you loaded a Vision Transformer that had already been trained on </a:t>
            </a:r>
            <a:r>
              <a:rPr b="1" lang="en">
                <a:solidFill>
                  <a:schemeClr val="dk1"/>
                </a:solidFill>
              </a:rPr>
              <a:t>ImageNet-21k</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Adapting the Architecture</a:t>
            </a:r>
            <a:r>
              <a:rPr lang="en">
                <a:solidFill>
                  <a:schemeClr val="dk1"/>
                </a:solidFill>
              </a:rPr>
              <a:t>: The original model was designed to classify 1,000 different objects. You set </a:t>
            </a:r>
            <a:r>
              <a:rPr lang="en">
                <a:solidFill>
                  <a:srgbClr val="188038"/>
                </a:solidFill>
                <a:latin typeface="Roboto Mono"/>
                <a:ea typeface="Roboto Mono"/>
                <a:cs typeface="Roboto Mono"/>
                <a:sym typeface="Roboto Mono"/>
              </a:rPr>
              <a:t>num_classes=10</a:t>
            </a:r>
            <a:r>
              <a:rPr lang="en">
                <a:solidFill>
                  <a:schemeClr val="dk1"/>
                </a:solidFill>
              </a:rPr>
              <a:t> to replace that final layer with a new one specifically for the </a:t>
            </a:r>
            <a:r>
              <a:rPr b="1" lang="en">
                <a:solidFill>
                  <a:schemeClr val="dk1"/>
                </a:solidFill>
              </a:rPr>
              <a:t>10 land-cover classes</a:t>
            </a:r>
            <a:r>
              <a:rPr lang="en">
                <a:solidFill>
                  <a:schemeClr val="dk1"/>
                </a:solidFill>
              </a:rPr>
              <a:t> of the EuroSAT dataset.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Domain Adaptation</a:t>
            </a:r>
            <a:r>
              <a:rPr lang="en">
                <a:solidFill>
                  <a:schemeClr val="dk1"/>
                </a:solidFill>
              </a:rPr>
              <a:t>: You took a model trained on general objects (dogs, cars, etc.) and "fine-tuned" it to recognize satellite features (forests, rivers, industrial areas).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Through this method, you achieved a baseline accuracy of </a:t>
            </a:r>
            <a:r>
              <a:rPr b="1" lang="en">
                <a:solidFill>
                  <a:schemeClr val="dk1"/>
                </a:solidFill>
              </a:rPr>
              <a:t>96.83%</a:t>
            </a:r>
            <a:r>
              <a:rPr lang="en">
                <a:solidFill>
                  <a:schemeClr val="dk1"/>
                </a:solidFill>
              </a:rPr>
              <a:t> in just one epoch, proving the effectiveness of transfer learning for satellite imagery.</a:t>
            </a:r>
            <a:endParaRPr b="1">
              <a:solidFill>
                <a:schemeClr val="dk1"/>
              </a:solidFill>
            </a:endParaRPr>
          </a:p>
          <a:p>
            <a:pPr indent="0" lvl="0" marL="0" rtl="0" algn="l">
              <a:spcBef>
                <a:spcPts val="120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"Why didn't you train from scratch?" </a:t>
            </a:r>
            <a:r>
              <a:rPr lang="en">
                <a:solidFill>
                  <a:schemeClr val="dk1"/>
                </a:solidFill>
              </a:rPr>
              <a:t>Vision Transformers are "data-hungry" and lack the built-in image biases (like locality) that CNNs have. Without pre-training on millions of images, a ViT would struggle to learn effectively from a smaller dataset like EuroSAT.</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"Why use the 'Tiny' version of ViT?" </a:t>
            </a:r>
            <a:r>
              <a:rPr lang="en">
                <a:solidFill>
                  <a:schemeClr val="dk1"/>
                </a:solidFill>
              </a:rPr>
              <a:t>Satellites are </a:t>
            </a:r>
            <a:r>
              <a:rPr b="1" lang="en">
                <a:solidFill>
                  <a:schemeClr val="dk1"/>
                </a:solidFill>
              </a:rPr>
              <a:t>Edge devices</a:t>
            </a:r>
            <a:r>
              <a:rPr lang="en">
                <a:solidFill>
                  <a:schemeClr val="dk1"/>
                </a:solidFill>
              </a:rPr>
              <a:t> with strict power and memory limitations. The </a:t>
            </a:r>
            <a:r>
              <a:rPr lang="en">
                <a:solidFill>
                  <a:srgbClr val="188038"/>
                </a:solidFill>
                <a:latin typeface="Roboto Mono"/>
                <a:ea typeface="Roboto Mono"/>
                <a:cs typeface="Roboto Mono"/>
                <a:sym typeface="Roboto Mono"/>
              </a:rPr>
              <a:t>vit_tiny</a:t>
            </a:r>
            <a:r>
              <a:rPr lang="en">
                <a:solidFill>
                  <a:schemeClr val="dk1"/>
                </a:solidFill>
              </a:rPr>
              <a:t> model provides a better balance between accuracy and the hardware constraints of a space-based application.</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"What parts of the model are updated during training?" </a:t>
            </a:r>
            <a:r>
              <a:rPr lang="en">
                <a:solidFill>
                  <a:schemeClr val="dk1"/>
                </a:solidFill>
              </a:rPr>
              <a:t>In this implementation, we are updating </a:t>
            </a:r>
            <a:r>
              <a:rPr b="1" lang="en">
                <a:solidFill>
                  <a:schemeClr val="dk1"/>
                </a:solidFill>
              </a:rPr>
              <a:t>all parameters</a:t>
            </a:r>
            <a:r>
              <a:rPr lang="en">
                <a:solidFill>
                  <a:schemeClr val="dk1"/>
                </a:solidFill>
              </a:rPr>
              <a:t> (backbone and head) because we used </a:t>
            </a:r>
            <a:r>
              <a:rPr lang="en">
                <a:solidFill>
                  <a:srgbClr val="188038"/>
                </a:solidFill>
                <a:latin typeface="Roboto Mono"/>
                <a:ea typeface="Roboto Mono"/>
                <a:cs typeface="Roboto Mono"/>
                <a:sym typeface="Roboto Mono"/>
              </a:rPr>
              <a:t>model.parameters()</a:t>
            </a:r>
            <a:r>
              <a:rPr lang="en">
                <a:solidFill>
                  <a:schemeClr val="dk1"/>
                </a:solidFill>
              </a:rPr>
              <a:t> in the optimizer. Later, we can "freeze" the backbone to make the learning more efficient for our "subnetworking" strategy. </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"Why use the Adam optimizer instead of SGD?" </a:t>
            </a:r>
            <a:r>
              <a:rPr lang="en">
                <a:solidFill>
                  <a:schemeClr val="dk1"/>
                </a:solidFill>
              </a:rPr>
              <a:t>While ResNets often use SGD, the original ViT paper found that the </a:t>
            </a:r>
            <a:r>
              <a:rPr b="1" lang="en">
                <a:solidFill>
                  <a:schemeClr val="dk1"/>
                </a:solidFill>
              </a:rPr>
              <a:t>Adam optimizer</a:t>
            </a:r>
            <a:r>
              <a:rPr lang="en">
                <a:solidFill>
                  <a:schemeClr val="dk1"/>
                </a:solidFill>
              </a:rPr>
              <a:t> works slightly better for Transformers due to its adaptive learning rate, especially during fine-tuning.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a14a5d98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a14a5d98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Speak- </a:t>
            </a:r>
            <a:r>
              <a:rPr lang="en">
                <a:solidFill>
                  <a:schemeClr val="dk1"/>
                </a:solidFill>
              </a:rPr>
              <a:t> "For Phase 1, I selected the EuroSAT dataset to establish our baseline. It consists of 27,000 multi-spectral images captured by the Sentinel-2 satellite. The dataset is balanced across 10 distinct land-cover classes, including residential areas, highways, and various agricultural categories. This variety ensures the model learns a diverse set of visual features rather than just memorizing a single environment. The core reason for choosing EuroSAT is its relevance to our topic. These images provide a consistent </a:t>
            </a:r>
            <a:r>
              <a:rPr b="1" lang="en">
                <a:solidFill>
                  <a:schemeClr val="dk1"/>
                </a:solidFill>
              </a:rPr>
              <a:t>nadir-view</a:t>
            </a:r>
            <a:r>
              <a:rPr lang="en">
                <a:solidFill>
                  <a:schemeClr val="dk1"/>
                </a:solidFill>
              </a:rPr>
              <a:t>, which is the standard top-down perspective for Earth Observation satellites. This makes it an ideal 'Ground Truth' proxy. If our Vision Transformer cannot reliably identify these Earth features under perfect conditions, it certainly won't be able to handle complex navigation tasks in orbit. By starting here, we can clearly measure the performance drop once we introduce radiation-induced bit flips in Phase 2."</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Resolution and Spectral Bands:</a:t>
            </a:r>
            <a:r>
              <a:rPr lang="en">
                <a:solidFill>
                  <a:schemeClr val="dk1"/>
                </a:solidFill>
              </a:rPr>
              <a:t> Sentinel-2 (the source) provides 13 spectral bands. While we are currently using the RGB version for simplicity in Phase 1, the full dataset offers multi-spectral data that could potentially make the model more robust to radiation noise in later phases.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Image Dimensions:</a:t>
            </a:r>
            <a:r>
              <a:rPr lang="en">
                <a:solidFill>
                  <a:schemeClr val="dk1"/>
                </a:solidFill>
              </a:rPr>
              <a:t> Each image is 64×64 pixels. In the code, we resized these to 224×224 to match the standard input size for the </a:t>
            </a:r>
            <a:r>
              <a:rPr b="1" lang="en">
                <a:solidFill>
                  <a:schemeClr val="dk1"/>
                </a:solidFill>
              </a:rPr>
              <a:t>Vision Transformer</a:t>
            </a:r>
            <a:r>
              <a:rPr lang="en">
                <a:solidFill>
                  <a:schemeClr val="dk1"/>
                </a:solidFill>
              </a:rPr>
              <a:t> architecture.</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Why not use SPEED+ yet?</a:t>
            </a:r>
            <a:r>
              <a:rPr lang="en">
                <a:solidFill>
                  <a:schemeClr val="dk1"/>
                </a:solidFill>
              </a:rPr>
              <a:t>: You can mention that while SPEED+ (Spacecraft Pose Estimation) is the end goal for "Navigation," EuroSAT allows us to test </a:t>
            </a:r>
            <a:r>
              <a:rPr b="1" lang="en">
                <a:solidFill>
                  <a:schemeClr val="dk1"/>
                </a:solidFill>
              </a:rPr>
              <a:t>Incremental Learning</a:t>
            </a:r>
            <a:r>
              <a:rPr lang="en">
                <a:solidFill>
                  <a:schemeClr val="dk1"/>
                </a:solidFill>
              </a:rPr>
              <a:t> and </a:t>
            </a:r>
            <a:r>
              <a:rPr b="1" lang="en">
                <a:solidFill>
                  <a:schemeClr val="dk1"/>
                </a:solidFill>
              </a:rPr>
              <a:t>Reliability</a:t>
            </a:r>
            <a:r>
              <a:rPr lang="en">
                <a:solidFill>
                  <a:schemeClr val="dk1"/>
                </a:solidFill>
              </a:rPr>
              <a:t> faster because classification is a more "stable" task for initial fault-injection experiments.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The "Domain Gap":</a:t>
            </a:r>
            <a:r>
              <a:rPr lang="en">
                <a:solidFill>
                  <a:schemeClr val="dk1"/>
                </a:solidFill>
              </a:rPr>
              <a:t> A key challenge in satellite AI is that models trained on synthetic data often fail in real space. EuroSAT uses real satellite imagery, which helps us bypass initial synthetic-to-real domain gap issues while we focus purely on hardware dependability.</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chemeClr val="dk1"/>
                </a:solidFill>
              </a:rPr>
              <a:t>Why is a 10-class classification task enough for a navigation thesis?"</a:t>
            </a:r>
            <a:r>
              <a:rPr lang="en">
                <a:solidFill>
                  <a:schemeClr val="dk1"/>
                </a:solidFill>
              </a:rPr>
              <a:t>"It's a foundational step. Classification is the 'perception' layer of navigation. If a bit flip causes a 'Forest' to be seen as a 'Highway,' the higher-level navigation logic will fail. We are securing the foundation first.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r>
              <a:rPr b="1" lang="en">
                <a:solidFill>
                  <a:schemeClr val="dk1"/>
                </a:solidFill>
              </a:rPr>
              <a:t>"Is the dataset large enough for a Transformer?" </a:t>
            </a:r>
            <a:r>
              <a:rPr lang="en">
                <a:solidFill>
                  <a:schemeClr val="dk1"/>
                </a:solidFill>
              </a:rPr>
              <a:t>"Normally, no—Transformers need millions of images. However, because we are using </a:t>
            </a:r>
            <a:r>
              <a:rPr b="1" lang="en">
                <a:solidFill>
                  <a:schemeClr val="dk1"/>
                </a:solidFill>
              </a:rPr>
              <a:t>Transfer Learning</a:t>
            </a:r>
            <a:r>
              <a:rPr lang="en">
                <a:solidFill>
                  <a:schemeClr val="dk1"/>
                </a:solidFill>
              </a:rPr>
              <a:t> with a model pre-trained on ImageNet-21k, 27,000 images are more than enough to fine-tune the head for this domain."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b="1" lang="en">
                <a:solidFill>
                  <a:schemeClr val="dk1"/>
                </a:solidFill>
              </a:rPr>
              <a:t>"How does EuroSAT relate to the 'No-Shutdown' requirement?"</a:t>
            </a:r>
            <a:r>
              <a:rPr lang="en">
                <a:solidFill>
                  <a:schemeClr val="dk1"/>
                </a:solidFill>
              </a:rPr>
              <a:t>"In Phase 3, we will simulate a stream of 'new' satellite images. The model will need to continue classifying while we incrementally update its 'subnetwork' to fix radiation errors. EuroSAT provides the variety needed for that stream."</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a14a5d98a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a14a5d98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Speak - </a:t>
            </a:r>
            <a:r>
              <a:rPr lang="en">
                <a:solidFill>
                  <a:schemeClr val="dk1"/>
                </a:solidFill>
              </a:rPr>
              <a:t>To understand why we chose this architecture, we have to look at how it differs from traditional computer vision. While standard models use convolutions to look at local pixel clusters, a Vision Transformer treats an image exactly like a sentence. In our implementation, we take a 224×224 satellite image and break it into 16×16 pixel patches. These patches are our 'words.' We flatten them into vectors so the Transformer can process them as a sequence. The core engine is Self-Attention. Instead of only looking at neighboring pixels, every patch in the satellite image 'talks' to every other patch simultaneously. The model calculates 'Attention Weights'—mathematical scores that tell the model which parts of the image are most relevant to the classification task. </a:t>
            </a:r>
            <a:r>
              <a:rPr lang="en">
                <a:solidFill>
                  <a:schemeClr val="dk1"/>
                </a:solidFill>
              </a:rPr>
              <a:t>This</a:t>
            </a:r>
            <a:r>
              <a:rPr lang="en">
                <a:solidFill>
                  <a:schemeClr val="dk1"/>
                </a:solidFill>
              </a:rPr>
              <a:t> global awareness is a huge benefit for space navigation. It allows the model to instantly connect a landmark on the left side of the frame with a coastline on the right, providing a level of spatial context that traditional CNNs struggle to achieve without many deep layers."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Handy Extra Info (For Q&amp;A)</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Linear Projection:</a:t>
            </a:r>
            <a:r>
              <a:rPr lang="en">
                <a:solidFill>
                  <a:schemeClr val="dk1"/>
                </a:solidFill>
              </a:rPr>
              <a:t> When we "flatten" patches, we use a trainable </a:t>
            </a:r>
            <a:r>
              <a:rPr b="1" lang="en">
                <a:solidFill>
                  <a:schemeClr val="dk1"/>
                </a:solidFill>
              </a:rPr>
              <a:t>Linear Projection</a:t>
            </a:r>
            <a:r>
              <a:rPr lang="en">
                <a:solidFill>
                  <a:schemeClr val="dk1"/>
                </a:solidFill>
              </a:rPr>
              <a:t> to map them into a constant latent vector size D. This is what converts raw pixels into the "embeddings" the Transformer understands.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The [class] Token:</a:t>
            </a:r>
            <a:r>
              <a:rPr lang="en">
                <a:solidFill>
                  <a:schemeClr val="dk1"/>
                </a:solidFill>
              </a:rPr>
              <a:t> Mahdi might notice a "0" patch in diagrams. Explain that we prepend a special learnable </a:t>
            </a:r>
            <a:r>
              <a:rPr b="1" lang="en">
                <a:solidFill>
                  <a:schemeClr val="dk1"/>
                </a:solidFill>
              </a:rPr>
              <a:t>classification token</a:t>
            </a:r>
            <a:r>
              <a:rPr lang="en">
                <a:solidFill>
                  <a:schemeClr val="dk1"/>
                </a:solidFill>
              </a:rPr>
              <a:t> to the sequence. The state of this token at the output is what the model uses to decide if it's looking at a 'Forest' or a 'Residential' area.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Position Embeddings:</a:t>
            </a:r>
            <a:r>
              <a:rPr lang="en">
                <a:solidFill>
                  <a:schemeClr val="dk1"/>
                </a:solidFill>
              </a:rPr>
              <a:t> Since Transformers process patches in parallel, they don't natively know the "order" of the patches. We add </a:t>
            </a:r>
            <a:r>
              <a:rPr b="1" lang="en">
                <a:solidFill>
                  <a:schemeClr val="dk1"/>
                </a:solidFill>
              </a:rPr>
              <a:t>Position Embeddings</a:t>
            </a:r>
            <a:r>
              <a:rPr lang="en">
                <a:solidFill>
                  <a:schemeClr val="dk1"/>
                </a:solidFill>
              </a:rPr>
              <a:t> to the vectors to retain information about where each patch was in the original 2D grid.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Receptive Field:</a:t>
            </a:r>
            <a:r>
              <a:rPr lang="en">
                <a:solidFill>
                  <a:schemeClr val="dk1"/>
                </a:solidFill>
              </a:rPr>
              <a:t> In CNNs, the "receptive field" (how much of the image the model sees at once) grows slowly layer by layer. In ViT, the receptive field is </a:t>
            </a:r>
            <a:r>
              <a:rPr b="1" lang="en">
                <a:solidFill>
                  <a:schemeClr val="dk1"/>
                </a:solidFill>
              </a:rPr>
              <a:t>global from the very first layer</a:t>
            </a:r>
            <a:r>
              <a:rPr lang="en">
                <a:solidFill>
                  <a:schemeClr val="dk1"/>
                </a:solidFill>
              </a:rPr>
              <a:t> due to self-attention.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a14a5d98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a14a5d98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rPr>
              <a:t>Speak - </a:t>
            </a:r>
            <a:r>
              <a:rPr lang="en">
                <a:solidFill>
                  <a:schemeClr val="dk1"/>
                </a:solidFill>
              </a:rPr>
              <a:t>The foundational paper for ViT is the 2021 ICLR publication by Dosovitskiy et al. from Google Research. Their primary goal was to prove that the Transformer architecture, which had already revolutionized Natural Language Processing, could be applied to computer vision with virtually no modifications. To do this, they treated image patches—specifically 16×16 squares—exactly like words in a sentence. This 'pure' Transformer approach avoids the complex, specialized attention patterns used in previous hybrid models, making it much more scalable on modern hardware. The most critical finding was that while Vision Transformers lack the 'inductive biases' inherent to CNNs—like understanding that nearby pixels are related—they actually outperform CNNs once they are trained on enough data. They found that large-scale pre-training effectively 'teaches' the model the visual rules that CNNs have hard-coded into them. </a:t>
            </a:r>
            <a:r>
              <a:rPr lang="en">
                <a:solidFill>
                  <a:schemeClr val="dk1"/>
                </a:solidFill>
              </a:rPr>
              <a:t>Significa</a:t>
            </a:r>
            <a:r>
              <a:rPr lang="en">
                <a:solidFill>
                  <a:schemeClr val="dk1"/>
                </a:solidFill>
              </a:rPr>
              <a:t>ntly for our satellite application, the paper proved that ViTs attain state-of-the-art results while requiring substantially fewer computational resources to train compared to top-tier convolutional networks like ResNets."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Handy Extra Info (For Q&amp;A)</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Pre-training Datasets:</a:t>
            </a:r>
            <a:r>
              <a:rPr lang="en">
                <a:solidFill>
                  <a:schemeClr val="dk1"/>
                </a:solidFill>
              </a:rPr>
              <a:t> The authors used massive datasets like </a:t>
            </a:r>
            <a:r>
              <a:rPr b="1" lang="en">
                <a:solidFill>
                  <a:schemeClr val="dk1"/>
                </a:solidFill>
              </a:rPr>
              <a:t>ImageNet-21k</a:t>
            </a:r>
            <a:r>
              <a:rPr lang="en">
                <a:solidFill>
                  <a:schemeClr val="dk1"/>
                </a:solidFill>
              </a:rPr>
              <a:t> (14 million images) and the in-house </a:t>
            </a:r>
            <a:r>
              <a:rPr b="1" lang="en">
                <a:solidFill>
                  <a:schemeClr val="dk1"/>
                </a:solidFill>
              </a:rPr>
              <a:t>JFT-300M</a:t>
            </a:r>
            <a:r>
              <a:rPr lang="en">
                <a:solidFill>
                  <a:schemeClr val="dk1"/>
                </a:solidFill>
              </a:rPr>
              <a:t> (303 million images) to reach these SOTA levels.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The [class] Token:</a:t>
            </a:r>
            <a:r>
              <a:rPr lang="en">
                <a:solidFill>
                  <a:schemeClr val="dk1"/>
                </a:solidFill>
              </a:rPr>
              <a:t> Similar to the BERT model in NLP, ViT prepends a learnable "classification token" to the sequence of patch embeddings. The final state of this token serves as the aggregate representation used for classification.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Position Embeddings:</a:t>
            </a:r>
            <a:r>
              <a:rPr lang="en">
                <a:solidFill>
                  <a:schemeClr val="dk1"/>
                </a:solidFill>
              </a:rPr>
              <a:t> Because Transformers are "permutation invariant" (they don't naturally see order), the authors add 1D learnable position embeddings to the patches so the model retains spatial information.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Global Integration:</a:t>
            </a:r>
            <a:r>
              <a:rPr lang="en">
                <a:solidFill>
                  <a:schemeClr val="dk1"/>
                </a:solidFill>
              </a:rPr>
              <a:t> A key advantage cited in the paper is that self-attention allows the model to integrate information across the </a:t>
            </a:r>
            <a:r>
              <a:rPr b="1" lang="en">
                <a:solidFill>
                  <a:schemeClr val="dk1"/>
                </a:solidFill>
              </a:rPr>
              <a:t>entire image</a:t>
            </a:r>
            <a:r>
              <a:rPr lang="en">
                <a:solidFill>
                  <a:schemeClr val="dk1"/>
                </a:solidFill>
              </a:rPr>
              <a:t> even in its lowest layers, whereas CNNs only have a small "local" receptive field initially.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a14a5d98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a14a5d98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solidFill>
                  <a:schemeClr val="dk1"/>
                </a:solidFill>
              </a:rPr>
              <a:t>Speak - </a:t>
            </a:r>
            <a:r>
              <a:rPr lang="en">
                <a:solidFill>
                  <a:schemeClr val="dk1"/>
                </a:solidFill>
              </a:rPr>
              <a:t>This slide shows the successful completion of Phase 1. Using a Vision Transformer, we achieved a final test accuracy of </a:t>
            </a:r>
            <a:r>
              <a:rPr b="1" lang="en">
                <a:solidFill>
                  <a:schemeClr val="dk1"/>
                </a:solidFill>
              </a:rPr>
              <a:t>96.83%</a:t>
            </a:r>
            <a:r>
              <a:rPr lang="en">
                <a:solidFill>
                  <a:schemeClr val="dk1"/>
                </a:solidFill>
              </a:rPr>
              <a:t> on the EuroSAT dataset. We started with an initial loss of </a:t>
            </a:r>
            <a:r>
              <a:rPr b="1" lang="en">
                <a:solidFill>
                  <a:schemeClr val="dk1"/>
                </a:solidFill>
              </a:rPr>
              <a:t>0.639</a:t>
            </a:r>
            <a:r>
              <a:rPr lang="en">
                <a:solidFill>
                  <a:schemeClr val="dk1"/>
                </a:solidFill>
              </a:rPr>
              <a:t>.. Within a single epoch, we observed a steady downward trend, concluding with a loss of </a:t>
            </a:r>
            <a:r>
              <a:rPr b="1" lang="en">
                <a:solidFill>
                  <a:schemeClr val="dk1"/>
                </a:solidFill>
              </a:rPr>
              <a:t>0.114</a:t>
            </a:r>
            <a:r>
              <a:rPr lang="en">
                <a:solidFill>
                  <a:schemeClr val="dk1"/>
                </a:solidFill>
              </a:rPr>
              <a:t>. The model reached near-perfect accuracy so quickly proving that the pre-trained features from ImageNet transferred very effectively to the domain of satellite land-cover identification. so now With this healthy baseline established, we now have a reliable performance metric. This is the gold standard we will use to measure degradation once we begin injecting radiation-induced bit flips in the next phase."</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rPr b="1" lang="en">
                <a:solidFill>
                  <a:schemeClr val="dk1"/>
                </a:solidFill>
              </a:rPr>
              <a:t>How many batches did you use, and why?"</a:t>
            </a:r>
            <a:r>
              <a:rPr lang="en">
                <a:solidFill>
                  <a:schemeClr val="dk1"/>
                </a:solidFill>
              </a:rPr>
              <a:t>"We processed </a:t>
            </a:r>
            <a:r>
              <a:rPr b="1" lang="en">
                <a:solidFill>
                  <a:schemeClr val="dk1"/>
                </a:solidFill>
              </a:rPr>
              <a:t>675 batches</a:t>
            </a:r>
            <a:r>
              <a:rPr lang="en">
                <a:solidFill>
                  <a:schemeClr val="dk1"/>
                </a:solidFill>
              </a:rPr>
              <a:t> (based on 80% of 27,000 images divided by a batch size of 32). This batch size was chosen as a standard starting point to balance training stability with memory efficiency on a single CPU/GPU."</a:t>
            </a:r>
            <a:endParaRPr>
              <a:solidFill>
                <a:schemeClr val="dk1"/>
              </a:solidFill>
            </a:endParaRPr>
          </a:p>
          <a:p>
            <a:pPr indent="0" lvl="0" marL="0" rtl="0" algn="l">
              <a:spcBef>
                <a:spcPts val="0"/>
              </a:spcBef>
              <a:spcAft>
                <a:spcPts val="0"/>
              </a:spcAft>
              <a:buNone/>
            </a:pPr>
            <a:r>
              <a:rPr b="1" lang="en">
                <a:solidFill>
                  <a:schemeClr val="dk1"/>
                </a:solidFill>
              </a:rPr>
              <a:t>"Why only one epoch?"</a:t>
            </a:r>
            <a:r>
              <a:rPr lang="en">
                <a:solidFill>
                  <a:schemeClr val="dk1"/>
                </a:solidFill>
              </a:rPr>
              <a:t>"Since we are using </a:t>
            </a:r>
            <a:r>
              <a:rPr b="1" lang="en">
                <a:solidFill>
                  <a:schemeClr val="dk1"/>
                </a:solidFill>
              </a:rPr>
              <a:t>Transfer Learning</a:t>
            </a:r>
            <a:r>
              <a:rPr lang="en">
                <a:solidFill>
                  <a:schemeClr val="dk1"/>
                </a:solidFill>
              </a:rPr>
              <a:t> with a robust pre-trained model, the weights only needed minor adjustments to adapt to EuroSAT. One epoch was sufficient for convergence, as shown by the loss plateauing around 0.114. For a thesis prototype, this saves significant time while still giving us a 96%+ accuracy baseline."</a:t>
            </a:r>
            <a:endParaRPr>
              <a:solidFill>
                <a:schemeClr val="dk1"/>
              </a:solidFill>
            </a:endParaRPr>
          </a:p>
          <a:p>
            <a:pPr indent="0" lvl="0" marL="0" rtl="0" algn="l">
              <a:spcBef>
                <a:spcPts val="0"/>
              </a:spcBef>
              <a:spcAft>
                <a:spcPts val="0"/>
              </a:spcAft>
              <a:buNone/>
            </a:pPr>
            <a:r>
              <a:rPr b="1" lang="en">
                <a:solidFill>
                  <a:schemeClr val="dk1"/>
                </a:solidFill>
              </a:rPr>
              <a:t>"How are you calculating loss?"</a:t>
            </a:r>
            <a:r>
              <a:rPr lang="en">
                <a:solidFill>
                  <a:schemeClr val="dk1"/>
                </a:solidFill>
              </a:rPr>
              <a:t>"We used </a:t>
            </a:r>
            <a:r>
              <a:rPr b="1" lang="en">
                <a:solidFill>
                  <a:schemeClr val="dk1"/>
                </a:solidFill>
              </a:rPr>
              <a:t>Cross-Entropy Loss</a:t>
            </a:r>
            <a:r>
              <a:rPr lang="en">
                <a:solidFill>
                  <a:schemeClr val="dk1"/>
                </a:solidFill>
              </a:rPr>
              <a:t>, which is the standard for multi-class classification. It measures the 'distance' between the model's predicted probabilities for the 10 classes and the actual labels provided by the EuroSAT ground truth."</a:t>
            </a:r>
            <a:endParaRPr>
              <a:solidFill>
                <a:schemeClr val="dk1"/>
              </a:solidFill>
            </a:endParaRPr>
          </a:p>
          <a:p>
            <a:pPr indent="0" lvl="0" marL="0" rtl="0" algn="l">
              <a:spcBef>
                <a:spcPts val="0"/>
              </a:spcBef>
              <a:spcAft>
                <a:spcPts val="0"/>
              </a:spcAft>
              <a:buNone/>
            </a:pPr>
            <a:r>
              <a:rPr b="1" lang="en">
                <a:solidFill>
                  <a:schemeClr val="dk1"/>
                </a:solidFill>
              </a:rPr>
              <a:t>"Did you use any regularization like dropout?"</a:t>
            </a:r>
            <a:r>
              <a:rPr lang="en">
                <a:solidFill>
                  <a:schemeClr val="dk1"/>
                </a:solidFill>
              </a:rPr>
              <a:t>"In this initial baseline, we kept the setup simple. However, the original ViT paper notes that dropout is critical when training from scratch on smaller datasets to prevent overfitting."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Handy Extra Info (Technical Deep Dive)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Learning Rate:</a:t>
            </a:r>
            <a:r>
              <a:rPr lang="en">
                <a:solidFill>
                  <a:schemeClr val="dk1"/>
                </a:solidFill>
              </a:rPr>
              <a:t> Mention you used a learning rate of 1×10−4 with the </a:t>
            </a:r>
            <a:r>
              <a:rPr b="1" lang="en">
                <a:solidFill>
                  <a:schemeClr val="dk1"/>
                </a:solidFill>
              </a:rPr>
              <a:t>Adam optimizer</a:t>
            </a:r>
            <a:r>
              <a:rPr lang="en">
                <a:solidFill>
                  <a:schemeClr val="dk1"/>
                </a:solidFill>
              </a:rPr>
              <a:t>. Adam is often preferred for Transformers because it handles the sparse gradients common in attention mechanisms better than standard SGD.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Throughput:</a:t>
            </a:r>
            <a:r>
              <a:rPr lang="en">
                <a:solidFill>
                  <a:schemeClr val="dk1"/>
                </a:solidFill>
              </a:rPr>
              <a:t> Notice in your terminal screenshot that you were using the </a:t>
            </a:r>
            <a:r>
              <a:rPr b="1" lang="en">
                <a:solidFill>
                  <a:schemeClr val="dk1"/>
                </a:solidFill>
              </a:rPr>
              <a:t>CPU</a:t>
            </a:r>
            <a:r>
              <a:rPr lang="en">
                <a:solidFill>
                  <a:schemeClr val="dk1"/>
                </a:solidFill>
              </a:rPr>
              <a:t> for this run. For on-orbit applications, this is realistic, as most radiation-hardened satellite processors do not yet have the massive parallel power of a high-end Earth-side GPU.</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Evaluation Mode:</a:t>
            </a:r>
            <a:r>
              <a:rPr lang="en">
                <a:solidFill>
                  <a:schemeClr val="dk1"/>
                </a:solidFill>
              </a:rPr>
              <a:t> Point out that during accuracy calculation, you used </a:t>
            </a:r>
            <a:r>
              <a:rPr lang="en">
                <a:solidFill>
                  <a:srgbClr val="188038"/>
                </a:solidFill>
                <a:latin typeface="Roboto Mono"/>
                <a:ea typeface="Roboto Mono"/>
                <a:cs typeface="Roboto Mono"/>
                <a:sym typeface="Roboto Mono"/>
              </a:rPr>
              <a:t>model.eval()</a:t>
            </a:r>
            <a:r>
              <a:rPr lang="en">
                <a:solidFill>
                  <a:schemeClr val="dk1"/>
                </a:solidFill>
              </a:rPr>
              <a:t> and </a:t>
            </a:r>
            <a:r>
              <a:rPr lang="en">
                <a:solidFill>
                  <a:srgbClr val="188038"/>
                </a:solidFill>
                <a:latin typeface="Roboto Mono"/>
                <a:ea typeface="Roboto Mono"/>
                <a:cs typeface="Roboto Mono"/>
                <a:sym typeface="Roboto Mono"/>
              </a:rPr>
              <a:t>torch.no_grad()</a:t>
            </a:r>
            <a:r>
              <a:rPr lang="en">
                <a:solidFill>
                  <a:schemeClr val="dk1"/>
                </a:solidFill>
              </a:rPr>
              <a:t>. This is vital because it disables dropout and stops the model from tracking gradients, ensuring you get a true "inference-only" performance score.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ba14a5d98a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ba14a5d98a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Speak</a:t>
            </a:r>
            <a:r>
              <a:rPr lang="en">
                <a:solidFill>
                  <a:schemeClr val="dk1"/>
                </a:solidFill>
              </a:rPr>
              <a:t> - With our baseline established, we transition to the core challenge: maintaining dependability in harsh orbital environments. Space-based AI faces constant threats from cosmic radiation, specifically </a:t>
            </a:r>
            <a:r>
              <a:rPr b="1" lang="en">
                <a:solidFill>
                  <a:schemeClr val="dk1"/>
                </a:solidFill>
              </a:rPr>
              <a:t>Single Event Upsets (SEUs)</a:t>
            </a:r>
            <a:r>
              <a:rPr lang="en">
                <a:solidFill>
                  <a:schemeClr val="dk1"/>
                </a:solidFill>
              </a:rPr>
              <a:t> where high-energy protons physically flip bits in the satellite's memory. To study this, I have developed a </a:t>
            </a:r>
            <a:r>
              <a:rPr b="1" lang="en">
                <a:solidFill>
                  <a:schemeClr val="dk1"/>
                </a:solidFill>
              </a:rPr>
              <a:t>Radiation Injection script</a:t>
            </a:r>
            <a:r>
              <a:rPr lang="en">
                <a:solidFill>
                  <a:schemeClr val="dk1"/>
                </a:solidFill>
              </a:rPr>
              <a:t> that manually corrupts weights within the Vision Transformer's MLP layer. Our primary research goal is </a:t>
            </a:r>
            <a:r>
              <a:rPr lang="en">
                <a:solidFill>
                  <a:schemeClr val="dk1"/>
                </a:solidFill>
              </a:rPr>
              <a:t>for my next experiments is: </a:t>
            </a:r>
            <a:r>
              <a:rPr b="1" lang="en">
                <a:solidFill>
                  <a:schemeClr val="dk1"/>
                </a:solidFill>
              </a:rPr>
              <a:t>How brittle is this architecture?</a:t>
            </a:r>
            <a:r>
              <a:rPr lang="en">
                <a:solidFill>
                  <a:schemeClr val="dk1"/>
                </a:solidFill>
              </a:rPr>
              <a:t> I will be measuring how many bit-flips it takes to drop our 96% accuracy to a 'failed' state. This data is essential for Phase 3, where we will implement </a:t>
            </a:r>
            <a:r>
              <a:rPr b="1" lang="en">
                <a:solidFill>
                  <a:schemeClr val="dk1"/>
                </a:solidFill>
              </a:rPr>
              <a:t>Incremental Learning</a:t>
            </a:r>
            <a:r>
              <a:rPr lang="en">
                <a:solidFill>
                  <a:schemeClr val="dk1"/>
                </a:solidFill>
              </a:rPr>
              <a:t> to automatically detect and repair these specific hardware faults."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Why MLP? We target the MLP layer because it houses the bulk of the model’s parameters, making it the most probable target for random radiation hits.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Propagation &amp; Impact:</a:t>
            </a:r>
            <a:r>
              <a:rPr lang="en">
                <a:solidFill>
                  <a:schemeClr val="dk1"/>
                </a:solidFill>
              </a:rPr>
              <a:t> "A single bit-flip in a floating-point value can scale a weight by orders of magnitude. Because the Transformer uses </a:t>
            </a:r>
            <a:r>
              <a:rPr b="1" lang="en">
                <a:solidFill>
                  <a:schemeClr val="dk1"/>
                </a:solidFill>
              </a:rPr>
              <a:t>Self-Attention</a:t>
            </a:r>
            <a:r>
              <a:rPr lang="en">
                <a:solidFill>
                  <a:schemeClr val="dk1"/>
                </a:solidFill>
              </a:rPr>
              <a:t>, this one corrupted value can propagate its error across the entire image representation. If a weight in an early layer is corrupted, it doesn't just affect one pixel; it can distort how the model 'attends' to every other patch in the scene."</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Handy Extra Info (For Q&amp;A)</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Weight vs. Activation Flips:</a:t>
            </a:r>
            <a:r>
              <a:rPr lang="en">
                <a:solidFill>
                  <a:schemeClr val="dk1"/>
                </a:solidFill>
              </a:rPr>
              <a:t> Mahdi might ask if you are flipping weights or activations. You are flipping </a:t>
            </a:r>
            <a:r>
              <a:rPr b="1" lang="en">
                <a:solidFill>
                  <a:schemeClr val="dk1"/>
                </a:solidFill>
              </a:rPr>
              <a:t>weights</a:t>
            </a:r>
            <a:r>
              <a:rPr lang="en">
                <a:solidFill>
                  <a:schemeClr val="dk1"/>
                </a:solidFill>
              </a:rPr>
              <a:t> (permanent memory errors) because that is what a satellite's "Long-Term" memory scrubbing or fine-tuning must fix.</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Float32 Sensitivity:</a:t>
            </a:r>
            <a:r>
              <a:rPr lang="en">
                <a:solidFill>
                  <a:schemeClr val="dk1"/>
                </a:solidFill>
              </a:rPr>
              <a:t> Mention that in a 32-bit float, a flip in the </a:t>
            </a:r>
            <a:r>
              <a:rPr b="1" lang="en">
                <a:solidFill>
                  <a:schemeClr val="dk1"/>
                </a:solidFill>
              </a:rPr>
              <a:t>exponent bits</a:t>
            </a:r>
            <a:r>
              <a:rPr lang="en">
                <a:solidFill>
                  <a:schemeClr val="dk1"/>
                </a:solidFill>
              </a:rPr>
              <a:t> is catastrophic, while a flip in the </a:t>
            </a:r>
            <a:r>
              <a:rPr b="1" lang="en">
                <a:solidFill>
                  <a:schemeClr val="dk1"/>
                </a:solidFill>
              </a:rPr>
              <a:t>mantissa</a:t>
            </a:r>
            <a:r>
              <a:rPr lang="en">
                <a:solidFill>
                  <a:schemeClr val="dk1"/>
                </a:solidFill>
              </a:rPr>
              <a:t> might be negligible. Your simulation will investigate these "critical bits".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Comparison to 'RowHammer':</a:t>
            </a:r>
            <a:r>
              <a:rPr lang="en">
                <a:solidFill>
                  <a:schemeClr val="dk1"/>
                </a:solidFill>
              </a:rPr>
              <a:t> If he asks about security, note that SEUs are "natural" bit-flips, but they are mathematically identical to </a:t>
            </a:r>
            <a:r>
              <a:rPr b="1" lang="en">
                <a:solidFill>
                  <a:schemeClr val="dk1"/>
                </a:solidFill>
              </a:rPr>
              <a:t>RowHammer</a:t>
            </a:r>
            <a:r>
              <a:rPr lang="en">
                <a:solidFill>
                  <a:schemeClr val="dk1"/>
                </a:solidFill>
              </a:rPr>
              <a:t> attacks used by hackers on Earth to take over AI models.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ECC (Error Correction Codes):</a:t>
            </a:r>
            <a:r>
              <a:rPr lang="en">
                <a:solidFill>
                  <a:schemeClr val="dk1"/>
                </a:solidFill>
              </a:rPr>
              <a:t> Satellites use ECC to fix some bits, but heavy radiation can cause "Multi-Bit Upsets" that ECC cannot handle. Your AI-based recovery is a "Second Line of Defense".</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a14a5d98a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a14a5d98a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Phase 3 will begin: transitioning from identifying faults to actively repairing them without interrupting the satellite’s mission. Our core goal is </a:t>
            </a:r>
            <a:r>
              <a:rPr b="1" lang="en">
                <a:solidFill>
                  <a:schemeClr val="dk1"/>
                </a:solidFill>
              </a:rPr>
              <a:t>Continuous Availability</a:t>
            </a:r>
            <a:r>
              <a:rPr lang="en">
                <a:solidFill>
                  <a:schemeClr val="dk1"/>
                </a:solidFill>
              </a:rPr>
              <a:t>; in a high-stakes navigation environment, a shutdown for fine-tuning could be catastrophic. To achieve this, we are implementing a </a:t>
            </a:r>
            <a:r>
              <a:rPr b="1" lang="en">
                <a:solidFill>
                  <a:schemeClr val="dk1"/>
                </a:solidFill>
              </a:rPr>
              <a:t>Subnetworking Strategy</a:t>
            </a:r>
            <a:r>
              <a:rPr lang="en">
                <a:solidFill>
                  <a:schemeClr val="dk1"/>
                </a:solidFill>
              </a:rPr>
              <a:t>. The model is logically split into two parts: while </a:t>
            </a:r>
            <a:r>
              <a:rPr b="1" lang="en">
                <a:solidFill>
                  <a:schemeClr val="dk1"/>
                </a:solidFill>
              </a:rPr>
              <a:t>Part A</a:t>
            </a:r>
            <a:r>
              <a:rPr lang="en">
                <a:solidFill>
                  <a:schemeClr val="dk1"/>
                </a:solidFill>
              </a:rPr>
              <a:t> stays active to handle live navigation and classification, </a:t>
            </a:r>
            <a:r>
              <a:rPr b="1" lang="en">
                <a:solidFill>
                  <a:schemeClr val="dk1"/>
                </a:solidFill>
              </a:rPr>
              <a:t>Part B</a:t>
            </a:r>
            <a:r>
              <a:rPr lang="en">
                <a:solidFill>
                  <a:schemeClr val="dk1"/>
                </a:solidFill>
              </a:rPr>
              <a:t> is isolated to undergo 'repair' via Incremental Learning, fixing the damage we simulated in Phase 2. Once the repair is complete, we use a </a:t>
            </a:r>
            <a:r>
              <a:rPr b="1" lang="en">
                <a:solidFill>
                  <a:schemeClr val="dk1"/>
                </a:solidFill>
              </a:rPr>
              <a:t>'Ping-Pong' update mechanism</a:t>
            </a:r>
            <a:r>
              <a:rPr lang="en">
                <a:solidFill>
                  <a:schemeClr val="dk1"/>
                </a:solidFill>
              </a:rPr>
              <a:t> to swap their roles—Part B takes over the mission while Part A begins its own update cycle. This ensures 100% uptime and 'awareness.' Our next milestone is implementing </a:t>
            </a:r>
            <a:r>
              <a:rPr b="1" lang="en">
                <a:solidFill>
                  <a:schemeClr val="dk1"/>
                </a:solidFill>
              </a:rPr>
              <a:t>LoRA (Low-Rank Adaptation)</a:t>
            </a:r>
            <a:r>
              <a:rPr lang="en">
                <a:solidFill>
                  <a:schemeClr val="dk1"/>
                </a:solidFill>
              </a:rPr>
              <a:t> for these repairs, as it allows for rapid, low-power weight correction perfectly suited for the satellite's limited hardware budget.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Why implement LoRA specifically?"</a:t>
            </a:r>
            <a:r>
              <a:rPr lang="en">
                <a:solidFill>
                  <a:schemeClr val="dk1"/>
                </a:solidFill>
              </a:rPr>
              <a:t>LoRA (Low-Rank Adaptation) is highly efficient because it only updates a tiny fraction of the model’s total weights. This significantly reduces the memory and power required for on-board training, which is essential for 'Edge' devices in space.</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Incremental Learning - II</a:t>
            </a:r>
            <a:endParaRPr/>
          </a:p>
          <a:p>
            <a:pPr indent="0" lvl="0" marL="0" rtl="0" algn="l">
              <a:spcBef>
                <a:spcPts val="0"/>
              </a:spcBef>
              <a:spcAft>
                <a:spcPts val="0"/>
              </a:spcAft>
              <a:buNone/>
            </a:pPr>
            <a:r>
              <a:rPr b="0" lang="en" sz="1800" u="sng">
                <a:latin typeface="Arial"/>
                <a:ea typeface="Arial"/>
                <a:cs typeface="Arial"/>
                <a:sym typeface="Arial"/>
              </a:rPr>
              <a:t>23/01</a:t>
            </a:r>
            <a:endParaRPr b="0" sz="1800" u="sng">
              <a:latin typeface="Arial"/>
              <a:ea typeface="Arial"/>
              <a:cs typeface="Arial"/>
              <a:sym typeface="Arial"/>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Pramit Kumar Bhaduri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core challenge?</a:t>
            </a:r>
            <a:endParaRPr/>
          </a:p>
        </p:txBody>
      </p:sp>
      <p:sp>
        <p:nvSpPr>
          <p:cNvPr id="93" name="Google Shape;93;p14"/>
          <p:cNvSpPr txBox="1"/>
          <p:nvPr>
            <p:ph idx="1" type="body"/>
          </p:nvPr>
        </p:nvSpPr>
        <p:spPr>
          <a:xfrm>
            <a:off x="729450" y="1362300"/>
            <a:ext cx="7688700" cy="29778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t/>
            </a:r>
            <a:endParaRPr/>
          </a:p>
          <a:p>
            <a:pPr indent="0" lvl="0" marL="0" rtl="0" algn="l">
              <a:lnSpc>
                <a:spcPct val="150000"/>
              </a:lnSpc>
              <a:spcBef>
                <a:spcPts val="1200"/>
              </a:spcBef>
              <a:spcAft>
                <a:spcPts val="0"/>
              </a:spcAft>
              <a:buNone/>
            </a:pPr>
            <a:r>
              <a:t/>
            </a:r>
            <a:endParaRPr/>
          </a:p>
          <a:p>
            <a:pPr indent="0" lvl="0" marL="0" rtl="0" algn="l">
              <a:lnSpc>
                <a:spcPct val="150000"/>
              </a:lnSpc>
              <a:spcBef>
                <a:spcPts val="1200"/>
              </a:spcBef>
              <a:spcAft>
                <a:spcPts val="0"/>
              </a:spcAft>
              <a:buNone/>
            </a:pPr>
            <a:r>
              <a:rPr b="1" lang="en" sz="1400">
                <a:solidFill>
                  <a:srgbClr val="000000"/>
                </a:solidFill>
                <a:latin typeface="Arial"/>
                <a:ea typeface="Arial"/>
                <a:cs typeface="Arial"/>
                <a:sym typeface="Arial"/>
              </a:rPr>
              <a:t>“How can a satellite learn from new data in space while its hardware is being bombarded by radiation and its primary navigation task cannot be stopped?”</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core architecture?</a:t>
            </a:r>
            <a:endParaRPr/>
          </a:p>
        </p:txBody>
      </p:sp>
      <p:sp>
        <p:nvSpPr>
          <p:cNvPr id="99" name="Google Shape;99;p15"/>
          <p:cNvSpPr txBox="1"/>
          <p:nvPr>
            <p:ph idx="1" type="body"/>
          </p:nvPr>
        </p:nvSpPr>
        <p:spPr>
          <a:xfrm>
            <a:off x="729450" y="1362300"/>
            <a:ext cx="7688700" cy="2977800"/>
          </a:xfrm>
          <a:prstGeom prst="rect">
            <a:avLst/>
          </a:prstGeom>
        </p:spPr>
        <p:txBody>
          <a:bodyPr anchorCtr="0" anchor="t" bIns="91425" lIns="91425" spcFirstLastPara="1" rIns="91425" wrap="square" tIns="91425">
            <a:normAutofit/>
          </a:bodyPr>
          <a:lstStyle/>
          <a:p>
            <a:pPr indent="-298450" lvl="0" marL="457200" rtl="0" algn="l">
              <a:lnSpc>
                <a:spcPct val="150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 </a:t>
            </a:r>
            <a:r>
              <a:rPr b="1" lang="en" sz="1100">
                <a:solidFill>
                  <a:srgbClr val="000000"/>
                </a:solidFill>
                <a:latin typeface="Arial"/>
                <a:ea typeface="Arial"/>
                <a:cs typeface="Arial"/>
                <a:sym typeface="Arial"/>
              </a:rPr>
              <a:t>Problem</a:t>
            </a:r>
            <a:r>
              <a:rPr lang="en" sz="1100">
                <a:solidFill>
                  <a:srgbClr val="000000"/>
                </a:solidFill>
                <a:latin typeface="Arial"/>
                <a:ea typeface="Arial"/>
                <a:cs typeface="Arial"/>
                <a:sym typeface="Arial"/>
              </a:rPr>
              <a:t>: Traditional fine-tuning freezes the model, updates weights, and then restarts. In a satellite navigation context, a 2-second "freeze" could result in a collision or lost trajectory.</a:t>
            </a:r>
            <a:endParaRPr sz="11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t/>
            </a:r>
            <a:endParaRPr sz="1100">
              <a:solidFill>
                <a:srgbClr val="000000"/>
              </a:solidFill>
              <a:latin typeface="Arial"/>
              <a:ea typeface="Arial"/>
              <a:cs typeface="Arial"/>
              <a:sym typeface="Arial"/>
            </a:endParaRPr>
          </a:p>
          <a:p>
            <a:pPr indent="-298450" lvl="0" marL="457200" rtl="0" algn="l">
              <a:lnSpc>
                <a:spcPct val="150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 </a:t>
            </a:r>
            <a:r>
              <a:rPr b="1" lang="en" sz="1100">
                <a:solidFill>
                  <a:srgbClr val="000000"/>
                </a:solidFill>
                <a:latin typeface="Arial"/>
                <a:ea typeface="Arial"/>
                <a:cs typeface="Arial"/>
                <a:sym typeface="Arial"/>
              </a:rPr>
              <a:t>Subnetwork</a:t>
            </a:r>
            <a:r>
              <a:rPr lang="en" sz="1100">
                <a:solidFill>
                  <a:srgbClr val="000000"/>
                </a:solidFill>
                <a:latin typeface="Arial"/>
                <a:ea typeface="Arial"/>
                <a:cs typeface="Arial"/>
                <a:sym typeface="Arial"/>
              </a:rPr>
              <a:t> Strategy: Instead of one monolithic model, we are looking at a split architecture (likely similar to "Dual-Model" or "Ping-Pong" training).</a:t>
            </a:r>
            <a:endParaRPr sz="1100">
              <a:solidFill>
                <a:srgbClr val="000000"/>
              </a:solidFill>
              <a:latin typeface="Arial"/>
              <a:ea typeface="Arial"/>
              <a:cs typeface="Arial"/>
              <a:sym typeface="Arial"/>
            </a:endParaRPr>
          </a:p>
          <a:p>
            <a:pPr indent="-298450" lvl="1" marL="914400" rtl="0" algn="l">
              <a:lnSpc>
                <a:spcPct val="150000"/>
              </a:lnSpc>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Part A: Handles active navigation (Inference).</a:t>
            </a:r>
            <a:endParaRPr>
              <a:solidFill>
                <a:srgbClr val="000000"/>
              </a:solidFill>
              <a:latin typeface="Arial"/>
              <a:ea typeface="Arial"/>
              <a:cs typeface="Arial"/>
              <a:sym typeface="Arial"/>
            </a:endParaRPr>
          </a:p>
          <a:p>
            <a:pPr indent="-298450" lvl="1" marL="914400" rtl="0" algn="l">
              <a:lnSpc>
                <a:spcPct val="150000"/>
              </a:lnSpc>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Part B: Undergoes fine-tuning/updates with new data.</a:t>
            </a:r>
            <a:endParaRPr>
              <a:solidFill>
                <a:srgbClr val="000000"/>
              </a:solidFill>
              <a:latin typeface="Arial"/>
              <a:ea typeface="Arial"/>
              <a:cs typeface="Arial"/>
              <a:sym typeface="Arial"/>
            </a:endParaRPr>
          </a:p>
          <a:p>
            <a:pPr indent="-298450" lvl="1" marL="914400" rtl="0" algn="l">
              <a:lnSpc>
                <a:spcPct val="150000"/>
              </a:lnSpc>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The Switch: Once Part B is updated, it takes over the navigation task, and Part A begins its update. This ensures 100% "awareness" or uptime.</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security threat?</a:t>
            </a:r>
            <a:endParaRPr/>
          </a:p>
        </p:txBody>
      </p:sp>
      <p:sp>
        <p:nvSpPr>
          <p:cNvPr id="105" name="Google Shape;105;p16"/>
          <p:cNvSpPr txBox="1"/>
          <p:nvPr>
            <p:ph idx="1" type="body"/>
          </p:nvPr>
        </p:nvSpPr>
        <p:spPr>
          <a:xfrm>
            <a:off x="729450" y="1362300"/>
            <a:ext cx="7688700" cy="2977800"/>
          </a:xfrm>
          <a:prstGeom prst="rect">
            <a:avLst/>
          </a:prstGeom>
        </p:spPr>
        <p:txBody>
          <a:bodyPr anchorCtr="0" anchor="t" bIns="91425" lIns="91425" spcFirstLastPara="1" rIns="91425" wrap="square" tIns="91425">
            <a:normAutofit lnSpcReduction="10000"/>
          </a:bodyPr>
          <a:lstStyle/>
          <a:p>
            <a:pPr indent="0" lvl="0" marL="0" rtl="0" algn="l">
              <a:lnSpc>
                <a:spcPct val="150000"/>
              </a:lnSpc>
              <a:spcBef>
                <a:spcPts val="1800"/>
              </a:spcBef>
              <a:spcAft>
                <a:spcPts val="0"/>
              </a:spcAft>
              <a:buNone/>
            </a:pPr>
            <a:r>
              <a:rPr lang="en" sz="1700">
                <a:solidFill>
                  <a:schemeClr val="dk2"/>
                </a:solidFill>
                <a:latin typeface="Arial"/>
                <a:ea typeface="Arial"/>
                <a:cs typeface="Arial"/>
                <a:sym typeface="Arial"/>
              </a:rPr>
              <a:t>The "</a:t>
            </a:r>
            <a:r>
              <a:rPr b="1" lang="en" sz="1700">
                <a:solidFill>
                  <a:schemeClr val="dk2"/>
                </a:solidFill>
                <a:latin typeface="Arial"/>
                <a:ea typeface="Arial"/>
                <a:cs typeface="Arial"/>
                <a:sym typeface="Arial"/>
              </a:rPr>
              <a:t>Bit Flip</a:t>
            </a:r>
            <a:r>
              <a:rPr lang="en" sz="1700">
                <a:solidFill>
                  <a:schemeClr val="dk2"/>
                </a:solidFill>
                <a:latin typeface="Arial"/>
                <a:ea typeface="Arial"/>
                <a:cs typeface="Arial"/>
                <a:sym typeface="Arial"/>
              </a:rPr>
              <a:t>" Threat (Dependability)</a:t>
            </a:r>
            <a:endParaRPr sz="1700">
              <a:solidFill>
                <a:schemeClr val="dk2"/>
              </a:solidFill>
              <a:latin typeface="Arial"/>
              <a:ea typeface="Arial"/>
              <a:cs typeface="Arial"/>
              <a:sym typeface="Arial"/>
            </a:endParaRPr>
          </a:p>
          <a:p>
            <a:pPr indent="0" lvl="0" marL="0" rtl="0" algn="l">
              <a:lnSpc>
                <a:spcPct val="150000"/>
              </a:lnSpc>
              <a:spcBef>
                <a:spcPts val="1200"/>
              </a:spcBef>
              <a:spcAft>
                <a:spcPts val="0"/>
              </a:spcAft>
              <a:buNone/>
            </a:pPr>
            <a:r>
              <a:rPr lang="en" sz="1100">
                <a:solidFill>
                  <a:schemeClr val="dk2"/>
                </a:solidFill>
                <a:latin typeface="Arial"/>
                <a:ea typeface="Arial"/>
                <a:cs typeface="Arial"/>
                <a:sym typeface="Arial"/>
              </a:rPr>
              <a:t>In space, </a:t>
            </a:r>
            <a:r>
              <a:rPr lang="en" sz="1100">
                <a:solidFill>
                  <a:schemeClr val="dk2"/>
                </a:solidFill>
                <a:latin typeface="Arial"/>
                <a:ea typeface="Arial"/>
                <a:cs typeface="Arial"/>
                <a:sym typeface="Arial"/>
              </a:rPr>
              <a:t>the threat isn't just a cyber-attack.</a:t>
            </a:r>
            <a:r>
              <a:rPr lang="en" sz="1100">
                <a:solidFill>
                  <a:schemeClr val="dk2"/>
                </a:solidFill>
                <a:latin typeface="Arial"/>
                <a:ea typeface="Arial"/>
                <a:cs typeface="Arial"/>
                <a:sym typeface="Arial"/>
              </a:rPr>
              <a:t> It's a physical reality caused by Single Event Upsets (SEUs) from cosmic radiation.</a:t>
            </a:r>
            <a:endParaRPr sz="1100">
              <a:solidFill>
                <a:schemeClr val="dk2"/>
              </a:solidFill>
              <a:latin typeface="Arial"/>
              <a:ea typeface="Arial"/>
              <a:cs typeface="Arial"/>
              <a:sym typeface="Arial"/>
            </a:endParaRPr>
          </a:p>
          <a:p>
            <a:pPr indent="-298450" lvl="0" marL="457200" rtl="0" algn="l">
              <a:lnSpc>
                <a:spcPct val="150000"/>
              </a:lnSpc>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The Mechanism: A high-energy particle hits a memory chip, flipping a 0 to a 1.</a:t>
            </a:r>
            <a:endParaRPr sz="1100">
              <a:solidFill>
                <a:schemeClr val="dk2"/>
              </a:solidFill>
              <a:latin typeface="Arial"/>
              <a:ea typeface="Arial"/>
              <a:cs typeface="Arial"/>
              <a:sym typeface="Arial"/>
            </a:endParaRPr>
          </a:p>
          <a:p>
            <a:pPr indent="-298450" lvl="0" marL="457200" rtl="0" algn="l">
              <a:lnSpc>
                <a:spcPct val="150000"/>
              </a:lnSpc>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The Result: A value like 10 might become 12 or 30. In a Neural Network, if this happens to a weight in an early layer, the error propagates, leading to a completely wrong navigation decision.</a:t>
            </a:r>
            <a:endParaRPr sz="1100">
              <a:solidFill>
                <a:schemeClr val="dk2"/>
              </a:solidFill>
              <a:latin typeface="Arial"/>
              <a:ea typeface="Arial"/>
              <a:cs typeface="Arial"/>
              <a:sym typeface="Arial"/>
            </a:endParaRPr>
          </a:p>
          <a:p>
            <a:pPr indent="-298450" lvl="0" marL="457200" rtl="0" algn="l">
              <a:lnSpc>
                <a:spcPct val="150000"/>
              </a:lnSpc>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Goal: Use Incremental Learning to make the system resilient. The model should be able to "detect" that its performance is dropping (due to a bit flip) and fine-tune itself to correct that specific error on the fly.</a:t>
            </a:r>
            <a:endParaRPr sz="1100">
              <a:solidFill>
                <a:schemeClr val="dk2"/>
              </a:solidFill>
              <a:latin typeface="Arial"/>
              <a:ea typeface="Arial"/>
              <a:cs typeface="Arial"/>
              <a:sym typeface="Arial"/>
            </a:endParaRPr>
          </a:p>
          <a:p>
            <a:pPr indent="0" lvl="0" marL="0" rtl="0" algn="l">
              <a:lnSpc>
                <a:spcPct val="150000"/>
              </a:lnSpc>
              <a:spcBef>
                <a:spcPts val="1200"/>
              </a:spcBef>
              <a:spcAft>
                <a:spcPts val="0"/>
              </a:spcAft>
              <a:buNone/>
            </a:pPr>
            <a:r>
              <a:t/>
            </a:r>
            <a:endParaRPr>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the implementation roadmap?</a:t>
            </a:r>
            <a:endParaRPr/>
          </a:p>
        </p:txBody>
      </p:sp>
      <p:sp>
        <p:nvSpPr>
          <p:cNvPr id="111" name="Google Shape;111;p17"/>
          <p:cNvSpPr txBox="1"/>
          <p:nvPr>
            <p:ph idx="1" type="body"/>
          </p:nvPr>
        </p:nvSpPr>
        <p:spPr>
          <a:xfrm>
            <a:off x="729450" y="1362300"/>
            <a:ext cx="7688700" cy="2977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2"/>
                </a:solidFill>
                <a:latin typeface="Arial"/>
                <a:ea typeface="Arial"/>
                <a:cs typeface="Arial"/>
                <a:sym typeface="Arial"/>
              </a:rPr>
              <a:t>Phase 1: The Base Model</a:t>
            </a:r>
            <a:endParaRPr b="1" sz="1100">
              <a:solidFill>
                <a:schemeClr val="dk2"/>
              </a:solidFill>
              <a:latin typeface="Arial"/>
              <a:ea typeface="Arial"/>
              <a:cs typeface="Arial"/>
              <a:sym typeface="Arial"/>
            </a:endParaRPr>
          </a:p>
          <a:p>
            <a:pPr indent="-298450" lvl="0" marL="457200" rtl="0" algn="l">
              <a:lnSpc>
                <a:spcPct val="115000"/>
              </a:lnSpc>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Model: Use a small Vision Transformer (ViT).</a:t>
            </a:r>
            <a:endParaRPr sz="1100">
              <a:solidFill>
                <a:schemeClr val="dk2"/>
              </a:solidFill>
              <a:latin typeface="Arial"/>
              <a:ea typeface="Arial"/>
              <a:cs typeface="Arial"/>
              <a:sym typeface="Arial"/>
            </a:endParaRPr>
          </a:p>
          <a:p>
            <a:pPr indent="-298450" lvl="0" marL="457200" rtl="0" algn="l">
              <a:lnSpc>
                <a:spcPct val="115000"/>
              </a:lnSpc>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Task: Train it to perform classification.</a:t>
            </a:r>
            <a:endParaRPr sz="1100">
              <a:solidFill>
                <a:schemeClr val="dk2"/>
              </a:solidFill>
              <a:latin typeface="Arial"/>
              <a:ea typeface="Arial"/>
              <a:cs typeface="Arial"/>
              <a:sym typeface="Arial"/>
            </a:endParaRPr>
          </a:p>
          <a:p>
            <a:pPr indent="0" lvl="0" marL="0" rtl="0" algn="l">
              <a:lnSpc>
                <a:spcPct val="115000"/>
              </a:lnSpc>
              <a:spcBef>
                <a:spcPts val="1200"/>
              </a:spcBef>
              <a:spcAft>
                <a:spcPts val="0"/>
              </a:spcAft>
              <a:buNone/>
            </a:pPr>
            <a:r>
              <a:rPr b="1" lang="en" sz="1100">
                <a:solidFill>
                  <a:schemeClr val="dk2"/>
                </a:solidFill>
                <a:latin typeface="Arial"/>
                <a:ea typeface="Arial"/>
                <a:cs typeface="Arial"/>
                <a:sym typeface="Arial"/>
              </a:rPr>
              <a:t>Phase 2: The Reliability Layer</a:t>
            </a:r>
            <a:endParaRPr b="1" sz="1100">
              <a:solidFill>
                <a:schemeClr val="dk2"/>
              </a:solidFill>
              <a:latin typeface="Arial"/>
              <a:ea typeface="Arial"/>
              <a:cs typeface="Arial"/>
              <a:sym typeface="Arial"/>
            </a:endParaRPr>
          </a:p>
          <a:p>
            <a:pPr indent="-298450" lvl="0" marL="457200" rtl="0" algn="l">
              <a:lnSpc>
                <a:spcPct val="115000"/>
              </a:lnSpc>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Bit Flip Simulation: Write a script that targets a random layer in our Transformer and flips a bit in its weight matrix (e.g., converting a 32-bit float to an incorrect value).</a:t>
            </a:r>
            <a:endParaRPr sz="1100">
              <a:solidFill>
                <a:schemeClr val="dk2"/>
              </a:solidFill>
              <a:latin typeface="Arial"/>
              <a:ea typeface="Arial"/>
              <a:cs typeface="Arial"/>
              <a:sym typeface="Arial"/>
            </a:endParaRPr>
          </a:p>
          <a:p>
            <a:pPr indent="-298450" lvl="0" marL="457200" rtl="0" algn="l">
              <a:lnSpc>
                <a:spcPct val="115000"/>
              </a:lnSpc>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Goal: Observe how much our accuracy drops when a bit flips.</a:t>
            </a:r>
            <a:endParaRPr sz="1100">
              <a:solidFill>
                <a:schemeClr val="dk2"/>
              </a:solidFill>
              <a:latin typeface="Arial"/>
              <a:ea typeface="Arial"/>
              <a:cs typeface="Arial"/>
              <a:sym typeface="Arial"/>
            </a:endParaRPr>
          </a:p>
          <a:p>
            <a:pPr indent="0" lvl="0" marL="0" rtl="0" algn="l">
              <a:lnSpc>
                <a:spcPct val="115000"/>
              </a:lnSpc>
              <a:spcBef>
                <a:spcPts val="1200"/>
              </a:spcBef>
              <a:spcAft>
                <a:spcPts val="0"/>
              </a:spcAft>
              <a:buNone/>
            </a:pPr>
            <a:r>
              <a:rPr b="1" lang="en" sz="1100">
                <a:solidFill>
                  <a:schemeClr val="dk2"/>
                </a:solidFill>
                <a:latin typeface="Arial"/>
                <a:ea typeface="Arial"/>
                <a:cs typeface="Arial"/>
                <a:sym typeface="Arial"/>
              </a:rPr>
              <a:t>Phase 3: The IL &amp; Subnetworking</a:t>
            </a:r>
            <a:endParaRPr b="1" sz="1100">
              <a:solidFill>
                <a:schemeClr val="dk2"/>
              </a:solidFill>
              <a:latin typeface="Arial"/>
              <a:ea typeface="Arial"/>
              <a:cs typeface="Arial"/>
              <a:sym typeface="Arial"/>
            </a:endParaRPr>
          </a:p>
          <a:p>
            <a:pPr indent="-298450" lvl="0" marL="457200" rtl="0" algn="l">
              <a:lnSpc>
                <a:spcPct val="115000"/>
              </a:lnSpc>
              <a:spcBef>
                <a:spcPts val="1200"/>
              </a:spcBef>
              <a:spcAft>
                <a:spcPts val="0"/>
              </a:spcAft>
              <a:buClr>
                <a:schemeClr val="dk2"/>
              </a:buClr>
              <a:buSzPts val="1100"/>
              <a:buFont typeface="Arial"/>
              <a:buChar char="●"/>
            </a:pPr>
            <a:r>
              <a:rPr lang="en" sz="1100">
                <a:solidFill>
                  <a:schemeClr val="dk2"/>
                </a:solidFill>
                <a:latin typeface="Arial"/>
                <a:ea typeface="Arial"/>
                <a:cs typeface="Arial"/>
                <a:sym typeface="Arial"/>
              </a:rPr>
              <a:t>Subnetworking: Implement the "Dual-Model" logic. While Model A is running the navigation, Model B is being fine-tuned on new, recent data (perhaps correcting the errors caused by bit flips).</a:t>
            </a:r>
            <a:endParaRPr sz="1100">
              <a:solidFill>
                <a:schemeClr val="dk2"/>
              </a:solidFill>
              <a:latin typeface="Arial"/>
              <a:ea typeface="Arial"/>
              <a:cs typeface="Arial"/>
              <a:sym typeface="Arial"/>
            </a:endParaRPr>
          </a:p>
          <a:p>
            <a:pPr indent="-298450" lvl="0" marL="457200" rtl="0" algn="l">
              <a:lnSpc>
                <a:spcPct val="115000"/>
              </a:lnSpc>
              <a:spcBef>
                <a:spcPts val="0"/>
              </a:spcBef>
              <a:spcAft>
                <a:spcPts val="0"/>
              </a:spcAft>
              <a:buClr>
                <a:schemeClr val="dk2"/>
              </a:buClr>
              <a:buSzPts val="1100"/>
              <a:buFont typeface="Arial"/>
              <a:buChar char="●"/>
            </a:pPr>
            <a:r>
              <a:rPr lang="en" sz="1100">
                <a:solidFill>
                  <a:schemeClr val="dk2"/>
                </a:solidFill>
                <a:latin typeface="Arial"/>
                <a:ea typeface="Arial"/>
                <a:cs typeface="Arial"/>
                <a:sym typeface="Arial"/>
              </a:rPr>
              <a:t>Switching Logic: Once Model B is updated, swap them.</a:t>
            </a:r>
            <a:endParaRPr sz="1100">
              <a:solidFill>
                <a:schemeClr val="dk2"/>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Phase 1 – Technical Implementation</a:t>
            </a:r>
            <a:endParaRPr/>
          </a:p>
        </p:txBody>
      </p:sp>
      <p:sp>
        <p:nvSpPr>
          <p:cNvPr id="117" name="Google Shape;117;p18"/>
          <p:cNvSpPr txBox="1"/>
          <p:nvPr>
            <p:ph idx="1" type="body"/>
          </p:nvPr>
        </p:nvSpPr>
        <p:spPr>
          <a:xfrm>
            <a:off x="729450" y="1362300"/>
            <a:ext cx="7688700" cy="29778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lang="en" sz="1100">
                <a:solidFill>
                  <a:schemeClr val="dk2"/>
                </a:solidFill>
                <a:latin typeface="Arial"/>
                <a:ea typeface="Arial"/>
                <a:cs typeface="Arial"/>
                <a:sym typeface="Arial"/>
              </a:rPr>
              <a:t>Decisions focused on satellite hardware constraints.</a:t>
            </a:r>
            <a:endParaRPr sz="1100">
              <a:solidFill>
                <a:schemeClr val="dk2"/>
              </a:solidFill>
              <a:latin typeface="Arial"/>
              <a:ea typeface="Arial"/>
              <a:cs typeface="Arial"/>
              <a:sym typeface="Arial"/>
            </a:endParaRPr>
          </a:p>
          <a:p>
            <a:pPr indent="-298450" lvl="0" marL="457200" rtl="0" algn="l">
              <a:lnSpc>
                <a:spcPct val="150000"/>
              </a:lnSpc>
              <a:spcBef>
                <a:spcPts val="1200"/>
              </a:spcBef>
              <a:spcAft>
                <a:spcPts val="0"/>
              </a:spcAft>
              <a:buClr>
                <a:schemeClr val="dk2"/>
              </a:buClr>
              <a:buSzPts val="1100"/>
              <a:buFont typeface="Arial"/>
              <a:buChar char="●"/>
            </a:pPr>
            <a:r>
              <a:rPr b="1" lang="en" sz="1100">
                <a:solidFill>
                  <a:schemeClr val="dk2"/>
                </a:solidFill>
                <a:latin typeface="Arial"/>
                <a:ea typeface="Arial"/>
                <a:cs typeface="Arial"/>
                <a:sym typeface="Arial"/>
              </a:rPr>
              <a:t>Backbone</a:t>
            </a:r>
            <a:r>
              <a:rPr lang="en" sz="1100">
                <a:solidFill>
                  <a:schemeClr val="dk2"/>
                </a:solidFill>
                <a:latin typeface="Arial"/>
                <a:ea typeface="Arial"/>
                <a:cs typeface="Arial"/>
                <a:sym typeface="Arial"/>
              </a:rPr>
              <a:t>: Vision Transformer (ViT) chosen over CNNs for superior global context and potential robustness in harsh environments.</a:t>
            </a:r>
            <a:endParaRPr sz="1100">
              <a:solidFill>
                <a:schemeClr val="dk2"/>
              </a:solidFill>
              <a:latin typeface="Arial"/>
              <a:ea typeface="Arial"/>
              <a:cs typeface="Arial"/>
              <a:sym typeface="Arial"/>
            </a:endParaRPr>
          </a:p>
          <a:p>
            <a:pPr indent="-298450" lvl="0" marL="457200" rtl="0" algn="l">
              <a:lnSpc>
                <a:spcPct val="150000"/>
              </a:lnSpc>
              <a:spcBef>
                <a:spcPts val="0"/>
              </a:spcBef>
              <a:spcAft>
                <a:spcPts val="0"/>
              </a:spcAft>
              <a:buClr>
                <a:schemeClr val="dk2"/>
              </a:buClr>
              <a:buSzPts val="1100"/>
              <a:buFont typeface="Arial"/>
              <a:buChar char="●"/>
            </a:pPr>
            <a:r>
              <a:rPr b="1" lang="en" sz="1100">
                <a:solidFill>
                  <a:schemeClr val="dk2"/>
                </a:solidFill>
                <a:latin typeface="Arial"/>
                <a:ea typeface="Arial"/>
                <a:cs typeface="Arial"/>
                <a:sym typeface="Arial"/>
              </a:rPr>
              <a:t>Architecture</a:t>
            </a:r>
            <a:r>
              <a:rPr lang="en" sz="1100">
                <a:solidFill>
                  <a:schemeClr val="dk2"/>
                </a:solidFill>
                <a:latin typeface="Arial"/>
                <a:ea typeface="Arial"/>
                <a:cs typeface="Arial"/>
                <a:sym typeface="Arial"/>
              </a:rPr>
              <a:t>: </a:t>
            </a:r>
            <a:r>
              <a:rPr b="1" lang="en" sz="1100">
                <a:solidFill>
                  <a:schemeClr val="dk2"/>
                </a:solidFill>
                <a:latin typeface="Arial"/>
                <a:ea typeface="Arial"/>
                <a:cs typeface="Arial"/>
                <a:sym typeface="Arial"/>
              </a:rPr>
              <a:t>vit_tiny_patch16_224</a:t>
            </a:r>
            <a:r>
              <a:rPr lang="en" sz="1100">
                <a:solidFill>
                  <a:schemeClr val="dk2"/>
                </a:solidFill>
                <a:latin typeface="Arial"/>
                <a:ea typeface="Arial"/>
                <a:cs typeface="Arial"/>
                <a:sym typeface="Arial"/>
              </a:rPr>
              <a:t> via the </a:t>
            </a:r>
            <a:r>
              <a:rPr b="1" lang="en" sz="1100">
                <a:solidFill>
                  <a:schemeClr val="dk2"/>
                </a:solidFill>
                <a:latin typeface="Arial"/>
                <a:ea typeface="Arial"/>
                <a:cs typeface="Arial"/>
                <a:sym typeface="Arial"/>
              </a:rPr>
              <a:t>timm</a:t>
            </a:r>
            <a:r>
              <a:rPr lang="en" sz="1100">
                <a:solidFill>
                  <a:schemeClr val="dk2"/>
                </a:solidFill>
                <a:latin typeface="Arial"/>
                <a:ea typeface="Arial"/>
                <a:cs typeface="Arial"/>
                <a:sym typeface="Arial"/>
              </a:rPr>
              <a:t> library.</a:t>
            </a:r>
            <a:endParaRPr sz="1100">
              <a:solidFill>
                <a:schemeClr val="dk2"/>
              </a:solidFill>
              <a:latin typeface="Arial"/>
              <a:ea typeface="Arial"/>
              <a:cs typeface="Arial"/>
              <a:sym typeface="Arial"/>
            </a:endParaRPr>
          </a:p>
          <a:p>
            <a:pPr indent="-298450" lvl="1" marL="914400" rtl="0" algn="l">
              <a:lnSpc>
                <a:spcPct val="150000"/>
              </a:lnSpc>
              <a:spcBef>
                <a:spcPts val="0"/>
              </a:spcBef>
              <a:spcAft>
                <a:spcPts val="0"/>
              </a:spcAft>
              <a:buClr>
                <a:schemeClr val="dk2"/>
              </a:buClr>
              <a:buSzPts val="1100"/>
              <a:buFont typeface="Arial"/>
              <a:buChar char="○"/>
            </a:pPr>
            <a:r>
              <a:rPr lang="en">
                <a:solidFill>
                  <a:schemeClr val="dk2"/>
                </a:solidFill>
                <a:latin typeface="Arial"/>
                <a:ea typeface="Arial"/>
                <a:cs typeface="Arial"/>
                <a:sym typeface="Arial"/>
              </a:rPr>
              <a:t>Why "Tiny"? Satellites are "Edge" devices with strict power, thermal, and memory budgets. This model offers a high accuracy-to-parameter ratio.</a:t>
            </a:r>
            <a:endParaRPr>
              <a:solidFill>
                <a:schemeClr val="dk2"/>
              </a:solidFill>
              <a:latin typeface="Arial"/>
              <a:ea typeface="Arial"/>
              <a:cs typeface="Arial"/>
              <a:sym typeface="Arial"/>
            </a:endParaRPr>
          </a:p>
          <a:p>
            <a:pPr indent="-298450" lvl="0" marL="457200" rtl="0" algn="l">
              <a:lnSpc>
                <a:spcPct val="150000"/>
              </a:lnSpc>
              <a:spcBef>
                <a:spcPts val="0"/>
              </a:spcBef>
              <a:spcAft>
                <a:spcPts val="0"/>
              </a:spcAft>
              <a:buClr>
                <a:schemeClr val="dk2"/>
              </a:buClr>
              <a:buSzPts val="1100"/>
              <a:buFont typeface="Arial"/>
              <a:buChar char="●"/>
            </a:pPr>
            <a:r>
              <a:rPr b="1" lang="en" sz="1100">
                <a:solidFill>
                  <a:schemeClr val="dk2"/>
                </a:solidFill>
                <a:latin typeface="Arial"/>
                <a:ea typeface="Arial"/>
                <a:cs typeface="Arial"/>
                <a:sym typeface="Arial"/>
              </a:rPr>
              <a:t>Methodology</a:t>
            </a:r>
            <a:r>
              <a:rPr lang="en" sz="1100">
                <a:solidFill>
                  <a:schemeClr val="dk2"/>
                </a:solidFill>
                <a:latin typeface="Arial"/>
                <a:ea typeface="Arial"/>
                <a:cs typeface="Arial"/>
                <a:sym typeface="Arial"/>
              </a:rPr>
              <a:t>: </a:t>
            </a:r>
            <a:r>
              <a:rPr b="1" lang="en" sz="1100">
                <a:solidFill>
                  <a:schemeClr val="dk2"/>
                </a:solidFill>
                <a:latin typeface="Arial"/>
                <a:ea typeface="Arial"/>
                <a:cs typeface="Arial"/>
                <a:sym typeface="Arial"/>
              </a:rPr>
              <a:t>Transfer Learning</a:t>
            </a:r>
            <a:r>
              <a:rPr lang="en" sz="1100">
                <a:solidFill>
                  <a:schemeClr val="dk2"/>
                </a:solidFill>
                <a:latin typeface="Arial"/>
                <a:ea typeface="Arial"/>
                <a:cs typeface="Arial"/>
                <a:sym typeface="Arial"/>
              </a:rPr>
              <a:t>.</a:t>
            </a:r>
            <a:endParaRPr sz="1100">
              <a:solidFill>
                <a:schemeClr val="dk2"/>
              </a:solidFill>
              <a:latin typeface="Arial"/>
              <a:ea typeface="Arial"/>
              <a:cs typeface="Arial"/>
              <a:sym typeface="Arial"/>
            </a:endParaRPr>
          </a:p>
          <a:p>
            <a:pPr indent="-298450" lvl="1" marL="914400" rtl="0" algn="l">
              <a:lnSpc>
                <a:spcPct val="150000"/>
              </a:lnSpc>
              <a:spcBef>
                <a:spcPts val="0"/>
              </a:spcBef>
              <a:spcAft>
                <a:spcPts val="0"/>
              </a:spcAft>
              <a:buClr>
                <a:schemeClr val="dk2"/>
              </a:buClr>
              <a:buSzPts val="1100"/>
              <a:buFont typeface="Arial"/>
              <a:buChar char="○"/>
            </a:pPr>
            <a:r>
              <a:rPr lang="en">
                <a:solidFill>
                  <a:schemeClr val="dk2"/>
                </a:solidFill>
                <a:latin typeface="Arial"/>
                <a:ea typeface="Arial"/>
                <a:cs typeface="Arial"/>
                <a:sym typeface="Arial"/>
              </a:rPr>
              <a:t>Initialized with weights pretrained on ImageNet-21k.</a:t>
            </a:r>
            <a:endParaRPr>
              <a:solidFill>
                <a:schemeClr val="dk2"/>
              </a:solidFill>
              <a:latin typeface="Arial"/>
              <a:ea typeface="Arial"/>
              <a:cs typeface="Arial"/>
              <a:sym typeface="Arial"/>
            </a:endParaRPr>
          </a:p>
          <a:p>
            <a:pPr indent="-298450" lvl="1" marL="914400" rtl="0" algn="l">
              <a:lnSpc>
                <a:spcPct val="150000"/>
              </a:lnSpc>
              <a:spcBef>
                <a:spcPts val="0"/>
              </a:spcBef>
              <a:spcAft>
                <a:spcPts val="0"/>
              </a:spcAft>
              <a:buClr>
                <a:schemeClr val="dk2"/>
              </a:buClr>
              <a:buSzPts val="1100"/>
              <a:buFont typeface="Arial"/>
              <a:buChar char="○"/>
            </a:pPr>
            <a:r>
              <a:rPr lang="en">
                <a:solidFill>
                  <a:schemeClr val="dk2"/>
                </a:solidFill>
                <a:latin typeface="Arial"/>
                <a:ea typeface="Arial"/>
                <a:cs typeface="Arial"/>
                <a:sym typeface="Arial"/>
              </a:rPr>
              <a:t>Fine-tuned the classification head specifically for 10-class satellite land cover identification.</a:t>
            </a:r>
            <a:endParaRPr>
              <a:solidFill>
                <a:schemeClr val="dk2"/>
              </a:solidFill>
              <a:latin typeface="Arial"/>
              <a:ea typeface="Arial"/>
              <a:cs typeface="Arial"/>
              <a:sym typeface="Arial"/>
            </a:endParaRPr>
          </a:p>
          <a:p>
            <a:pPr indent="0" lvl="0" marL="0" rtl="0" algn="l">
              <a:lnSpc>
                <a:spcPct val="150000"/>
              </a:lnSpc>
              <a:spcBef>
                <a:spcPts val="1200"/>
              </a:spcBef>
              <a:spcAft>
                <a:spcPts val="1200"/>
              </a:spcAft>
              <a:buNone/>
            </a:pPr>
            <a:r>
              <a:t/>
            </a:r>
            <a:endParaRPr sz="1100">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Phase 1 – Dataset: EuroSAT</a:t>
            </a:r>
            <a:endParaRPr/>
          </a:p>
        </p:txBody>
      </p:sp>
      <p:sp>
        <p:nvSpPr>
          <p:cNvPr id="123" name="Google Shape;123;p19"/>
          <p:cNvSpPr txBox="1"/>
          <p:nvPr>
            <p:ph idx="1" type="body"/>
          </p:nvPr>
        </p:nvSpPr>
        <p:spPr>
          <a:xfrm>
            <a:off x="729450" y="1362300"/>
            <a:ext cx="7688700" cy="29778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Goal:</a:t>
            </a:r>
            <a:r>
              <a:rPr lang="en" sz="1100">
                <a:solidFill>
                  <a:srgbClr val="000000"/>
                </a:solidFill>
                <a:latin typeface="Arial"/>
                <a:ea typeface="Arial"/>
                <a:cs typeface="Arial"/>
                <a:sym typeface="Arial"/>
              </a:rPr>
              <a:t> Justify why this data is a valid proxy for space-based applications.</a:t>
            </a:r>
            <a:endParaRPr sz="1100">
              <a:solidFill>
                <a:srgbClr val="000000"/>
              </a:solidFill>
              <a:latin typeface="Arial"/>
              <a:ea typeface="Arial"/>
              <a:cs typeface="Arial"/>
              <a:sym typeface="Arial"/>
            </a:endParaRPr>
          </a:p>
          <a:p>
            <a:pPr indent="-298450" lvl="0" marL="457200" rtl="0" algn="l">
              <a:lnSpc>
                <a:spcPct val="150000"/>
              </a:lnSpc>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Source:</a:t>
            </a:r>
            <a:r>
              <a:rPr lang="en" sz="1100">
                <a:solidFill>
                  <a:srgbClr val="000000"/>
                </a:solidFill>
                <a:latin typeface="Arial"/>
                <a:ea typeface="Arial"/>
                <a:cs typeface="Arial"/>
                <a:sym typeface="Arial"/>
              </a:rPr>
              <a:t> Multi-spectral Sentinel-2 satellite imagery.</a:t>
            </a:r>
            <a:endParaRPr sz="1100">
              <a:solidFill>
                <a:srgbClr val="000000"/>
              </a:solidFill>
              <a:latin typeface="Arial"/>
              <a:ea typeface="Arial"/>
              <a:cs typeface="Arial"/>
              <a:sym typeface="Arial"/>
            </a:endParaRPr>
          </a:p>
          <a:p>
            <a:pPr indent="-298450" lvl="0" marL="457200" rtl="0" algn="l">
              <a:lnSpc>
                <a:spcPct val="150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Composition:</a:t>
            </a:r>
            <a:r>
              <a:rPr lang="en" sz="1100">
                <a:solidFill>
                  <a:srgbClr val="000000"/>
                </a:solidFill>
                <a:latin typeface="Arial"/>
                <a:ea typeface="Arial"/>
                <a:cs typeface="Arial"/>
                <a:sym typeface="Arial"/>
              </a:rPr>
              <a:t> 27,000 labeled images across 10 classes (e.g., Permanent Crop, Herbaceous Vegetation, Highway, Residential).</a:t>
            </a:r>
            <a:endParaRPr sz="1100">
              <a:solidFill>
                <a:srgbClr val="000000"/>
              </a:solidFill>
              <a:latin typeface="Arial"/>
              <a:ea typeface="Arial"/>
              <a:cs typeface="Arial"/>
              <a:sym typeface="Arial"/>
            </a:endParaRPr>
          </a:p>
          <a:p>
            <a:pPr indent="-298450" lvl="0" marL="457200" rtl="0" algn="l">
              <a:lnSpc>
                <a:spcPct val="150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Relevance:</a:t>
            </a:r>
            <a:r>
              <a:rPr lang="en" sz="1100">
                <a:solidFill>
                  <a:srgbClr val="000000"/>
                </a:solidFill>
                <a:latin typeface="Arial"/>
                <a:ea typeface="Arial"/>
                <a:cs typeface="Arial"/>
                <a:sym typeface="Arial"/>
              </a:rPr>
              <a:t> Reflects the </a:t>
            </a:r>
            <a:r>
              <a:rPr b="1" lang="en" sz="1100">
                <a:solidFill>
                  <a:srgbClr val="000000"/>
                </a:solidFill>
                <a:latin typeface="Arial"/>
                <a:ea typeface="Arial"/>
                <a:cs typeface="Arial"/>
                <a:sym typeface="Arial"/>
              </a:rPr>
              <a:t>nadir-view</a:t>
            </a:r>
            <a:r>
              <a:rPr lang="en" sz="1100">
                <a:solidFill>
                  <a:srgbClr val="000000"/>
                </a:solidFill>
                <a:latin typeface="Arial"/>
                <a:ea typeface="Arial"/>
                <a:cs typeface="Arial"/>
                <a:sym typeface="Arial"/>
              </a:rPr>
              <a:t> (top-down) perspective typical of Earth Observation (EO) satellites.</a:t>
            </a:r>
            <a:endParaRPr sz="1100">
              <a:solidFill>
                <a:srgbClr val="000000"/>
              </a:solidFill>
              <a:latin typeface="Arial"/>
              <a:ea typeface="Arial"/>
              <a:cs typeface="Arial"/>
              <a:sym typeface="Arial"/>
            </a:endParaRPr>
          </a:p>
          <a:p>
            <a:pPr indent="-298450" lvl="1" marL="914400" rtl="0" algn="l">
              <a:lnSpc>
                <a:spcPct val="150000"/>
              </a:lnSpc>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Serves as our "Ground Truth" for testing dependability—if the model cannot identify Earth features reliably, it cannot navigate in orbit.</a:t>
            </a:r>
            <a:endParaRPr>
              <a:solidFill>
                <a:srgbClr val="000000"/>
              </a:solidFill>
              <a:latin typeface="Arial"/>
              <a:ea typeface="Arial"/>
              <a:cs typeface="Arial"/>
              <a:sym typeface="Arial"/>
            </a:endParaRPr>
          </a:p>
          <a:p>
            <a:pPr indent="0" lvl="0" marL="0" rtl="0" algn="l">
              <a:lnSpc>
                <a:spcPct val="150000"/>
              </a:lnSpc>
              <a:spcBef>
                <a:spcPts val="1200"/>
              </a:spcBef>
              <a:spcAft>
                <a:spcPts val="1200"/>
              </a:spcAft>
              <a:buNone/>
            </a:pPr>
            <a:r>
              <a:t/>
            </a:r>
            <a:endParaRPr sz="1100">
              <a:solidFill>
                <a:schemeClr val="dk2"/>
              </a:solidFill>
              <a:latin typeface="Arial"/>
              <a:ea typeface="Arial"/>
              <a:cs typeface="Arial"/>
              <a:sym typeface="Arial"/>
            </a:endParaRPr>
          </a:p>
        </p:txBody>
      </p:sp>
      <p:pic>
        <p:nvPicPr>
          <p:cNvPr id="124" name="Google Shape;124;p19"/>
          <p:cNvPicPr preferRelativeResize="0"/>
          <p:nvPr/>
        </p:nvPicPr>
        <p:blipFill>
          <a:blip r:embed="rId3">
            <a:alphaModFix/>
          </a:blip>
          <a:stretch>
            <a:fillRect/>
          </a:stretch>
        </p:blipFill>
        <p:spPr>
          <a:xfrm>
            <a:off x="1144800" y="3501975"/>
            <a:ext cx="6858000" cy="952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Vision Transformers (ViT)</a:t>
            </a:r>
            <a:endParaRPr/>
          </a:p>
        </p:txBody>
      </p:sp>
      <p:sp>
        <p:nvSpPr>
          <p:cNvPr id="130" name="Google Shape;130;p20"/>
          <p:cNvSpPr txBox="1"/>
          <p:nvPr>
            <p:ph idx="1" type="body"/>
          </p:nvPr>
        </p:nvSpPr>
        <p:spPr>
          <a:xfrm>
            <a:off x="729450" y="1362300"/>
            <a:ext cx="7688700" cy="2977800"/>
          </a:xfrm>
          <a:prstGeom prst="rect">
            <a:avLst/>
          </a:prstGeom>
        </p:spPr>
        <p:txBody>
          <a:bodyPr anchorCtr="0" anchor="t" bIns="91425" lIns="91425" spcFirstLastPara="1" rIns="91425" wrap="square" tIns="91425">
            <a:normAutofit/>
          </a:bodyPr>
          <a:lstStyle/>
          <a:p>
            <a:pPr indent="0" lvl="0" marL="457200" rtl="0" algn="l">
              <a:lnSpc>
                <a:spcPct val="150000"/>
              </a:lnSpc>
              <a:spcBef>
                <a:spcPts val="1200"/>
              </a:spcBef>
              <a:spcAft>
                <a:spcPts val="0"/>
              </a:spcAft>
              <a:buNone/>
            </a:pPr>
            <a:r>
              <a:t/>
            </a:r>
            <a:endParaRPr b="1" sz="1100">
              <a:solidFill>
                <a:srgbClr val="000000"/>
              </a:solidFill>
              <a:latin typeface="Arial"/>
              <a:ea typeface="Arial"/>
              <a:cs typeface="Arial"/>
              <a:sym typeface="Arial"/>
            </a:endParaRPr>
          </a:p>
          <a:p>
            <a:pPr indent="-298450" lvl="0" marL="457200" rtl="0" algn="l">
              <a:lnSpc>
                <a:spcPct val="150000"/>
              </a:lnSpc>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The "Words" of an Image:</a:t>
            </a:r>
            <a:r>
              <a:rPr lang="en" sz="1100">
                <a:solidFill>
                  <a:srgbClr val="000000"/>
                </a:solidFill>
                <a:latin typeface="Arial"/>
                <a:ea typeface="Arial"/>
                <a:cs typeface="Arial"/>
                <a:sym typeface="Arial"/>
              </a:rPr>
              <a:t> ViT ignores pixels and looks at </a:t>
            </a:r>
            <a:r>
              <a:rPr b="1" lang="en" sz="1100">
                <a:solidFill>
                  <a:srgbClr val="000000"/>
                </a:solidFill>
                <a:latin typeface="Arial"/>
                <a:ea typeface="Arial"/>
                <a:cs typeface="Arial"/>
                <a:sym typeface="Arial"/>
              </a:rPr>
              <a:t>Patches</a:t>
            </a:r>
            <a:r>
              <a:rPr lang="en" sz="1100">
                <a:solidFill>
                  <a:srgbClr val="000000"/>
                </a:solidFill>
                <a:latin typeface="Arial"/>
                <a:ea typeface="Arial"/>
                <a:cs typeface="Arial"/>
                <a:sym typeface="Arial"/>
              </a:rPr>
              <a:t>. An image is divided into 16×16 squares.</a:t>
            </a:r>
            <a:endParaRPr sz="1100">
              <a:solidFill>
                <a:srgbClr val="000000"/>
              </a:solidFill>
              <a:latin typeface="Arial"/>
              <a:ea typeface="Arial"/>
              <a:cs typeface="Arial"/>
              <a:sym typeface="Arial"/>
            </a:endParaRPr>
          </a:p>
          <a:p>
            <a:pPr indent="-298450" lvl="0" marL="457200" rtl="0" algn="l">
              <a:lnSpc>
                <a:spcPct val="150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Sequence Processing:</a:t>
            </a:r>
            <a:r>
              <a:rPr lang="en" sz="1100">
                <a:solidFill>
                  <a:srgbClr val="000000"/>
                </a:solidFill>
                <a:latin typeface="Arial"/>
                <a:ea typeface="Arial"/>
                <a:cs typeface="Arial"/>
                <a:sym typeface="Arial"/>
              </a:rPr>
              <a:t> These patches are "flattened" and processed just like a sentence in a Natural Language model.</a:t>
            </a:r>
            <a:endParaRPr sz="1100">
              <a:solidFill>
                <a:srgbClr val="000000"/>
              </a:solidFill>
              <a:latin typeface="Arial"/>
              <a:ea typeface="Arial"/>
              <a:cs typeface="Arial"/>
              <a:sym typeface="Arial"/>
            </a:endParaRPr>
          </a:p>
          <a:p>
            <a:pPr indent="-298450" lvl="0" marL="457200" rtl="0" algn="l">
              <a:lnSpc>
                <a:spcPct val="150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Self-Attention:</a:t>
            </a:r>
            <a:r>
              <a:rPr lang="en" sz="1100">
                <a:solidFill>
                  <a:srgbClr val="000000"/>
                </a:solidFill>
                <a:latin typeface="Arial"/>
                <a:ea typeface="Arial"/>
                <a:cs typeface="Arial"/>
                <a:sym typeface="Arial"/>
              </a:rPr>
              <a:t> The model calculates "Attention Weights" to determine which parts of the image are most important relative to others.</a:t>
            </a:r>
            <a:endParaRPr sz="1100">
              <a:solidFill>
                <a:srgbClr val="000000"/>
              </a:solidFill>
              <a:latin typeface="Arial"/>
              <a:ea typeface="Arial"/>
              <a:cs typeface="Arial"/>
              <a:sym typeface="Arial"/>
            </a:endParaRPr>
          </a:p>
          <a:p>
            <a:pPr indent="-298450" lvl="0" marL="457200" rtl="0" algn="l">
              <a:lnSpc>
                <a:spcPct val="150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Satellite Benefit:</a:t>
            </a:r>
            <a:r>
              <a:rPr lang="en" sz="1100">
                <a:solidFill>
                  <a:srgbClr val="000000"/>
                </a:solidFill>
                <a:latin typeface="Arial"/>
                <a:ea typeface="Arial"/>
                <a:cs typeface="Arial"/>
                <a:sym typeface="Arial"/>
              </a:rPr>
              <a:t> This allows the model to "connect" a landmark on one side of the frame with a feature on the other side instantly.</a:t>
            </a:r>
            <a:endParaRPr sz="1100">
              <a:solidFill>
                <a:srgbClr val="000000"/>
              </a:solidFill>
              <a:latin typeface="Arial"/>
              <a:ea typeface="Arial"/>
              <a:cs typeface="Arial"/>
              <a:sym typeface="Arial"/>
            </a:endParaRPr>
          </a:p>
          <a:p>
            <a:pPr indent="0" lvl="0" marL="0" rtl="0" algn="l">
              <a:lnSpc>
                <a:spcPct val="150000"/>
              </a:lnSpc>
              <a:spcBef>
                <a:spcPts val="1200"/>
              </a:spcBef>
              <a:spcAft>
                <a:spcPts val="1200"/>
              </a:spcAft>
              <a:buNone/>
            </a:pPr>
            <a:r>
              <a:t/>
            </a:r>
            <a:endParaRPr b="1" sz="11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Paper Review – "An Image is Worth 16x16 Words"</a:t>
            </a:r>
            <a:endParaRPr/>
          </a:p>
        </p:txBody>
      </p:sp>
      <p:sp>
        <p:nvSpPr>
          <p:cNvPr id="136" name="Google Shape;136;p21"/>
          <p:cNvSpPr txBox="1"/>
          <p:nvPr>
            <p:ph idx="1" type="body"/>
          </p:nvPr>
        </p:nvSpPr>
        <p:spPr>
          <a:xfrm>
            <a:off x="729450" y="1362300"/>
            <a:ext cx="7688700" cy="2977800"/>
          </a:xfrm>
          <a:prstGeom prst="rect">
            <a:avLst/>
          </a:prstGeom>
        </p:spPr>
        <p:txBody>
          <a:bodyPr anchorCtr="0" anchor="t" bIns="91425" lIns="91425" spcFirstLastPara="1" rIns="91425" wrap="square" tIns="91425">
            <a:normAutofit fontScale="92500" lnSpcReduction="20000"/>
          </a:bodyPr>
          <a:lstStyle/>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Paper:</a:t>
            </a:r>
            <a:r>
              <a:rPr lang="en" sz="1100">
                <a:solidFill>
                  <a:srgbClr val="000000"/>
                </a:solidFill>
                <a:latin typeface="Arial"/>
                <a:ea typeface="Arial"/>
                <a:cs typeface="Arial"/>
                <a:sym typeface="Arial"/>
              </a:rPr>
              <a:t> Dosovitskiy et al. (2020).</a:t>
            </a:r>
            <a:endParaRPr sz="11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Motivation</a:t>
            </a:r>
            <a:r>
              <a:rPr lang="en" sz="1100">
                <a:solidFill>
                  <a:srgbClr val="000000"/>
                </a:solidFill>
                <a:latin typeface="Arial"/>
                <a:ea typeface="Arial"/>
                <a:cs typeface="Arial"/>
                <a:sym typeface="Arial"/>
              </a:rPr>
              <a:t>: Aimed to prove that pure Transformers can replace CNNs in computer vision by removing image-specific inductive biases (locality/translation equivariance) in favor of a standard, scalable architecture.</a:t>
            </a:r>
            <a:endParaRPr sz="11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Summary of Work</a:t>
            </a:r>
            <a:r>
              <a:rPr lang="en" sz="1100">
                <a:solidFill>
                  <a:srgbClr val="000000"/>
                </a:solidFill>
                <a:latin typeface="Arial"/>
                <a:ea typeface="Arial"/>
                <a:cs typeface="Arial"/>
                <a:sym typeface="Arial"/>
              </a:rPr>
              <a:t>: Images are split into 16×16 patches and treated as a sequence of tokens, which are then processed by a standard Transformer encoder pre-trained on massive datasets like JFT-300M.</a:t>
            </a:r>
            <a:endParaRPr sz="11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Key Findings</a:t>
            </a:r>
            <a:r>
              <a:rPr lang="en" sz="1100">
                <a:solidFill>
                  <a:srgbClr val="000000"/>
                </a:solidFill>
                <a:latin typeface="Arial"/>
                <a:ea typeface="Arial"/>
                <a:cs typeface="Arial"/>
                <a:sym typeface="Arial"/>
              </a:rPr>
              <a:t>: ViT outperforms state-of-the-art CNNs when pre-trained at scale, integrates global information earlier through self-attention, and is significantly more computationally efficient to train.</a:t>
            </a:r>
            <a:endParaRPr b="1" sz="11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Application to Thesis:</a:t>
            </a:r>
            <a:r>
              <a:rPr lang="en" sz="1100">
                <a:solidFill>
                  <a:srgbClr val="000000"/>
                </a:solidFill>
                <a:latin typeface="Arial"/>
                <a:ea typeface="Arial"/>
                <a:cs typeface="Arial"/>
                <a:sym typeface="Arial"/>
              </a:rPr>
              <a:t> By using the architecture from this seminal work, we ensure the thesis is built on the "State-of-the-Art" in computer vision.</a:t>
            </a:r>
            <a:endParaRPr sz="1100">
              <a:solidFill>
                <a:srgbClr val="000000"/>
              </a:solidFill>
              <a:latin typeface="Arial"/>
              <a:ea typeface="Arial"/>
              <a:cs typeface="Arial"/>
              <a:sym typeface="Arial"/>
            </a:endParaRPr>
          </a:p>
          <a:p>
            <a:pPr indent="0" lvl="0" marL="0" rtl="0" algn="l">
              <a:lnSpc>
                <a:spcPct val="150000"/>
              </a:lnSpc>
              <a:spcBef>
                <a:spcPts val="1200"/>
              </a:spcBef>
              <a:spcAft>
                <a:spcPts val="1200"/>
              </a:spcAft>
              <a:buNone/>
            </a:pPr>
            <a:r>
              <a:t/>
            </a:r>
            <a:endParaRPr b="1" sz="11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Phase 1 Results – Baseline Performance</a:t>
            </a:r>
            <a:endParaRPr/>
          </a:p>
        </p:txBody>
      </p:sp>
      <p:sp>
        <p:nvSpPr>
          <p:cNvPr id="142" name="Google Shape;142;p22"/>
          <p:cNvSpPr txBox="1"/>
          <p:nvPr>
            <p:ph idx="1" type="body"/>
          </p:nvPr>
        </p:nvSpPr>
        <p:spPr>
          <a:xfrm>
            <a:off x="729450" y="1462250"/>
            <a:ext cx="4105200" cy="29778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Final Test Accuracy: 96.83%</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Training Dynamics:</a:t>
            </a:r>
            <a:r>
              <a:rPr lang="en" sz="1100">
                <a:solidFill>
                  <a:srgbClr val="000000"/>
                </a:solidFill>
                <a:latin typeface="Arial"/>
                <a:ea typeface="Arial"/>
                <a:cs typeface="Arial"/>
                <a:sym typeface="Arial"/>
              </a:rPr>
              <a:t> Started with a Loss of </a:t>
            </a:r>
            <a:r>
              <a:rPr b="1" lang="en" sz="1100">
                <a:solidFill>
                  <a:srgbClr val="000000"/>
                </a:solidFill>
                <a:latin typeface="Arial"/>
                <a:ea typeface="Arial"/>
                <a:cs typeface="Arial"/>
                <a:sym typeface="Arial"/>
              </a:rPr>
              <a:t>0.639</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Concluded with a Loss of </a:t>
            </a:r>
            <a:r>
              <a:rPr b="1" lang="en" sz="1100">
                <a:solidFill>
                  <a:srgbClr val="000000"/>
                </a:solidFill>
                <a:latin typeface="Arial"/>
                <a:ea typeface="Arial"/>
                <a:cs typeface="Arial"/>
                <a:sym typeface="Arial"/>
              </a:rPr>
              <a:t>0.114</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Observation:</a:t>
            </a:r>
            <a:r>
              <a:rPr lang="en" sz="1100">
                <a:solidFill>
                  <a:srgbClr val="000000"/>
                </a:solidFill>
                <a:latin typeface="Arial"/>
                <a:ea typeface="Arial"/>
                <a:cs typeface="Arial"/>
                <a:sym typeface="Arial"/>
              </a:rPr>
              <a:t> The model achieved near-perfect classification in just one epoch, proving the effectiveness of the pre-trained Transformer weights for satellite imagery.</a:t>
            </a:r>
            <a:endParaRPr sz="1100">
              <a:solidFill>
                <a:srgbClr val="000000"/>
              </a:solidFill>
              <a:latin typeface="Arial"/>
              <a:ea typeface="Arial"/>
              <a:cs typeface="Arial"/>
              <a:sym typeface="Arial"/>
            </a:endParaRPr>
          </a:p>
          <a:p>
            <a:pPr indent="0" lvl="0" marL="0" rtl="0" algn="l">
              <a:lnSpc>
                <a:spcPct val="150000"/>
              </a:lnSpc>
              <a:spcBef>
                <a:spcPts val="1200"/>
              </a:spcBef>
              <a:spcAft>
                <a:spcPts val="1200"/>
              </a:spcAft>
              <a:buNone/>
            </a:pPr>
            <a:r>
              <a:t/>
            </a:r>
            <a:endParaRPr b="1" sz="1100">
              <a:solidFill>
                <a:srgbClr val="000000"/>
              </a:solidFill>
              <a:latin typeface="Arial"/>
              <a:ea typeface="Arial"/>
              <a:cs typeface="Arial"/>
              <a:sym typeface="Arial"/>
            </a:endParaRPr>
          </a:p>
        </p:txBody>
      </p:sp>
      <p:pic>
        <p:nvPicPr>
          <p:cNvPr id="143" name="Google Shape;143;p22"/>
          <p:cNvPicPr preferRelativeResize="0"/>
          <p:nvPr/>
        </p:nvPicPr>
        <p:blipFill>
          <a:blip r:embed="rId3">
            <a:alphaModFix/>
          </a:blip>
          <a:stretch>
            <a:fillRect/>
          </a:stretch>
        </p:blipFill>
        <p:spPr>
          <a:xfrm>
            <a:off x="5076900" y="1462250"/>
            <a:ext cx="3341250" cy="26289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Preview – Phase 2: The Reliability Challenge</a:t>
            </a:r>
            <a:endParaRPr/>
          </a:p>
        </p:txBody>
      </p:sp>
      <p:sp>
        <p:nvSpPr>
          <p:cNvPr id="149" name="Google Shape;149;p23"/>
          <p:cNvSpPr txBox="1"/>
          <p:nvPr>
            <p:ph idx="1" type="body"/>
          </p:nvPr>
        </p:nvSpPr>
        <p:spPr>
          <a:xfrm>
            <a:off x="729450" y="1462250"/>
            <a:ext cx="7688700" cy="29778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Goal:</a:t>
            </a:r>
            <a:r>
              <a:rPr lang="en" sz="1100">
                <a:solidFill>
                  <a:srgbClr val="000000"/>
                </a:solidFill>
                <a:latin typeface="Arial"/>
                <a:ea typeface="Arial"/>
                <a:cs typeface="Arial"/>
                <a:sym typeface="Arial"/>
              </a:rPr>
              <a:t> Transition to the "Space/Security" problem.</a:t>
            </a:r>
            <a:endParaRPr sz="1100">
              <a:solidFill>
                <a:srgbClr val="000000"/>
              </a:solidFill>
              <a:latin typeface="Arial"/>
              <a:ea typeface="Arial"/>
              <a:cs typeface="Arial"/>
              <a:sym typeface="Arial"/>
            </a:endParaRPr>
          </a:p>
          <a:p>
            <a:pPr indent="-298450" lvl="0" marL="457200" rtl="0" algn="l">
              <a:lnSpc>
                <a:spcPct val="150000"/>
              </a:lnSpc>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The Threat:</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Single Event Upsets (SEUs)</a:t>
            </a:r>
            <a:r>
              <a:rPr lang="en" sz="1100">
                <a:solidFill>
                  <a:srgbClr val="000000"/>
                </a:solidFill>
                <a:latin typeface="Arial"/>
                <a:ea typeface="Arial"/>
                <a:cs typeface="Arial"/>
                <a:sym typeface="Arial"/>
              </a:rPr>
              <a:t>. High-energy protons in orbit cause bit-flips in memory.</a:t>
            </a:r>
            <a:endParaRPr sz="1100">
              <a:solidFill>
                <a:srgbClr val="000000"/>
              </a:solidFill>
              <a:latin typeface="Arial"/>
              <a:ea typeface="Arial"/>
              <a:cs typeface="Arial"/>
              <a:sym typeface="Arial"/>
            </a:endParaRPr>
          </a:p>
          <a:p>
            <a:pPr indent="-298450" lvl="0" marL="457200" rtl="0" algn="l">
              <a:lnSpc>
                <a:spcPct val="150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The Simulation:</a:t>
            </a:r>
            <a:r>
              <a:rPr lang="en" sz="1100">
                <a:solidFill>
                  <a:srgbClr val="000000"/>
                </a:solidFill>
                <a:latin typeface="Arial"/>
                <a:ea typeface="Arial"/>
                <a:cs typeface="Arial"/>
                <a:sym typeface="Arial"/>
              </a:rPr>
              <a:t> Developing a "Radiation Injection" script to manually corrupt weights in the Transformer's MLP layer.</a:t>
            </a:r>
            <a:endParaRPr sz="1100">
              <a:solidFill>
                <a:srgbClr val="000000"/>
              </a:solidFill>
              <a:latin typeface="Arial"/>
              <a:ea typeface="Arial"/>
              <a:cs typeface="Arial"/>
              <a:sym typeface="Arial"/>
            </a:endParaRPr>
          </a:p>
          <a:p>
            <a:pPr indent="-298450" lvl="0" marL="457200" rtl="0" algn="l">
              <a:lnSpc>
                <a:spcPct val="150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The Research Question:</a:t>
            </a:r>
            <a:r>
              <a:rPr lang="en" sz="1100">
                <a:solidFill>
                  <a:srgbClr val="000000"/>
                </a:solidFill>
                <a:latin typeface="Arial"/>
                <a:ea typeface="Arial"/>
                <a:cs typeface="Arial"/>
                <a:sym typeface="Arial"/>
              </a:rPr>
              <a:t> How much does a single bit-flip propagate through the Attention layers? Does a 96% model drop to 50% or 0%?</a:t>
            </a:r>
            <a:endParaRPr sz="1100">
              <a:solidFill>
                <a:srgbClr val="000000"/>
              </a:solidFill>
              <a:latin typeface="Arial"/>
              <a:ea typeface="Arial"/>
              <a:cs typeface="Arial"/>
              <a:sym typeface="Arial"/>
            </a:endParaRPr>
          </a:p>
          <a:p>
            <a:pPr indent="0" lvl="0" marL="0" rtl="0" algn="l">
              <a:lnSpc>
                <a:spcPct val="150000"/>
              </a:lnSpc>
              <a:spcBef>
                <a:spcPts val="1200"/>
              </a:spcBef>
              <a:spcAft>
                <a:spcPts val="1200"/>
              </a:spcAft>
              <a:buNone/>
            </a:pPr>
            <a:r>
              <a:t/>
            </a:r>
            <a:endParaRPr b="1" sz="110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729450" y="585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Roadmap – Phase 3 &amp; Incremental Learning</a:t>
            </a:r>
            <a:endParaRPr/>
          </a:p>
        </p:txBody>
      </p:sp>
      <p:sp>
        <p:nvSpPr>
          <p:cNvPr id="155" name="Google Shape;155;p24"/>
          <p:cNvSpPr txBox="1"/>
          <p:nvPr>
            <p:ph idx="1" type="body"/>
          </p:nvPr>
        </p:nvSpPr>
        <p:spPr>
          <a:xfrm>
            <a:off x="729450" y="1462250"/>
            <a:ext cx="7688700" cy="29778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Goal:</a:t>
            </a:r>
            <a:r>
              <a:rPr lang="en" sz="1100">
                <a:solidFill>
                  <a:srgbClr val="000000"/>
                </a:solidFill>
                <a:latin typeface="Arial"/>
                <a:ea typeface="Arial"/>
                <a:cs typeface="Arial"/>
                <a:sym typeface="Arial"/>
              </a:rPr>
              <a:t> Continuous availability (no-shutdown fine-tuning).</a:t>
            </a:r>
            <a:endParaRPr sz="11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rPr b="1" lang="en" sz="1100">
                <a:solidFill>
                  <a:srgbClr val="000000"/>
                </a:solidFill>
                <a:latin typeface="Arial"/>
                <a:ea typeface="Arial"/>
                <a:cs typeface="Arial"/>
                <a:sym typeface="Arial"/>
              </a:rPr>
              <a:t>Subnetworking Strategy:</a:t>
            </a:r>
            <a:r>
              <a:rPr lang="en" sz="1100">
                <a:solidFill>
                  <a:srgbClr val="000000"/>
                </a:solidFill>
                <a:latin typeface="Arial"/>
                <a:ea typeface="Arial"/>
                <a:cs typeface="Arial"/>
                <a:sym typeface="Arial"/>
              </a:rPr>
              <a:t> </a:t>
            </a:r>
            <a:r>
              <a:rPr b="1" lang="en" sz="1100">
                <a:solidFill>
                  <a:srgbClr val="000000"/>
                </a:solidFill>
                <a:latin typeface="Arial"/>
                <a:ea typeface="Arial"/>
                <a:cs typeface="Arial"/>
                <a:sym typeface="Arial"/>
              </a:rPr>
              <a:t>Part A:</a:t>
            </a:r>
            <a:r>
              <a:rPr lang="en" sz="1100">
                <a:solidFill>
                  <a:srgbClr val="000000"/>
                </a:solidFill>
                <a:latin typeface="Arial"/>
                <a:ea typeface="Arial"/>
                <a:cs typeface="Arial"/>
                <a:sym typeface="Arial"/>
              </a:rPr>
              <a:t> Continues navigation/classification.</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Part B:</a:t>
            </a:r>
            <a:r>
              <a:rPr lang="en" sz="1100">
                <a:solidFill>
                  <a:srgbClr val="000000"/>
                </a:solidFill>
                <a:latin typeface="Arial"/>
                <a:ea typeface="Arial"/>
                <a:cs typeface="Arial"/>
                <a:sym typeface="Arial"/>
              </a:rPr>
              <a:t> Fine-tunes to "repair" the radiation damage using Incremental Learning.</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The Swap:</a:t>
            </a:r>
            <a:r>
              <a:rPr lang="en" sz="1100">
                <a:solidFill>
                  <a:srgbClr val="000000"/>
                </a:solidFill>
                <a:latin typeface="Arial"/>
                <a:ea typeface="Arial"/>
                <a:cs typeface="Arial"/>
                <a:sym typeface="Arial"/>
              </a:rPr>
              <a:t> A "Ping-Pong" update mechanism ensures 100% uptime.</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Next Milestone:</a:t>
            </a:r>
            <a:r>
              <a:rPr lang="en" sz="1100">
                <a:solidFill>
                  <a:srgbClr val="000000"/>
                </a:solidFill>
                <a:latin typeface="Arial"/>
                <a:ea typeface="Arial"/>
                <a:cs typeface="Arial"/>
                <a:sym typeface="Arial"/>
              </a:rPr>
              <a:t> Quantify the accuracy drop and implement </a:t>
            </a:r>
            <a:r>
              <a:rPr b="1" lang="en" sz="1100">
                <a:solidFill>
                  <a:srgbClr val="000000"/>
                </a:solidFill>
                <a:latin typeface="Arial"/>
                <a:ea typeface="Arial"/>
                <a:cs typeface="Arial"/>
                <a:sym typeface="Arial"/>
              </a:rPr>
              <a:t>LoRA</a:t>
            </a:r>
            <a:r>
              <a:rPr lang="en" sz="1100">
                <a:solidFill>
                  <a:srgbClr val="000000"/>
                </a:solidFill>
                <a:latin typeface="Arial"/>
                <a:ea typeface="Arial"/>
                <a:cs typeface="Arial"/>
                <a:sym typeface="Arial"/>
              </a:rPr>
              <a:t> for rapid, low-power weight repair..</a:t>
            </a:r>
            <a:endParaRPr sz="1100">
              <a:solidFill>
                <a:srgbClr val="000000"/>
              </a:solidFill>
              <a:latin typeface="Arial"/>
              <a:ea typeface="Arial"/>
              <a:cs typeface="Arial"/>
              <a:sym typeface="Arial"/>
            </a:endParaRPr>
          </a:p>
          <a:p>
            <a:pPr indent="0" lvl="0" marL="0" rtl="0" algn="l">
              <a:lnSpc>
                <a:spcPct val="150000"/>
              </a:lnSpc>
              <a:spcBef>
                <a:spcPts val="1200"/>
              </a:spcBef>
              <a:spcAft>
                <a:spcPts val="1200"/>
              </a:spcAft>
              <a:buNone/>
            </a:pPr>
            <a:r>
              <a:t/>
            </a:r>
            <a:endParaRPr b="1" sz="11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